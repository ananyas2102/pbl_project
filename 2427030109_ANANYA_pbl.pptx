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57" r:id="rId3"/>
    <p:sldId id="270" r:id="rId4"/>
    <p:sldId id="269" r:id="rId5"/>
    <p:sldId id="259" r:id="rId6"/>
    <p:sldId id="277" r:id="rId7"/>
    <p:sldId id="271" r:id="rId8"/>
    <p:sldId id="260" r:id="rId9"/>
    <p:sldId id="264" r:id="rId10"/>
    <p:sldId id="261" r:id="rId11"/>
    <p:sldId id="273" r:id="rId12"/>
    <p:sldId id="279" r:id="rId13"/>
    <p:sldId id="281" r:id="rId14"/>
    <p:sldId id="282" r:id="rId15"/>
    <p:sldId id="272" r:id="rId16"/>
    <p:sldId id="283" r:id="rId17"/>
    <p:sldId id="291" r:id="rId18"/>
    <p:sldId id="290" r:id="rId19"/>
    <p:sldId id="288" r:id="rId20"/>
    <p:sldId id="294" r:id="rId21"/>
    <p:sldId id="293" r:id="rId22"/>
    <p:sldId id="292" r:id="rId23"/>
    <p:sldId id="289" r:id="rId24"/>
    <p:sldId id="296" r:id="rId25"/>
    <p:sldId id="287" r:id="rId26"/>
    <p:sldId id="297" r:id="rId27"/>
    <p:sldId id="268" r:id="rId28"/>
  </p:sldIdLst>
  <p:sldSz cx="18288000" cy="10287000"/>
  <p:notesSz cx="6858000" cy="9144000"/>
  <p:embeddedFontLst>
    <p:embeddedFont>
      <p:font typeface="ADLaM Display" panose="02010000000000000000" pitchFamily="2" charset="0"/>
      <p:regular r:id="rId30"/>
    </p:embeddedFont>
    <p:embeddedFont>
      <p:font typeface="Almarai" panose="020B0604020202020204" charset="-78"/>
      <p:regular r:id="rId31"/>
    </p:embeddedFont>
    <p:embeddedFont>
      <p:font typeface="Almarai Bold" panose="020B0604020202020204" charset="-78"/>
      <p:regular r:id="rId32"/>
    </p:embeddedFont>
    <p:embeddedFont>
      <p:font typeface="Aptos Light" panose="020B0004020202020204" pitchFamily="34" charset="0"/>
      <p:regular r:id="rId33"/>
      <p:italic r:id="rId34"/>
    </p:embeddedFont>
    <p:embeddedFont>
      <p:font typeface="Centaur" panose="02030504050205020304" pitchFamily="18"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22" autoAdjust="0"/>
  </p:normalViewPr>
  <p:slideViewPr>
    <p:cSldViewPr>
      <p:cViewPr varScale="1">
        <p:scale>
          <a:sx n="55" d="100"/>
          <a:sy n="55" d="100"/>
        </p:scale>
        <p:origin x="686"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BAAB98-F9CC-4FDC-9970-50C7F7CFB029}"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61FF66-56DC-43FE-A47D-8B6319905631}" type="slidenum">
              <a:rPr lang="en-IN" smtClean="0"/>
              <a:t>‹#›</a:t>
            </a:fld>
            <a:endParaRPr lang="en-IN"/>
          </a:p>
        </p:txBody>
      </p:sp>
    </p:spTree>
    <p:extLst>
      <p:ext uri="{BB962C8B-B14F-4D97-AF65-F5344CB8AC3E}">
        <p14:creationId xmlns:p14="http://schemas.microsoft.com/office/powerpoint/2010/main" val="171915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1.sv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www.kaggle.com/datasets/henriupton/wind-solar-electricity-production"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155/2021/9249387"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doi.org/10.1155/2021/9973010"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5.svg"/><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E40"/>
        </a:solidFill>
        <a:effectLst/>
      </p:bgPr>
    </p:bg>
    <p:spTree>
      <p:nvGrpSpPr>
        <p:cNvPr id="1" name=""/>
        <p:cNvGrpSpPr/>
        <p:nvPr/>
      </p:nvGrpSpPr>
      <p:grpSpPr>
        <a:xfrm>
          <a:off x="0" y="0"/>
          <a:ext cx="0" cy="0"/>
          <a:chOff x="0" y="0"/>
          <a:chExt cx="0" cy="0"/>
        </a:xfrm>
      </p:grpSpPr>
      <p:sp>
        <p:nvSpPr>
          <p:cNvPr id="2" name="Freeform 2"/>
          <p:cNvSpPr/>
          <p:nvPr/>
        </p:nvSpPr>
        <p:spPr>
          <a:xfrm>
            <a:off x="14565940" y="-491592"/>
            <a:ext cx="8754599" cy="8754599"/>
          </a:xfrm>
          <a:custGeom>
            <a:avLst/>
            <a:gdLst/>
            <a:ahLst/>
            <a:cxnLst/>
            <a:rect l="l" t="t" r="r" b="b"/>
            <a:pathLst>
              <a:path w="8754599" h="8754599">
                <a:moveTo>
                  <a:pt x="0" y="0"/>
                </a:moveTo>
                <a:lnTo>
                  <a:pt x="8754598" y="0"/>
                </a:lnTo>
                <a:lnTo>
                  <a:pt x="8754598" y="8754599"/>
                </a:lnTo>
                <a:lnTo>
                  <a:pt x="0" y="875459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7" name="Group 7"/>
          <p:cNvGrpSpPr/>
          <p:nvPr/>
        </p:nvGrpSpPr>
        <p:grpSpPr>
          <a:xfrm rot="-10800000">
            <a:off x="14594670" y="7904039"/>
            <a:ext cx="1407330" cy="2176795"/>
            <a:chOff x="0" y="0"/>
            <a:chExt cx="4445000" cy="6350000"/>
          </a:xfrm>
        </p:grpSpPr>
        <p:sp>
          <p:nvSpPr>
            <p:cNvPr id="8" name="Freeform 8"/>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r="-201730"/>
              </a:stretch>
            </a:blipFill>
          </p:spPr>
          <p:txBody>
            <a:bodyPr/>
            <a:lstStyle/>
            <a:p>
              <a:endParaRPr lang="en-IN"/>
            </a:p>
          </p:txBody>
        </p:sp>
      </p:grpSp>
      <p:grpSp>
        <p:nvGrpSpPr>
          <p:cNvPr id="9" name="Group 9"/>
          <p:cNvGrpSpPr/>
          <p:nvPr/>
        </p:nvGrpSpPr>
        <p:grpSpPr>
          <a:xfrm>
            <a:off x="15763958" y="-781916"/>
            <a:ext cx="1683983" cy="2405689"/>
            <a:chOff x="0" y="0"/>
            <a:chExt cx="4445000" cy="6350000"/>
          </a:xfrm>
        </p:grpSpPr>
        <p:sp>
          <p:nvSpPr>
            <p:cNvPr id="10" name="Freeform 10"/>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r="-201730"/>
              </a:stretch>
            </a:blipFill>
          </p:spPr>
          <p:txBody>
            <a:bodyPr/>
            <a:lstStyle/>
            <a:p>
              <a:endParaRPr lang="en-IN"/>
            </a:p>
          </p:txBody>
        </p:sp>
      </p:grpSp>
      <p:grpSp>
        <p:nvGrpSpPr>
          <p:cNvPr id="15" name="Group 15"/>
          <p:cNvGrpSpPr/>
          <p:nvPr/>
        </p:nvGrpSpPr>
        <p:grpSpPr>
          <a:xfrm rot="5400000">
            <a:off x="17112503" y="3183473"/>
            <a:ext cx="841991" cy="84199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r="-126211"/>
              </a:stretch>
            </a:blipFill>
          </p:spPr>
          <p:txBody>
            <a:bodyPr/>
            <a:lstStyle/>
            <a:p>
              <a:endParaRPr lang="en-IN"/>
            </a:p>
          </p:txBody>
        </p:sp>
      </p:grpSp>
      <p:sp>
        <p:nvSpPr>
          <p:cNvPr id="17" name="Freeform 17"/>
          <p:cNvSpPr/>
          <p:nvPr/>
        </p:nvSpPr>
        <p:spPr>
          <a:xfrm>
            <a:off x="-5976625" y="4306703"/>
            <a:ext cx="8754599" cy="8754599"/>
          </a:xfrm>
          <a:custGeom>
            <a:avLst/>
            <a:gdLst/>
            <a:ahLst/>
            <a:cxnLst/>
            <a:rect l="l" t="t" r="r" b="b"/>
            <a:pathLst>
              <a:path w="8754599" h="8754599">
                <a:moveTo>
                  <a:pt x="0" y="0"/>
                </a:moveTo>
                <a:lnTo>
                  <a:pt x="8754599" y="0"/>
                </a:lnTo>
                <a:lnTo>
                  <a:pt x="8754599" y="8754599"/>
                </a:lnTo>
                <a:lnTo>
                  <a:pt x="0" y="875459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pic>
        <p:nvPicPr>
          <p:cNvPr id="21" name="Picture 20" descr="A black and white text">
            <a:extLst>
              <a:ext uri="{FF2B5EF4-FFF2-40B4-BE49-F238E27FC236}">
                <a16:creationId xmlns:a16="http://schemas.microsoft.com/office/drawing/2014/main" id="{2AD7126F-2B55-B457-37C9-C05FFDD4D2C8}"/>
              </a:ext>
              <a:ext uri="{C183D7F6-B498-43B3-948B-1728B52AA6E4}">
                <adec:decorative xmlns:adec="http://schemas.microsoft.com/office/drawing/2017/decorative" val="0"/>
              </a:ext>
            </a:extLst>
          </p:cNvPr>
          <p:cNvPicPr>
            <a:picLocks noChangeAspect="1"/>
          </p:cNvPicPr>
          <p:nvPr/>
        </p:nvPicPr>
        <p:blipFill>
          <a:blip r:embed="rId4" cstate="print">
            <a:extLst>
              <a:ext uri="{28A0092B-C50C-407E-A947-70E740481C1C}">
                <a14:useLocalDpi xmlns:a14="http://schemas.microsoft.com/office/drawing/2010/main" val="0"/>
              </a:ext>
            </a:extLst>
          </a:blip>
          <a:srcRect r="75698"/>
          <a:stretch>
            <a:fillRect/>
          </a:stretch>
        </p:blipFill>
        <p:spPr>
          <a:xfrm>
            <a:off x="840059" y="952500"/>
            <a:ext cx="1598341" cy="1790111"/>
          </a:xfrm>
          <a:prstGeom prst="rect">
            <a:avLst/>
          </a:prstGeom>
        </p:spPr>
      </p:pic>
      <p:sp>
        <p:nvSpPr>
          <p:cNvPr id="23" name="TextBox 22">
            <a:extLst>
              <a:ext uri="{FF2B5EF4-FFF2-40B4-BE49-F238E27FC236}">
                <a16:creationId xmlns:a16="http://schemas.microsoft.com/office/drawing/2014/main" id="{2951EA90-3FF0-57EE-2AD3-6C4D82A35EF3}"/>
              </a:ext>
            </a:extLst>
          </p:cNvPr>
          <p:cNvSpPr txBox="1"/>
          <p:nvPr/>
        </p:nvSpPr>
        <p:spPr>
          <a:xfrm>
            <a:off x="2578915" y="1246880"/>
            <a:ext cx="3325109" cy="1200329"/>
          </a:xfrm>
          <a:prstGeom prst="rect">
            <a:avLst/>
          </a:prstGeom>
          <a:noFill/>
        </p:spPr>
        <p:txBody>
          <a:bodyPr wrap="square">
            <a:spAutoFit/>
          </a:bodyPr>
          <a:lstStyle/>
          <a:p>
            <a:r>
              <a:rPr lang="en-IN" sz="3600" dirty="0">
                <a:solidFill>
                  <a:schemeClr val="bg1"/>
                </a:solidFill>
                <a:latin typeface="Times New Roman" panose="02020603050405020304" pitchFamily="18" charset="0"/>
                <a:cs typeface="Times New Roman" panose="02020603050405020304" pitchFamily="18" charset="0"/>
              </a:rPr>
              <a:t>MANIPAL</a:t>
            </a:r>
          </a:p>
          <a:p>
            <a:r>
              <a:rPr lang="en-IN" sz="3600" dirty="0">
                <a:solidFill>
                  <a:schemeClr val="bg1"/>
                </a:solidFill>
                <a:latin typeface="Times New Roman" panose="02020603050405020304" pitchFamily="18" charset="0"/>
                <a:cs typeface="Times New Roman" panose="02020603050405020304" pitchFamily="18" charset="0"/>
              </a:rPr>
              <a:t>UNIVERSITY</a:t>
            </a:r>
          </a:p>
        </p:txBody>
      </p:sp>
      <p:sp>
        <p:nvSpPr>
          <p:cNvPr id="25" name="TextBox 24">
            <a:extLst>
              <a:ext uri="{FF2B5EF4-FFF2-40B4-BE49-F238E27FC236}">
                <a16:creationId xmlns:a16="http://schemas.microsoft.com/office/drawing/2014/main" id="{39F80384-2750-526E-7BD0-A160478E188C}"/>
              </a:ext>
            </a:extLst>
          </p:cNvPr>
          <p:cNvSpPr txBox="1"/>
          <p:nvPr/>
        </p:nvSpPr>
        <p:spPr>
          <a:xfrm>
            <a:off x="3634237" y="2675345"/>
            <a:ext cx="10132742" cy="1668470"/>
          </a:xfrm>
          <a:prstGeom prst="rect">
            <a:avLst/>
          </a:prstGeom>
          <a:noFill/>
        </p:spPr>
        <p:txBody>
          <a:bodyPr wrap="square">
            <a:spAutoFit/>
          </a:bodyPr>
          <a:lstStyle/>
          <a:p>
            <a:pPr algn="ctr">
              <a:lnSpc>
                <a:spcPct val="150000"/>
              </a:lnSpc>
            </a:pPr>
            <a:r>
              <a:rPr lang="en-IN" sz="3600" b="1" dirty="0">
                <a:solidFill>
                  <a:schemeClr val="bg1"/>
                </a:solidFill>
              </a:rPr>
              <a:t>School of Computer Science and Engineering</a:t>
            </a:r>
          </a:p>
          <a:p>
            <a:pPr algn="ctr">
              <a:lnSpc>
                <a:spcPct val="150000"/>
              </a:lnSpc>
            </a:pPr>
            <a:r>
              <a:rPr lang="en-IN" sz="3600" b="1" dirty="0">
                <a:solidFill>
                  <a:schemeClr val="bg1"/>
                </a:solidFill>
              </a:rPr>
              <a:t>Department of Computer Science and Engineering</a:t>
            </a:r>
          </a:p>
        </p:txBody>
      </p:sp>
      <p:sp>
        <p:nvSpPr>
          <p:cNvPr id="27" name="TextBox 26">
            <a:extLst>
              <a:ext uri="{FF2B5EF4-FFF2-40B4-BE49-F238E27FC236}">
                <a16:creationId xmlns:a16="http://schemas.microsoft.com/office/drawing/2014/main" id="{21A73A95-F08B-5561-4891-BF9111D67235}"/>
              </a:ext>
            </a:extLst>
          </p:cNvPr>
          <p:cNvSpPr txBox="1"/>
          <p:nvPr/>
        </p:nvSpPr>
        <p:spPr>
          <a:xfrm>
            <a:off x="2100318" y="6985734"/>
            <a:ext cx="7315200" cy="3046988"/>
          </a:xfrm>
          <a:prstGeom prst="rect">
            <a:avLst/>
          </a:prstGeom>
          <a:noFill/>
        </p:spPr>
        <p:txBody>
          <a:bodyPr wrap="square">
            <a:spAutoFit/>
          </a:bodyPr>
          <a:lstStyle/>
          <a:p>
            <a:r>
              <a:rPr lang="en-IN" sz="4000" dirty="0">
                <a:solidFill>
                  <a:schemeClr val="bg1"/>
                </a:solidFill>
                <a:ea typeface="ADLaM Display" panose="020F0502020204030204" pitchFamily="2" charset="0"/>
                <a:cs typeface="ADLaM Display" panose="020F0502020204030204" pitchFamily="2" charset="0"/>
              </a:rPr>
              <a:t>Presented By:</a:t>
            </a:r>
            <a:br>
              <a:rPr lang="en-IN" sz="4000" dirty="0">
                <a:solidFill>
                  <a:schemeClr val="bg1"/>
                </a:solidFill>
                <a:ea typeface="ADLaM Display" panose="020F0502020204030204" pitchFamily="2" charset="0"/>
                <a:cs typeface="ADLaM Display" panose="020F0502020204030204" pitchFamily="2" charset="0"/>
              </a:rPr>
            </a:br>
            <a:r>
              <a:rPr lang="en-IN" sz="4000" dirty="0">
                <a:solidFill>
                  <a:schemeClr val="bg1"/>
                </a:solidFill>
                <a:ea typeface="ADLaM Display" panose="020F0502020204030204" pitchFamily="2" charset="0"/>
                <a:cs typeface="ADLaM Display" panose="020F0502020204030204" pitchFamily="2" charset="0"/>
              </a:rPr>
              <a:t>Ananya Sharma</a:t>
            </a:r>
          </a:p>
          <a:p>
            <a:r>
              <a:rPr lang="en-IN" sz="4000" dirty="0">
                <a:solidFill>
                  <a:schemeClr val="bg1"/>
                </a:solidFill>
                <a:ea typeface="ADLaM Display" panose="020F0502020204030204" pitchFamily="2" charset="0"/>
                <a:cs typeface="ADLaM Display" panose="020F0502020204030204" pitchFamily="2" charset="0"/>
              </a:rPr>
              <a:t>2427030109</a:t>
            </a:r>
          </a:p>
          <a:p>
            <a:r>
              <a:rPr lang="en-IN" sz="4000" dirty="0">
                <a:solidFill>
                  <a:schemeClr val="bg1"/>
                </a:solidFill>
                <a:ea typeface="ADLaM Display" panose="020F0502020204030204" pitchFamily="2" charset="0"/>
                <a:cs typeface="ADLaM Display" panose="020F0502020204030204" pitchFamily="2" charset="0"/>
              </a:rPr>
              <a:t>Section B </a:t>
            </a:r>
          </a:p>
          <a:p>
            <a:endParaRPr lang="en-IN" sz="3200" dirty="0">
              <a:solidFill>
                <a:schemeClr val="bg1"/>
              </a:solidFill>
              <a:ea typeface="ADLaM Display" panose="020F0502020204030204" pitchFamily="2" charset="0"/>
              <a:cs typeface="ADLaM Display" panose="020F0502020204030204" pitchFamily="2" charset="0"/>
            </a:endParaRPr>
          </a:p>
        </p:txBody>
      </p:sp>
      <p:sp>
        <p:nvSpPr>
          <p:cNvPr id="28" name="TextBox 27">
            <a:extLst>
              <a:ext uri="{FF2B5EF4-FFF2-40B4-BE49-F238E27FC236}">
                <a16:creationId xmlns:a16="http://schemas.microsoft.com/office/drawing/2014/main" id="{67BE2EB5-BF23-21CD-B9E5-F987EF6C9FEC}"/>
              </a:ext>
            </a:extLst>
          </p:cNvPr>
          <p:cNvSpPr txBox="1"/>
          <p:nvPr/>
        </p:nvSpPr>
        <p:spPr>
          <a:xfrm>
            <a:off x="11811000" y="6985734"/>
            <a:ext cx="7315200" cy="1323439"/>
          </a:xfrm>
          <a:prstGeom prst="rect">
            <a:avLst/>
          </a:prstGeom>
          <a:noFill/>
        </p:spPr>
        <p:txBody>
          <a:bodyPr wrap="square">
            <a:spAutoFit/>
          </a:bodyPr>
          <a:lstStyle/>
          <a:p>
            <a:r>
              <a:rPr lang="en-IN" sz="4000" dirty="0">
                <a:solidFill>
                  <a:schemeClr val="bg1"/>
                </a:solidFill>
              </a:rPr>
              <a:t>Supervised By:</a:t>
            </a:r>
            <a:br>
              <a:rPr lang="en-IN" sz="4000" dirty="0">
                <a:solidFill>
                  <a:schemeClr val="bg1"/>
                </a:solidFill>
              </a:rPr>
            </a:br>
            <a:r>
              <a:rPr lang="en-IN" sz="4000" dirty="0">
                <a:solidFill>
                  <a:schemeClr val="bg1"/>
                </a:solidFill>
              </a:rPr>
              <a:t>Ms Babita Tiwari</a:t>
            </a:r>
          </a:p>
        </p:txBody>
      </p:sp>
      <p:grpSp>
        <p:nvGrpSpPr>
          <p:cNvPr id="29" name="Group 9">
            <a:extLst>
              <a:ext uri="{FF2B5EF4-FFF2-40B4-BE49-F238E27FC236}">
                <a16:creationId xmlns:a16="http://schemas.microsoft.com/office/drawing/2014/main" id="{D7BF421F-5C04-65A5-8284-19967A6F1B38}"/>
              </a:ext>
            </a:extLst>
          </p:cNvPr>
          <p:cNvGrpSpPr/>
          <p:nvPr/>
        </p:nvGrpSpPr>
        <p:grpSpPr>
          <a:xfrm>
            <a:off x="12282948" y="-421973"/>
            <a:ext cx="1683983" cy="2405689"/>
            <a:chOff x="0" y="0"/>
            <a:chExt cx="4445000" cy="6350000"/>
          </a:xfrm>
        </p:grpSpPr>
        <p:sp>
          <p:nvSpPr>
            <p:cNvPr id="30" name="Freeform 10">
              <a:extLst>
                <a:ext uri="{FF2B5EF4-FFF2-40B4-BE49-F238E27FC236}">
                  <a16:creationId xmlns:a16="http://schemas.microsoft.com/office/drawing/2014/main" id="{6A272D03-4FBD-0E49-DDA2-108741D78B1A}"/>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r="-201730"/>
              </a:stretch>
            </a:blipFill>
          </p:spPr>
          <p:txBody>
            <a:bodyPr/>
            <a:lstStyle/>
            <a:p>
              <a:endParaRPr lang="en-IN"/>
            </a:p>
          </p:txBody>
        </p:sp>
      </p:grpSp>
      <p:grpSp>
        <p:nvGrpSpPr>
          <p:cNvPr id="31" name="Group 7">
            <a:extLst>
              <a:ext uri="{FF2B5EF4-FFF2-40B4-BE49-F238E27FC236}">
                <a16:creationId xmlns:a16="http://schemas.microsoft.com/office/drawing/2014/main" id="{67F439C5-EEA6-BDA2-0C1F-1D7E51687418}"/>
              </a:ext>
            </a:extLst>
          </p:cNvPr>
          <p:cNvGrpSpPr/>
          <p:nvPr/>
        </p:nvGrpSpPr>
        <p:grpSpPr>
          <a:xfrm rot="-10800000">
            <a:off x="10419406" y="8039098"/>
            <a:ext cx="1863541" cy="2041735"/>
            <a:chOff x="0" y="0"/>
            <a:chExt cx="4445000" cy="6350000"/>
          </a:xfrm>
        </p:grpSpPr>
        <p:sp>
          <p:nvSpPr>
            <p:cNvPr id="32" name="Freeform 8">
              <a:extLst>
                <a:ext uri="{FF2B5EF4-FFF2-40B4-BE49-F238E27FC236}">
                  <a16:creationId xmlns:a16="http://schemas.microsoft.com/office/drawing/2014/main" id="{84D236D4-7D66-6550-18CA-2C72DA39B917}"/>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r="-201730"/>
              </a:stretch>
            </a:blipFill>
          </p:spPr>
          <p:txBody>
            <a:bodyPr/>
            <a:lstStyle/>
            <a:p>
              <a:endParaRPr lang="en-IN"/>
            </a:p>
          </p:txBody>
        </p:sp>
      </p:grpSp>
      <p:sp>
        <p:nvSpPr>
          <p:cNvPr id="3" name="TextBox 2">
            <a:extLst>
              <a:ext uri="{FF2B5EF4-FFF2-40B4-BE49-F238E27FC236}">
                <a16:creationId xmlns:a16="http://schemas.microsoft.com/office/drawing/2014/main" id="{2C9347BD-A7E2-27A4-7A56-896005E12A3A}"/>
              </a:ext>
            </a:extLst>
          </p:cNvPr>
          <p:cNvSpPr txBox="1"/>
          <p:nvPr/>
        </p:nvSpPr>
        <p:spPr>
          <a:xfrm>
            <a:off x="4789449" y="4998786"/>
            <a:ext cx="8709102" cy="1323439"/>
          </a:xfrm>
          <a:prstGeom prst="rect">
            <a:avLst/>
          </a:prstGeom>
          <a:noFill/>
        </p:spPr>
        <p:txBody>
          <a:bodyPr wrap="square">
            <a:spAutoFit/>
          </a:bodyPr>
          <a:lstStyle/>
          <a:p>
            <a:pPr algn="ctr"/>
            <a:r>
              <a:rPr lang="en-IN" sz="4000" b="1" dirty="0">
                <a:solidFill>
                  <a:schemeClr val="bg1"/>
                </a:solidFill>
              </a:rPr>
              <a:t>Hybrid AI Model for Accurate Renewable Energy Output Forecasting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2066886"/>
            <a:ext cx="5754080" cy="8220114"/>
            <a:chOff x="0" y="0"/>
            <a:chExt cx="4445000" cy="6350000"/>
          </a:xfrm>
        </p:grpSpPr>
        <p:sp>
          <p:nvSpPr>
            <p:cNvPr id="3" name="Freeform 3"/>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4" name="Group 4"/>
          <p:cNvGrpSpPr/>
          <p:nvPr/>
        </p:nvGrpSpPr>
        <p:grpSpPr>
          <a:xfrm>
            <a:off x="-5173055" y="-2043171"/>
            <a:ext cx="5754080" cy="8220114"/>
            <a:chOff x="0" y="0"/>
            <a:chExt cx="4445000" cy="6350000"/>
          </a:xfrm>
        </p:grpSpPr>
        <p:sp>
          <p:nvSpPr>
            <p:cNvPr id="5" name="Freeform 5"/>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8" name="Group 8"/>
          <p:cNvGrpSpPr/>
          <p:nvPr/>
        </p:nvGrpSpPr>
        <p:grpSpPr>
          <a:xfrm rot="-10800000">
            <a:off x="1228593" y="1284596"/>
            <a:ext cx="5760720" cy="8229600"/>
            <a:chOff x="0" y="0"/>
            <a:chExt cx="4445000" cy="6350000"/>
          </a:xfrm>
        </p:grpSpPr>
        <p:sp>
          <p:nvSpPr>
            <p:cNvPr id="9" name="Freeform 9"/>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10" name="TextBox 10"/>
          <p:cNvSpPr txBox="1"/>
          <p:nvPr/>
        </p:nvSpPr>
        <p:spPr>
          <a:xfrm>
            <a:off x="1853355" y="4653079"/>
            <a:ext cx="4646929" cy="971318"/>
          </a:xfrm>
          <a:prstGeom prst="rect">
            <a:avLst/>
          </a:prstGeom>
        </p:spPr>
        <p:txBody>
          <a:bodyPr lIns="0" tIns="0" rIns="0" bIns="0" rtlCol="0" anchor="t">
            <a:spAutoFit/>
          </a:bodyPr>
          <a:lstStyle/>
          <a:p>
            <a:pPr marL="0" lvl="0" indent="0" algn="l">
              <a:lnSpc>
                <a:spcPts val="7602"/>
              </a:lnSpc>
              <a:spcBef>
                <a:spcPct val="0"/>
              </a:spcBef>
            </a:pPr>
            <a:r>
              <a:rPr lang="en-US" sz="6335" b="1" dirty="0">
                <a:solidFill>
                  <a:srgbClr val="FFFFFF"/>
                </a:solidFill>
                <a:latin typeface="Almarai Bold"/>
                <a:ea typeface="Almarai Bold"/>
                <a:cs typeface="Almarai Bold"/>
                <a:sym typeface="Almarai Bold"/>
              </a:rPr>
              <a:t>    </a:t>
            </a:r>
            <a:r>
              <a:rPr lang="en-US" sz="6335" b="1" u="sng" dirty="0">
                <a:solidFill>
                  <a:srgbClr val="FFFFFF"/>
                </a:solidFill>
                <a:latin typeface="Almarai Bold"/>
                <a:ea typeface="Almarai Bold"/>
                <a:cs typeface="Almarai Bold"/>
                <a:sym typeface="Almarai Bold"/>
              </a:rPr>
              <a:t>OUTLINE</a:t>
            </a:r>
          </a:p>
        </p:txBody>
      </p:sp>
      <p:sp>
        <p:nvSpPr>
          <p:cNvPr id="24" name="TextBox 24"/>
          <p:cNvSpPr txBox="1"/>
          <p:nvPr/>
        </p:nvSpPr>
        <p:spPr>
          <a:xfrm>
            <a:off x="9627513" y="2089310"/>
            <a:ext cx="1586922" cy="948978"/>
          </a:xfrm>
          <a:prstGeom prst="rect">
            <a:avLst/>
          </a:prstGeom>
        </p:spPr>
        <p:txBody>
          <a:bodyPr lIns="0" tIns="0" rIns="0" bIns="0" rtlCol="0" anchor="t">
            <a:spAutoFit/>
          </a:bodyPr>
          <a:lstStyle/>
          <a:p>
            <a:pPr algn="ctr">
              <a:lnSpc>
                <a:spcPts val="7429"/>
              </a:lnSpc>
            </a:pPr>
            <a:endParaRPr lang="en-US" sz="5383" b="1" dirty="0">
              <a:solidFill>
                <a:srgbClr val="FFFFFF"/>
              </a:solidFill>
              <a:latin typeface="Almarai Bold"/>
              <a:ea typeface="Almarai Bold"/>
              <a:cs typeface="Almarai Bold"/>
              <a:sym typeface="Almarai Bold"/>
            </a:endParaRPr>
          </a:p>
        </p:txBody>
      </p:sp>
      <p:grpSp>
        <p:nvGrpSpPr>
          <p:cNvPr id="36" name="Group 36"/>
          <p:cNvGrpSpPr/>
          <p:nvPr/>
        </p:nvGrpSpPr>
        <p:grpSpPr>
          <a:xfrm rot="5400000">
            <a:off x="7050249" y="264581"/>
            <a:ext cx="1255447" cy="1305787"/>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sp>
        <p:nvSpPr>
          <p:cNvPr id="42" name="TextBox 42"/>
          <p:cNvSpPr txBox="1"/>
          <p:nvPr/>
        </p:nvSpPr>
        <p:spPr>
          <a:xfrm>
            <a:off x="9672421" y="546576"/>
            <a:ext cx="1586922" cy="948978"/>
          </a:xfrm>
          <a:prstGeom prst="rect">
            <a:avLst/>
          </a:prstGeom>
        </p:spPr>
        <p:txBody>
          <a:bodyPr lIns="0" tIns="0" rIns="0" bIns="0" rtlCol="0" anchor="t">
            <a:spAutoFit/>
          </a:bodyPr>
          <a:lstStyle/>
          <a:p>
            <a:pPr algn="ctr">
              <a:lnSpc>
                <a:spcPts val="7429"/>
              </a:lnSpc>
            </a:pPr>
            <a:endParaRPr lang="en-US" sz="5383" b="1" dirty="0">
              <a:solidFill>
                <a:srgbClr val="FFFFFF"/>
              </a:solidFill>
              <a:latin typeface="Almarai Bold"/>
              <a:ea typeface="Almarai Bold"/>
              <a:cs typeface="Almarai Bold"/>
              <a:sym typeface="Almarai Bold"/>
            </a:endParaRPr>
          </a:p>
        </p:txBody>
      </p:sp>
      <p:sp>
        <p:nvSpPr>
          <p:cNvPr id="16" name="TextBox 15">
            <a:extLst>
              <a:ext uri="{FF2B5EF4-FFF2-40B4-BE49-F238E27FC236}">
                <a16:creationId xmlns:a16="http://schemas.microsoft.com/office/drawing/2014/main" id="{C12CFE03-13AF-6B9A-ED4E-D2E873B84883}"/>
              </a:ext>
            </a:extLst>
          </p:cNvPr>
          <p:cNvSpPr txBox="1"/>
          <p:nvPr/>
        </p:nvSpPr>
        <p:spPr>
          <a:xfrm>
            <a:off x="8277950" y="2247900"/>
            <a:ext cx="4267199" cy="7017306"/>
          </a:xfrm>
          <a:prstGeom prst="rect">
            <a:avLst/>
          </a:prstGeom>
          <a:noFill/>
        </p:spPr>
        <p:txBody>
          <a:bodyPr wrap="square" rtlCol="0">
            <a:spAutoFit/>
          </a:bodyPr>
          <a:lstStyle/>
          <a:p>
            <a:endParaRPr lang="en-IN" dirty="0">
              <a:solidFill>
                <a:schemeClr val="bg1"/>
              </a:solidFill>
            </a:endParaRPr>
          </a:p>
          <a:p>
            <a:pPr algn="just"/>
            <a:r>
              <a:rPr lang="en-US" sz="3600" b="1" dirty="0">
                <a:solidFill>
                  <a:srgbClr val="FFFFFF"/>
                </a:solidFill>
                <a:ea typeface="Almarai Bold"/>
                <a:cs typeface="Almarai Bold"/>
                <a:sym typeface="Almarai Bold"/>
              </a:rPr>
              <a:t>1.Introduction</a:t>
            </a:r>
          </a:p>
          <a:p>
            <a:pPr algn="just"/>
            <a:r>
              <a:rPr lang="en-US" sz="3600" b="1" dirty="0">
                <a:solidFill>
                  <a:srgbClr val="FFFFFF"/>
                </a:solidFill>
                <a:ea typeface="Almarai Bold"/>
                <a:cs typeface="Almarai Bold"/>
                <a:sym typeface="Almarai Bold"/>
              </a:rPr>
              <a:t>2.Literature  Survey</a:t>
            </a:r>
          </a:p>
          <a:p>
            <a:pPr algn="just"/>
            <a:r>
              <a:rPr lang="en-US" sz="3600" b="1" dirty="0">
                <a:solidFill>
                  <a:srgbClr val="FFFFFF"/>
                </a:solidFill>
                <a:ea typeface="Almarai Bold"/>
                <a:cs typeface="Almarai Bold"/>
                <a:sym typeface="Almarai Bold"/>
              </a:rPr>
              <a:t>3.Research Gap </a:t>
            </a:r>
          </a:p>
          <a:p>
            <a:pPr algn="just"/>
            <a:r>
              <a:rPr lang="en-US" sz="3600" b="1" dirty="0">
                <a:solidFill>
                  <a:srgbClr val="FFFFFF"/>
                </a:solidFill>
                <a:ea typeface="Almarai Bold"/>
                <a:cs typeface="Almarai Bold"/>
                <a:sym typeface="Almarai Bold"/>
              </a:rPr>
              <a:t>4.Problem Statement</a:t>
            </a:r>
          </a:p>
          <a:p>
            <a:pPr algn="just"/>
            <a:r>
              <a:rPr lang="en-US" sz="3600" b="1" dirty="0">
                <a:solidFill>
                  <a:srgbClr val="FFFFFF"/>
                </a:solidFill>
                <a:ea typeface="Almarai Bold"/>
                <a:cs typeface="Almarai Bold"/>
                <a:sym typeface="Almarai Bold"/>
              </a:rPr>
              <a:t>5.Objectives</a:t>
            </a:r>
          </a:p>
          <a:p>
            <a:pPr algn="just"/>
            <a:r>
              <a:rPr lang="en-US" sz="3600" b="1" dirty="0">
                <a:solidFill>
                  <a:srgbClr val="FFFFFF"/>
                </a:solidFill>
                <a:ea typeface="Almarai Bold"/>
                <a:cs typeface="Almarai Bold"/>
                <a:sym typeface="Almarai Bold"/>
              </a:rPr>
              <a:t>6.Methodology</a:t>
            </a:r>
          </a:p>
          <a:p>
            <a:pPr algn="just"/>
            <a:r>
              <a:rPr lang="en-US" sz="3600" b="1" dirty="0">
                <a:solidFill>
                  <a:srgbClr val="FFFFFF"/>
                </a:solidFill>
                <a:ea typeface="Almarai Bold"/>
                <a:cs typeface="Almarai Bold"/>
                <a:sym typeface="Almarai Bold"/>
              </a:rPr>
              <a:t>7.Proposed Solution</a:t>
            </a:r>
          </a:p>
          <a:p>
            <a:pPr algn="just"/>
            <a:r>
              <a:rPr lang="en-US" sz="3600" b="1" dirty="0">
                <a:solidFill>
                  <a:srgbClr val="FFFFFF"/>
                </a:solidFill>
                <a:ea typeface="Almarai Bold"/>
                <a:cs typeface="Almarai Bold"/>
                <a:sym typeface="Almarai Bold"/>
              </a:rPr>
              <a:t>8.References</a:t>
            </a:r>
          </a:p>
          <a:p>
            <a:endParaRPr lang="en-US" b="1" dirty="0">
              <a:solidFill>
                <a:srgbClr val="FFFFFF"/>
              </a:solidFill>
              <a:latin typeface="Almarai Bold"/>
              <a:ea typeface="Almarai Bold"/>
              <a:cs typeface="Almarai Bold"/>
              <a:sym typeface="Almarai Bold"/>
            </a:endParaRPr>
          </a:p>
          <a:p>
            <a:endParaRPr lang="en-US" b="1" dirty="0">
              <a:solidFill>
                <a:srgbClr val="FFFFFF"/>
              </a:solidFill>
              <a:latin typeface="Almarai Bold"/>
              <a:ea typeface="Almarai Bold"/>
              <a:cs typeface="Almarai Bold"/>
              <a:sym typeface="Almarai Bold"/>
            </a:endParaRPr>
          </a:p>
          <a:p>
            <a:endParaRPr lang="en-US" b="1" dirty="0">
              <a:solidFill>
                <a:srgbClr val="FFFFFF"/>
              </a:solidFill>
              <a:latin typeface="Almarai Bold"/>
              <a:ea typeface="Almarai Bold"/>
              <a:cs typeface="Almarai Bold"/>
              <a:sym typeface="Almarai Bold"/>
            </a:endParaRPr>
          </a:p>
          <a:p>
            <a:endParaRPr lang="en-US" b="1" dirty="0">
              <a:solidFill>
                <a:srgbClr val="FFFFFF"/>
              </a:solidFill>
              <a:latin typeface="Almarai Bold"/>
              <a:ea typeface="Almarai Bold"/>
              <a:cs typeface="Almarai Bold"/>
              <a:sym typeface="Almarai Bold"/>
            </a:endParaRPr>
          </a:p>
          <a:p>
            <a:endParaRPr lang="en-US" b="1" dirty="0">
              <a:solidFill>
                <a:srgbClr val="FFFFFF"/>
              </a:solidFill>
              <a:latin typeface="Almarai Bold"/>
              <a:ea typeface="Almarai Bold"/>
              <a:cs typeface="Almarai Bold"/>
              <a:sym typeface="Almarai Bold"/>
            </a:endParaRPr>
          </a:p>
          <a:p>
            <a:endParaRPr lang="en-US" b="1" dirty="0">
              <a:solidFill>
                <a:srgbClr val="FFFFFF"/>
              </a:solidFill>
              <a:latin typeface="Almarai Bold"/>
              <a:ea typeface="Almarai Bold"/>
              <a:cs typeface="Almarai Bold"/>
              <a:sym typeface="Almarai Bold"/>
            </a:endParaRPr>
          </a:p>
          <a:p>
            <a:endParaRPr lang="en-US" b="1" dirty="0">
              <a:solidFill>
                <a:srgbClr val="FFFFFF"/>
              </a:solidFill>
              <a:latin typeface="Almarai Bold"/>
              <a:ea typeface="Almarai Bold"/>
              <a:cs typeface="Almarai Bold"/>
              <a:sym typeface="Almarai Bold"/>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7A15C1D0-ABF6-AF40-43F4-DD8D92625155}"/>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A575B260-6B79-90A8-A09C-261BB307B9B1}"/>
              </a:ext>
            </a:extLst>
          </p:cNvPr>
          <p:cNvGrpSpPr/>
          <p:nvPr/>
        </p:nvGrpSpPr>
        <p:grpSpPr>
          <a:xfrm>
            <a:off x="-3505200" y="-1632039"/>
            <a:ext cx="5634603" cy="4262001"/>
            <a:chOff x="76200" y="28575"/>
            <a:chExt cx="2452559" cy="1855110"/>
          </a:xfrm>
        </p:grpSpPr>
        <p:sp>
          <p:nvSpPr>
            <p:cNvPr id="6" name="Freeform 6">
              <a:extLst>
                <a:ext uri="{FF2B5EF4-FFF2-40B4-BE49-F238E27FC236}">
                  <a16:creationId xmlns:a16="http://schemas.microsoft.com/office/drawing/2014/main" id="{284710F0-0677-D9EE-2576-A926917F8E26}"/>
                </a:ext>
              </a:extLst>
            </p:cNvPr>
            <p:cNvSpPr/>
            <p:nvPr/>
          </p:nvSpPr>
          <p:spPr>
            <a:xfrm>
              <a:off x="1715959" y="1070885"/>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p:spPr>
          <p:txBody>
            <a:bodyPr/>
            <a:lstStyle/>
            <a:p>
              <a:endParaRPr lang="en-IN"/>
            </a:p>
          </p:txBody>
        </p:sp>
        <p:sp>
          <p:nvSpPr>
            <p:cNvPr id="7" name="TextBox 7">
              <a:extLst>
                <a:ext uri="{FF2B5EF4-FFF2-40B4-BE49-F238E27FC236}">
                  <a16:creationId xmlns:a16="http://schemas.microsoft.com/office/drawing/2014/main" id="{1EE60982-3DAE-3FA7-FEB4-92C81C2B82B4}"/>
                </a:ext>
              </a:extLst>
            </p:cNvPr>
            <p:cNvSpPr txBox="1"/>
            <p:nvPr/>
          </p:nvSpPr>
          <p:spPr>
            <a:xfrm>
              <a:off x="76200" y="28575"/>
              <a:ext cx="660400" cy="708025"/>
            </a:xfrm>
            <a:prstGeom prst="rect">
              <a:avLst/>
            </a:prstGeom>
          </p:spPr>
          <p:txBody>
            <a:bodyPr lIns="50800" tIns="50800" rIns="50800" bIns="50800" rtlCol="0" anchor="ctr"/>
            <a:lstStyle/>
            <a:p>
              <a:pPr algn="ctr">
                <a:lnSpc>
                  <a:spcPts val="2605"/>
                </a:lnSpc>
              </a:pPr>
              <a:endParaRPr/>
            </a:p>
          </p:txBody>
        </p:sp>
      </p:grpSp>
      <p:sp>
        <p:nvSpPr>
          <p:cNvPr id="8" name="Freeform 8">
            <a:extLst>
              <a:ext uri="{FF2B5EF4-FFF2-40B4-BE49-F238E27FC236}">
                <a16:creationId xmlns:a16="http://schemas.microsoft.com/office/drawing/2014/main" id="{5E414A1C-6B98-2432-352F-B8711C533B6E}"/>
              </a:ext>
            </a:extLst>
          </p:cNvPr>
          <p:cNvSpPr/>
          <p:nvPr/>
        </p:nvSpPr>
        <p:spPr>
          <a:xfrm>
            <a:off x="866486" y="1234076"/>
            <a:ext cx="721898" cy="1044852"/>
          </a:xfrm>
          <a:custGeom>
            <a:avLst/>
            <a:gdLst/>
            <a:ahLst/>
            <a:cxnLst/>
            <a:rect l="l" t="t" r="r" b="b"/>
            <a:pathLst>
              <a:path w="721898" h="1044852">
                <a:moveTo>
                  <a:pt x="0" y="0"/>
                </a:moveTo>
                <a:lnTo>
                  <a:pt x="721898" y="0"/>
                </a:lnTo>
                <a:lnTo>
                  <a:pt x="721898" y="1044852"/>
                </a:lnTo>
                <a:lnTo>
                  <a:pt x="0" y="10448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grpSp>
        <p:nvGrpSpPr>
          <p:cNvPr id="10" name="Group 10">
            <a:extLst>
              <a:ext uri="{FF2B5EF4-FFF2-40B4-BE49-F238E27FC236}">
                <a16:creationId xmlns:a16="http://schemas.microsoft.com/office/drawing/2014/main" id="{8C3A967E-08AD-EFE7-3CCD-714523CBAB5B}"/>
              </a:ext>
            </a:extLst>
          </p:cNvPr>
          <p:cNvGrpSpPr/>
          <p:nvPr/>
        </p:nvGrpSpPr>
        <p:grpSpPr>
          <a:xfrm rot="-10800000">
            <a:off x="15966396" y="9258300"/>
            <a:ext cx="13457996" cy="3264379"/>
            <a:chOff x="0" y="0"/>
            <a:chExt cx="17943995" cy="4352506"/>
          </a:xfrm>
        </p:grpSpPr>
        <p:sp>
          <p:nvSpPr>
            <p:cNvPr id="11" name="Freeform 11">
              <a:extLst>
                <a:ext uri="{FF2B5EF4-FFF2-40B4-BE49-F238E27FC236}">
                  <a16:creationId xmlns:a16="http://schemas.microsoft.com/office/drawing/2014/main" id="{C8DC7C40-091B-3A1C-D77F-F6484131C60B}"/>
                </a:ext>
              </a:extLst>
            </p:cNvPr>
            <p:cNvSpPr/>
            <p:nvPr/>
          </p:nvSpPr>
          <p:spPr>
            <a:xfrm>
              <a:off x="0" y="0"/>
              <a:ext cx="4149650" cy="4149650"/>
            </a:xfrm>
            <a:custGeom>
              <a:avLst/>
              <a:gdLst/>
              <a:ahLst/>
              <a:cxnLst/>
              <a:rect l="l" t="t" r="r" b="b"/>
              <a:pathLst>
                <a:path w="4149650" h="4149650">
                  <a:moveTo>
                    <a:pt x="0" y="0"/>
                  </a:moveTo>
                  <a:lnTo>
                    <a:pt x="4149650" y="0"/>
                  </a:lnTo>
                  <a:lnTo>
                    <a:pt x="4149650" y="4149650"/>
                  </a:lnTo>
                  <a:lnTo>
                    <a:pt x="0" y="41496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Freeform 12">
              <a:extLst>
                <a:ext uri="{FF2B5EF4-FFF2-40B4-BE49-F238E27FC236}">
                  <a16:creationId xmlns:a16="http://schemas.microsoft.com/office/drawing/2014/main" id="{3410F671-20FD-E385-D07E-C6C1BA771BEB}"/>
                </a:ext>
              </a:extLst>
            </p:cNvPr>
            <p:cNvSpPr/>
            <p:nvPr/>
          </p:nvSpPr>
          <p:spPr>
            <a:xfrm>
              <a:off x="4600097" y="861572"/>
              <a:ext cx="4149650" cy="3288079"/>
            </a:xfrm>
            <a:custGeom>
              <a:avLst/>
              <a:gdLst/>
              <a:ahLst/>
              <a:cxnLst/>
              <a:rect l="l" t="t" r="r" b="b"/>
              <a:pathLst>
                <a:path w="4149650" h="3288079">
                  <a:moveTo>
                    <a:pt x="0" y="0"/>
                  </a:moveTo>
                  <a:lnTo>
                    <a:pt x="4149651" y="0"/>
                  </a:lnTo>
                  <a:lnTo>
                    <a:pt x="4149651" y="3288078"/>
                  </a:lnTo>
                  <a:lnTo>
                    <a:pt x="0" y="3288078"/>
                  </a:lnTo>
                  <a:lnTo>
                    <a:pt x="0" y="0"/>
                  </a:lnTo>
                  <a:close/>
                </a:path>
              </a:pathLst>
            </a:custGeom>
            <a:blipFill>
              <a:blip>
                <a:extLst>
                  <a:ext uri="{96DAC541-7B7A-43D3-8B79-37D633B846F1}">
                    <asvg:svgBlip xmlns:asvg="http://schemas.microsoft.com/office/drawing/2016/SVG/main" r:embed="rId3"/>
                  </a:ext>
                </a:extLst>
              </a:blip>
              <a:stretch>
                <a:fillRect b="-26202"/>
              </a:stretch>
            </a:blipFill>
          </p:spPr>
          <p:txBody>
            <a:bodyPr/>
            <a:lstStyle/>
            <a:p>
              <a:endParaRPr lang="en-IN"/>
            </a:p>
          </p:txBody>
        </p:sp>
        <p:sp>
          <p:nvSpPr>
            <p:cNvPr id="13" name="Freeform 13">
              <a:extLst>
                <a:ext uri="{FF2B5EF4-FFF2-40B4-BE49-F238E27FC236}">
                  <a16:creationId xmlns:a16="http://schemas.microsoft.com/office/drawing/2014/main" id="{AA8E8B37-28BC-505E-CCAB-F3BC8D0397E3}"/>
                </a:ext>
              </a:extLst>
            </p:cNvPr>
            <p:cNvSpPr/>
            <p:nvPr/>
          </p:nvSpPr>
          <p:spPr>
            <a:xfrm>
              <a:off x="9194248" y="202855"/>
              <a:ext cx="4149650" cy="4149650"/>
            </a:xfrm>
            <a:custGeom>
              <a:avLst/>
              <a:gdLst/>
              <a:ahLst/>
              <a:cxnLst/>
              <a:rect l="l" t="t" r="r" b="b"/>
              <a:pathLst>
                <a:path w="4149650" h="4149650">
                  <a:moveTo>
                    <a:pt x="0" y="0"/>
                  </a:moveTo>
                  <a:lnTo>
                    <a:pt x="4149650" y="0"/>
                  </a:lnTo>
                  <a:lnTo>
                    <a:pt x="4149650" y="4149651"/>
                  </a:lnTo>
                  <a:lnTo>
                    <a:pt x="0" y="414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4" name="Freeform 14">
              <a:extLst>
                <a:ext uri="{FF2B5EF4-FFF2-40B4-BE49-F238E27FC236}">
                  <a16:creationId xmlns:a16="http://schemas.microsoft.com/office/drawing/2014/main" id="{508024CB-41DE-F07A-8FF0-0418320E2BC8}"/>
                </a:ext>
              </a:extLst>
            </p:cNvPr>
            <p:cNvSpPr/>
            <p:nvPr/>
          </p:nvSpPr>
          <p:spPr>
            <a:xfrm>
              <a:off x="13794345" y="1064427"/>
              <a:ext cx="4149650" cy="3288079"/>
            </a:xfrm>
            <a:custGeom>
              <a:avLst/>
              <a:gdLst/>
              <a:ahLst/>
              <a:cxnLst/>
              <a:rect l="l" t="t" r="r" b="b"/>
              <a:pathLst>
                <a:path w="4149650" h="3288079">
                  <a:moveTo>
                    <a:pt x="0" y="0"/>
                  </a:moveTo>
                  <a:lnTo>
                    <a:pt x="4149650" y="0"/>
                  </a:lnTo>
                  <a:lnTo>
                    <a:pt x="4149650" y="3288079"/>
                  </a:lnTo>
                  <a:lnTo>
                    <a:pt x="0" y="3288079"/>
                  </a:lnTo>
                  <a:lnTo>
                    <a:pt x="0" y="0"/>
                  </a:lnTo>
                  <a:close/>
                </a:path>
              </a:pathLst>
            </a:custGeom>
            <a:blipFill>
              <a:blip>
                <a:extLst>
                  <a:ext uri="{96DAC541-7B7A-43D3-8B79-37D633B846F1}">
                    <asvg:svgBlip xmlns:asvg="http://schemas.microsoft.com/office/drawing/2016/SVG/main" r:embed="rId3"/>
                  </a:ext>
                </a:extLst>
              </a:blip>
              <a:stretch>
                <a:fillRect b="-26202"/>
              </a:stretch>
            </a:blipFill>
          </p:spPr>
          <p:txBody>
            <a:bodyPr/>
            <a:lstStyle/>
            <a:p>
              <a:endParaRPr lang="en-IN"/>
            </a:p>
          </p:txBody>
        </p:sp>
      </p:grpSp>
      <p:grpSp>
        <p:nvGrpSpPr>
          <p:cNvPr id="16" name="Group 16">
            <a:extLst>
              <a:ext uri="{FF2B5EF4-FFF2-40B4-BE49-F238E27FC236}">
                <a16:creationId xmlns:a16="http://schemas.microsoft.com/office/drawing/2014/main" id="{73F77B99-5B9A-4E5D-988E-73EE6F4BFD88}"/>
              </a:ext>
            </a:extLst>
          </p:cNvPr>
          <p:cNvGrpSpPr/>
          <p:nvPr/>
        </p:nvGrpSpPr>
        <p:grpSpPr>
          <a:xfrm>
            <a:off x="15763958" y="-781916"/>
            <a:ext cx="1683983" cy="2405689"/>
            <a:chOff x="0" y="0"/>
            <a:chExt cx="4445000" cy="6350000"/>
          </a:xfrm>
        </p:grpSpPr>
        <p:sp>
          <p:nvSpPr>
            <p:cNvPr id="17" name="Freeform 17">
              <a:extLst>
                <a:ext uri="{FF2B5EF4-FFF2-40B4-BE49-F238E27FC236}">
                  <a16:creationId xmlns:a16="http://schemas.microsoft.com/office/drawing/2014/main" id="{F17134D9-6E16-625A-BE42-1ED45BBD15D5}"/>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stretch>
                <a:fillRect l="-201730" r="-201730"/>
              </a:stretch>
            </a:blipFill>
          </p:spPr>
          <p:txBody>
            <a:bodyPr/>
            <a:lstStyle/>
            <a:p>
              <a:endParaRPr lang="en-IN"/>
            </a:p>
          </p:txBody>
        </p:sp>
      </p:grpSp>
      <p:grpSp>
        <p:nvGrpSpPr>
          <p:cNvPr id="18" name="Group 18">
            <a:extLst>
              <a:ext uri="{FF2B5EF4-FFF2-40B4-BE49-F238E27FC236}">
                <a16:creationId xmlns:a16="http://schemas.microsoft.com/office/drawing/2014/main" id="{A222F7AF-2E42-7CD7-1D5E-B4F7EAAD415E}"/>
              </a:ext>
            </a:extLst>
          </p:cNvPr>
          <p:cNvGrpSpPr/>
          <p:nvPr/>
        </p:nvGrpSpPr>
        <p:grpSpPr>
          <a:xfrm rot="-10800000">
            <a:off x="796106" y="7929818"/>
            <a:ext cx="1683983" cy="2405689"/>
            <a:chOff x="0" y="0"/>
            <a:chExt cx="4445000" cy="6350000"/>
          </a:xfrm>
        </p:grpSpPr>
        <p:sp>
          <p:nvSpPr>
            <p:cNvPr id="19" name="Freeform 19">
              <a:extLst>
                <a:ext uri="{FF2B5EF4-FFF2-40B4-BE49-F238E27FC236}">
                  <a16:creationId xmlns:a16="http://schemas.microsoft.com/office/drawing/2014/main" id="{47C19AB3-C884-5F68-C1EC-CF6E83EB1D73}"/>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stretch>
                <a:fillRect l="-201730" r="-201730"/>
              </a:stretch>
            </a:blipFill>
          </p:spPr>
          <p:txBody>
            <a:bodyPr/>
            <a:lstStyle/>
            <a:p>
              <a:endParaRPr lang="en-IN"/>
            </a:p>
          </p:txBody>
        </p:sp>
      </p:grpSp>
      <p:grpSp>
        <p:nvGrpSpPr>
          <p:cNvPr id="20" name="Group 20">
            <a:extLst>
              <a:ext uri="{FF2B5EF4-FFF2-40B4-BE49-F238E27FC236}">
                <a16:creationId xmlns:a16="http://schemas.microsoft.com/office/drawing/2014/main" id="{664D4337-70A1-E170-D605-5021F22A9D60}"/>
              </a:ext>
            </a:extLst>
          </p:cNvPr>
          <p:cNvGrpSpPr/>
          <p:nvPr/>
        </p:nvGrpSpPr>
        <p:grpSpPr>
          <a:xfrm rot="5400000">
            <a:off x="14472073" y="781782"/>
            <a:ext cx="841991" cy="841991"/>
            <a:chOff x="0" y="0"/>
            <a:chExt cx="812800" cy="812800"/>
          </a:xfrm>
        </p:grpSpPr>
        <p:sp>
          <p:nvSpPr>
            <p:cNvPr id="21" name="Freeform 21">
              <a:extLst>
                <a:ext uri="{FF2B5EF4-FFF2-40B4-BE49-F238E27FC236}">
                  <a16:creationId xmlns:a16="http://schemas.microsoft.com/office/drawing/2014/main" id="{BE89290A-72AD-9171-4895-D14361076B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26211" r="-126211"/>
              </a:stretch>
            </a:blipFill>
          </p:spPr>
          <p:txBody>
            <a:bodyPr/>
            <a:lstStyle/>
            <a:p>
              <a:endParaRPr lang="en-IN"/>
            </a:p>
          </p:txBody>
        </p:sp>
      </p:grpSp>
      <p:grpSp>
        <p:nvGrpSpPr>
          <p:cNvPr id="22" name="Group 22">
            <a:extLst>
              <a:ext uri="{FF2B5EF4-FFF2-40B4-BE49-F238E27FC236}">
                <a16:creationId xmlns:a16="http://schemas.microsoft.com/office/drawing/2014/main" id="{3EA05994-278B-B7C6-5121-E63973AB1C60}"/>
              </a:ext>
            </a:extLst>
          </p:cNvPr>
          <p:cNvGrpSpPr/>
          <p:nvPr/>
        </p:nvGrpSpPr>
        <p:grpSpPr>
          <a:xfrm rot="-5400000">
            <a:off x="2929983" y="7929818"/>
            <a:ext cx="841991" cy="841991"/>
            <a:chOff x="0" y="0"/>
            <a:chExt cx="812800" cy="812800"/>
          </a:xfrm>
        </p:grpSpPr>
        <p:sp>
          <p:nvSpPr>
            <p:cNvPr id="23" name="Freeform 23">
              <a:extLst>
                <a:ext uri="{FF2B5EF4-FFF2-40B4-BE49-F238E27FC236}">
                  <a16:creationId xmlns:a16="http://schemas.microsoft.com/office/drawing/2014/main" id="{01468941-08A2-4F10-BB8E-C86452B0041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26211" r="-126211"/>
              </a:stretch>
            </a:blipFill>
          </p:spPr>
          <p:txBody>
            <a:bodyPr/>
            <a:lstStyle/>
            <a:p>
              <a:endParaRPr lang="en-IN"/>
            </a:p>
          </p:txBody>
        </p:sp>
      </p:grpSp>
      <p:grpSp>
        <p:nvGrpSpPr>
          <p:cNvPr id="24" name="Group 24">
            <a:extLst>
              <a:ext uri="{FF2B5EF4-FFF2-40B4-BE49-F238E27FC236}">
                <a16:creationId xmlns:a16="http://schemas.microsoft.com/office/drawing/2014/main" id="{0507BFC6-89A8-7C9C-2032-59EE88BA3C5B}"/>
              </a:ext>
            </a:extLst>
          </p:cNvPr>
          <p:cNvGrpSpPr/>
          <p:nvPr/>
        </p:nvGrpSpPr>
        <p:grpSpPr>
          <a:xfrm>
            <a:off x="17259300" y="2066886"/>
            <a:ext cx="5754080" cy="8220114"/>
            <a:chOff x="0" y="0"/>
            <a:chExt cx="4445000" cy="6350000"/>
          </a:xfrm>
        </p:grpSpPr>
        <p:sp>
          <p:nvSpPr>
            <p:cNvPr id="25" name="Freeform 25">
              <a:extLst>
                <a:ext uri="{FF2B5EF4-FFF2-40B4-BE49-F238E27FC236}">
                  <a16:creationId xmlns:a16="http://schemas.microsoft.com/office/drawing/2014/main" id="{0A4826EE-4FF9-2195-56EA-EEACDD0F2A9E}"/>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stretch>
                <a:fillRect l="-201730" r="-201730"/>
              </a:stretch>
            </a:blipFill>
          </p:spPr>
          <p:txBody>
            <a:bodyPr/>
            <a:lstStyle/>
            <a:p>
              <a:endParaRPr lang="en-IN"/>
            </a:p>
          </p:txBody>
        </p:sp>
      </p:grpSp>
      <p:grpSp>
        <p:nvGrpSpPr>
          <p:cNvPr id="28" name="Group 28">
            <a:extLst>
              <a:ext uri="{FF2B5EF4-FFF2-40B4-BE49-F238E27FC236}">
                <a16:creationId xmlns:a16="http://schemas.microsoft.com/office/drawing/2014/main" id="{E519F363-ED50-5AC2-90CD-9E8502AF5023}"/>
              </a:ext>
            </a:extLst>
          </p:cNvPr>
          <p:cNvGrpSpPr/>
          <p:nvPr/>
        </p:nvGrpSpPr>
        <p:grpSpPr>
          <a:xfrm>
            <a:off x="830471" y="4270423"/>
            <a:ext cx="94516" cy="2130893"/>
            <a:chOff x="0" y="0"/>
            <a:chExt cx="24893" cy="561223"/>
          </a:xfrm>
        </p:grpSpPr>
        <p:sp>
          <p:nvSpPr>
            <p:cNvPr id="29" name="Freeform 29">
              <a:extLst>
                <a:ext uri="{FF2B5EF4-FFF2-40B4-BE49-F238E27FC236}">
                  <a16:creationId xmlns:a16="http://schemas.microsoft.com/office/drawing/2014/main" id="{81F1CF3B-0C70-3CD0-6D19-23D7561BD44D}"/>
                </a:ext>
              </a:extLst>
            </p:cNvPr>
            <p:cNvSpPr/>
            <p:nvPr/>
          </p:nvSpPr>
          <p:spPr>
            <a:xfrm>
              <a:off x="0" y="0"/>
              <a:ext cx="24893" cy="561223"/>
            </a:xfrm>
            <a:custGeom>
              <a:avLst/>
              <a:gdLst/>
              <a:ahLst/>
              <a:cxnLst/>
              <a:rect l="l" t="t" r="r" b="b"/>
              <a:pathLst>
                <a:path w="24893" h="561223">
                  <a:moveTo>
                    <a:pt x="0" y="0"/>
                  </a:moveTo>
                  <a:lnTo>
                    <a:pt x="24893" y="0"/>
                  </a:lnTo>
                  <a:lnTo>
                    <a:pt x="24893" y="561223"/>
                  </a:lnTo>
                  <a:lnTo>
                    <a:pt x="0" y="561223"/>
                  </a:lnTo>
                  <a:close/>
                </a:path>
              </a:pathLst>
            </a:custGeom>
            <a:solidFill>
              <a:srgbClr val="145DA0"/>
            </a:solidFill>
          </p:spPr>
          <p:txBody>
            <a:bodyPr/>
            <a:lstStyle/>
            <a:p>
              <a:endParaRPr lang="en-IN"/>
            </a:p>
          </p:txBody>
        </p:sp>
        <p:sp>
          <p:nvSpPr>
            <p:cNvPr id="30" name="TextBox 30">
              <a:extLst>
                <a:ext uri="{FF2B5EF4-FFF2-40B4-BE49-F238E27FC236}">
                  <a16:creationId xmlns:a16="http://schemas.microsoft.com/office/drawing/2014/main" id="{044DDFF6-BCB9-BC44-06A7-BDD46F0DDD44}"/>
                </a:ext>
              </a:extLst>
            </p:cNvPr>
            <p:cNvSpPr txBox="1"/>
            <p:nvPr/>
          </p:nvSpPr>
          <p:spPr>
            <a:xfrm>
              <a:off x="0" y="-47625"/>
              <a:ext cx="24893" cy="608848"/>
            </a:xfrm>
            <a:prstGeom prst="rect">
              <a:avLst/>
            </a:prstGeom>
          </p:spPr>
          <p:txBody>
            <a:bodyPr lIns="50800" tIns="50800" rIns="50800" bIns="50800" rtlCol="0" anchor="ctr"/>
            <a:lstStyle/>
            <a:p>
              <a:pPr algn="ctr">
                <a:lnSpc>
                  <a:spcPts val="2605"/>
                </a:lnSpc>
              </a:pPr>
              <a:endParaRPr/>
            </a:p>
          </p:txBody>
        </p:sp>
      </p:grpSp>
      <p:grpSp>
        <p:nvGrpSpPr>
          <p:cNvPr id="31" name="Group 31">
            <a:extLst>
              <a:ext uri="{FF2B5EF4-FFF2-40B4-BE49-F238E27FC236}">
                <a16:creationId xmlns:a16="http://schemas.microsoft.com/office/drawing/2014/main" id="{2C6E4435-FF05-B15A-2D83-0BADD51BFD4E}"/>
              </a:ext>
            </a:extLst>
          </p:cNvPr>
          <p:cNvGrpSpPr/>
          <p:nvPr/>
        </p:nvGrpSpPr>
        <p:grpSpPr>
          <a:xfrm>
            <a:off x="804404" y="7319892"/>
            <a:ext cx="94516" cy="2130893"/>
            <a:chOff x="0" y="0"/>
            <a:chExt cx="24893" cy="561223"/>
          </a:xfrm>
        </p:grpSpPr>
        <p:sp>
          <p:nvSpPr>
            <p:cNvPr id="32" name="Freeform 32">
              <a:extLst>
                <a:ext uri="{FF2B5EF4-FFF2-40B4-BE49-F238E27FC236}">
                  <a16:creationId xmlns:a16="http://schemas.microsoft.com/office/drawing/2014/main" id="{373C410B-A51D-679A-9E84-AF6A3052AD2A}"/>
                </a:ext>
              </a:extLst>
            </p:cNvPr>
            <p:cNvSpPr/>
            <p:nvPr/>
          </p:nvSpPr>
          <p:spPr>
            <a:xfrm>
              <a:off x="0" y="0"/>
              <a:ext cx="24893" cy="561223"/>
            </a:xfrm>
            <a:custGeom>
              <a:avLst/>
              <a:gdLst/>
              <a:ahLst/>
              <a:cxnLst/>
              <a:rect l="l" t="t" r="r" b="b"/>
              <a:pathLst>
                <a:path w="24893" h="561223">
                  <a:moveTo>
                    <a:pt x="0" y="0"/>
                  </a:moveTo>
                  <a:lnTo>
                    <a:pt x="24893" y="0"/>
                  </a:lnTo>
                  <a:lnTo>
                    <a:pt x="24893" y="561223"/>
                  </a:lnTo>
                  <a:lnTo>
                    <a:pt x="0" y="561223"/>
                  </a:lnTo>
                  <a:close/>
                </a:path>
              </a:pathLst>
            </a:custGeom>
            <a:solidFill>
              <a:srgbClr val="145DA0"/>
            </a:solidFill>
          </p:spPr>
          <p:txBody>
            <a:bodyPr/>
            <a:lstStyle/>
            <a:p>
              <a:endParaRPr lang="en-IN"/>
            </a:p>
          </p:txBody>
        </p:sp>
        <p:sp>
          <p:nvSpPr>
            <p:cNvPr id="33" name="TextBox 33">
              <a:extLst>
                <a:ext uri="{FF2B5EF4-FFF2-40B4-BE49-F238E27FC236}">
                  <a16:creationId xmlns:a16="http://schemas.microsoft.com/office/drawing/2014/main" id="{D708F18D-B02B-61F6-2A0E-0B847E984966}"/>
                </a:ext>
              </a:extLst>
            </p:cNvPr>
            <p:cNvSpPr txBox="1"/>
            <p:nvPr/>
          </p:nvSpPr>
          <p:spPr>
            <a:xfrm>
              <a:off x="0" y="-47625"/>
              <a:ext cx="24893" cy="608848"/>
            </a:xfrm>
            <a:prstGeom prst="rect">
              <a:avLst/>
            </a:prstGeom>
          </p:spPr>
          <p:txBody>
            <a:bodyPr lIns="50800" tIns="50800" rIns="50800" bIns="50800" rtlCol="0" anchor="ctr"/>
            <a:lstStyle/>
            <a:p>
              <a:pPr algn="ctr">
                <a:lnSpc>
                  <a:spcPts val="2605"/>
                </a:lnSpc>
              </a:pPr>
              <a:endParaRPr/>
            </a:p>
          </p:txBody>
        </p:sp>
      </p:grpSp>
      <p:sp>
        <p:nvSpPr>
          <p:cNvPr id="42" name="TextBox 41">
            <a:extLst>
              <a:ext uri="{FF2B5EF4-FFF2-40B4-BE49-F238E27FC236}">
                <a16:creationId xmlns:a16="http://schemas.microsoft.com/office/drawing/2014/main" id="{266A272C-A4F3-8096-8126-C76AA2B6AF1D}"/>
              </a:ext>
            </a:extLst>
          </p:cNvPr>
          <p:cNvSpPr txBox="1"/>
          <p:nvPr/>
        </p:nvSpPr>
        <p:spPr>
          <a:xfrm>
            <a:off x="1588384" y="4876915"/>
            <a:ext cx="13926284" cy="3662541"/>
          </a:xfrm>
          <a:prstGeom prst="rect">
            <a:avLst/>
          </a:prstGeom>
          <a:noFill/>
        </p:spPr>
        <p:txBody>
          <a:bodyPr wrap="square" rtlCol="0">
            <a:spAutoFit/>
          </a:bodyPr>
          <a:lstStyle/>
          <a:p>
            <a:pPr algn="just"/>
            <a:r>
              <a:rPr lang="en-US" sz="3200" dirty="0">
                <a:solidFill>
                  <a:schemeClr val="bg1"/>
                </a:solidFill>
                <a:latin typeface="Times New Roman" panose="02020603050405020304" pitchFamily="18" charset="0"/>
                <a:cs typeface="Times New Roman" panose="02020603050405020304" pitchFamily="18" charset="0"/>
              </a:rPr>
              <a:t>-</a:t>
            </a:r>
            <a:r>
              <a:rPr lang="en-US" sz="2800" dirty="0">
                <a:solidFill>
                  <a:schemeClr val="bg1"/>
                </a:solidFill>
                <a:latin typeface="Times New Roman" panose="02020603050405020304" pitchFamily="18" charset="0"/>
                <a:cs typeface="Times New Roman" panose="02020603050405020304" pitchFamily="18" charset="0"/>
              </a:rPr>
              <a:t>Renewable energy like solar and wind is key to a sustainable future, but their reliance on weather makes energy production unpredictable and hard to forecast</a:t>
            </a:r>
            <a:r>
              <a:rPr lang="en-US" sz="2800" dirty="0">
                <a:solidFill>
                  <a:schemeClr val="bg1"/>
                </a:solidFill>
              </a:rPr>
              <a:t>.</a:t>
            </a:r>
          </a:p>
          <a:p>
            <a:pPr algn="just"/>
            <a:endParaRPr lang="en-US" sz="2800" dirty="0">
              <a:solidFill>
                <a:schemeClr val="bg1"/>
              </a:solidFill>
            </a:endParaRPr>
          </a:p>
          <a:p>
            <a:pPr algn="just"/>
            <a:r>
              <a:rPr lang="en-US" sz="2800" dirty="0">
                <a:solidFill>
                  <a:schemeClr val="bg1"/>
                </a:solidFill>
              </a:rPr>
              <a:t>-</a:t>
            </a:r>
            <a:r>
              <a:rPr lang="en-US" sz="2800" dirty="0">
                <a:solidFill>
                  <a:schemeClr val="bg1"/>
                </a:solidFill>
                <a:latin typeface="Times New Roman" panose="02020603050405020304" pitchFamily="18" charset="0"/>
                <a:cs typeface="Times New Roman" panose="02020603050405020304" pitchFamily="18" charset="0"/>
              </a:rPr>
              <a:t>To address this challenge, we developed the Renewable Energy Forecast Tool — an AI-driven platform that uses machine learning to analyze historical energy data and weather factors like temperature, humidity, wind speed, and solar irradiance.</a:t>
            </a:r>
          </a:p>
          <a:p>
            <a:pPr algn="just"/>
            <a:r>
              <a:rPr lang="en-US" sz="2800" dirty="0">
                <a:solidFill>
                  <a:schemeClr val="bg1"/>
                </a:solidFill>
                <a:latin typeface="Times New Roman" panose="02020603050405020304" pitchFamily="18" charset="0"/>
                <a:cs typeface="Times New Roman" panose="02020603050405020304" pitchFamily="18" charset="0"/>
              </a:rPr>
              <a:t>This data analysis provides accurate and timely forecasts of future renewable energy generation.</a:t>
            </a:r>
          </a:p>
          <a:p>
            <a:endParaRPr lang="en-US" sz="3200" dirty="0">
              <a:solidFill>
                <a:schemeClr val="bg1"/>
              </a:solidFill>
              <a:latin typeface="Aptos Light" panose="020B0004020202020204" pitchFamily="34" charset="0"/>
            </a:endParaRPr>
          </a:p>
        </p:txBody>
      </p:sp>
      <p:sp>
        <p:nvSpPr>
          <p:cNvPr id="2" name="TextBox 1">
            <a:extLst>
              <a:ext uri="{FF2B5EF4-FFF2-40B4-BE49-F238E27FC236}">
                <a16:creationId xmlns:a16="http://schemas.microsoft.com/office/drawing/2014/main" id="{D90D8307-4720-B6B7-35A6-8803F91D1064}"/>
              </a:ext>
            </a:extLst>
          </p:cNvPr>
          <p:cNvSpPr txBox="1"/>
          <p:nvPr/>
        </p:nvSpPr>
        <p:spPr>
          <a:xfrm>
            <a:off x="2579297" y="1135840"/>
            <a:ext cx="9982200" cy="830997"/>
          </a:xfrm>
          <a:prstGeom prst="rect">
            <a:avLst/>
          </a:prstGeom>
          <a:noFill/>
        </p:spPr>
        <p:txBody>
          <a:bodyPr wrap="square" rtlCol="0">
            <a:spAutoFit/>
          </a:bodyPr>
          <a:lstStyle/>
          <a:p>
            <a:r>
              <a:rPr lang="en-IN" sz="4800" b="1" u="sng" dirty="0">
                <a:solidFill>
                  <a:schemeClr val="bg1"/>
                </a:solidFill>
              </a:rPr>
              <a:t>INTRODUCTION</a:t>
            </a:r>
          </a:p>
        </p:txBody>
      </p:sp>
      <p:pic>
        <p:nvPicPr>
          <p:cNvPr id="4" name="Picture 3" descr="Solar panels with the sun setting behind them&#10;&#10;AI-generated content may be incorrect.">
            <a:extLst>
              <a:ext uri="{FF2B5EF4-FFF2-40B4-BE49-F238E27FC236}">
                <a16:creationId xmlns:a16="http://schemas.microsoft.com/office/drawing/2014/main" id="{D8E3196C-59A2-1E15-3B99-A9F2A33AFA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36713" y="948045"/>
            <a:ext cx="6727667" cy="3363834"/>
          </a:xfrm>
          <a:prstGeom prst="rect">
            <a:avLst/>
          </a:prstGeom>
        </p:spPr>
      </p:pic>
    </p:spTree>
    <p:extLst>
      <p:ext uri="{BB962C8B-B14F-4D97-AF65-F5344CB8AC3E}">
        <p14:creationId xmlns:p14="http://schemas.microsoft.com/office/powerpoint/2010/main" val="360837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F561C760-7593-FA7B-E000-661919678B0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98DCB34-8DC1-FA40-44FB-CBAC1EEF715D}"/>
              </a:ext>
            </a:extLst>
          </p:cNvPr>
          <p:cNvGrpSpPr/>
          <p:nvPr/>
        </p:nvGrpSpPr>
        <p:grpSpPr>
          <a:xfrm>
            <a:off x="15563544" y="2030857"/>
            <a:ext cx="1867358" cy="1867358"/>
            <a:chOff x="0" y="0"/>
            <a:chExt cx="812800" cy="812800"/>
          </a:xfrm>
        </p:grpSpPr>
        <p:sp>
          <p:nvSpPr>
            <p:cNvPr id="3" name="Freeform 3">
              <a:extLst>
                <a:ext uri="{FF2B5EF4-FFF2-40B4-BE49-F238E27FC236}">
                  <a16:creationId xmlns:a16="http://schemas.microsoft.com/office/drawing/2014/main" id="{D39BA331-CFE8-60ED-DA20-FF4E349FB5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p:spPr>
          <p:txBody>
            <a:bodyPr/>
            <a:lstStyle/>
            <a:p>
              <a:endParaRPr lang="en-IN"/>
            </a:p>
          </p:txBody>
        </p:sp>
        <p:sp>
          <p:nvSpPr>
            <p:cNvPr id="4" name="TextBox 4">
              <a:extLst>
                <a:ext uri="{FF2B5EF4-FFF2-40B4-BE49-F238E27FC236}">
                  <a16:creationId xmlns:a16="http://schemas.microsoft.com/office/drawing/2014/main" id="{6CBFA360-ECF3-5AD3-A3E8-EAD1A7EF447E}"/>
                </a:ext>
              </a:extLst>
            </p:cNvPr>
            <p:cNvSpPr txBox="1"/>
            <p:nvPr/>
          </p:nvSpPr>
          <p:spPr>
            <a:xfrm>
              <a:off x="76200" y="28575"/>
              <a:ext cx="660400" cy="708025"/>
            </a:xfrm>
            <a:prstGeom prst="rect">
              <a:avLst/>
            </a:prstGeom>
          </p:spPr>
          <p:txBody>
            <a:bodyPr lIns="50800" tIns="50800" rIns="50800" bIns="50800" rtlCol="0" anchor="ctr"/>
            <a:lstStyle/>
            <a:p>
              <a:pPr algn="ctr">
                <a:lnSpc>
                  <a:spcPts val="2605"/>
                </a:lnSpc>
              </a:pPr>
              <a:endParaRPr/>
            </a:p>
          </p:txBody>
        </p:sp>
      </p:grpSp>
      <p:sp>
        <p:nvSpPr>
          <p:cNvPr id="9" name="Freeform 9">
            <a:extLst>
              <a:ext uri="{FF2B5EF4-FFF2-40B4-BE49-F238E27FC236}">
                <a16:creationId xmlns:a16="http://schemas.microsoft.com/office/drawing/2014/main" id="{58512B62-F1FA-B7D2-9E66-FFE7167D9DFF}"/>
              </a:ext>
            </a:extLst>
          </p:cNvPr>
          <p:cNvSpPr/>
          <p:nvPr/>
        </p:nvSpPr>
        <p:spPr>
          <a:xfrm>
            <a:off x="16108660" y="2539986"/>
            <a:ext cx="1029822" cy="1041181"/>
          </a:xfrm>
          <a:custGeom>
            <a:avLst/>
            <a:gdLst/>
            <a:ahLst/>
            <a:cxnLst/>
            <a:rect l="l" t="t" r="r" b="b"/>
            <a:pathLst>
              <a:path w="1029822" h="1041181">
                <a:moveTo>
                  <a:pt x="0" y="0"/>
                </a:moveTo>
                <a:lnTo>
                  <a:pt x="1029823" y="0"/>
                </a:lnTo>
                <a:lnTo>
                  <a:pt x="1029823" y="1041181"/>
                </a:lnTo>
                <a:lnTo>
                  <a:pt x="0" y="10411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0" name="Group 10">
            <a:extLst>
              <a:ext uri="{FF2B5EF4-FFF2-40B4-BE49-F238E27FC236}">
                <a16:creationId xmlns:a16="http://schemas.microsoft.com/office/drawing/2014/main" id="{E81EE266-F998-E536-254A-1A3DFF1530EF}"/>
              </a:ext>
            </a:extLst>
          </p:cNvPr>
          <p:cNvGrpSpPr/>
          <p:nvPr/>
        </p:nvGrpSpPr>
        <p:grpSpPr>
          <a:xfrm rot="-10800000">
            <a:off x="15966396" y="9258300"/>
            <a:ext cx="13457996" cy="3264379"/>
            <a:chOff x="0" y="0"/>
            <a:chExt cx="17943995" cy="4352506"/>
          </a:xfrm>
        </p:grpSpPr>
        <p:sp>
          <p:nvSpPr>
            <p:cNvPr id="11" name="Freeform 11">
              <a:extLst>
                <a:ext uri="{FF2B5EF4-FFF2-40B4-BE49-F238E27FC236}">
                  <a16:creationId xmlns:a16="http://schemas.microsoft.com/office/drawing/2014/main" id="{47404654-CD76-3323-5CEB-D579589ACA49}"/>
                </a:ext>
              </a:extLst>
            </p:cNvPr>
            <p:cNvSpPr/>
            <p:nvPr/>
          </p:nvSpPr>
          <p:spPr>
            <a:xfrm>
              <a:off x="0" y="0"/>
              <a:ext cx="4149650" cy="4149650"/>
            </a:xfrm>
            <a:custGeom>
              <a:avLst/>
              <a:gdLst/>
              <a:ahLst/>
              <a:cxnLst/>
              <a:rect l="l" t="t" r="r" b="b"/>
              <a:pathLst>
                <a:path w="4149650" h="4149650">
                  <a:moveTo>
                    <a:pt x="0" y="0"/>
                  </a:moveTo>
                  <a:lnTo>
                    <a:pt x="4149650" y="0"/>
                  </a:lnTo>
                  <a:lnTo>
                    <a:pt x="4149650" y="4149650"/>
                  </a:lnTo>
                  <a:lnTo>
                    <a:pt x="0" y="41496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Freeform 12">
              <a:extLst>
                <a:ext uri="{FF2B5EF4-FFF2-40B4-BE49-F238E27FC236}">
                  <a16:creationId xmlns:a16="http://schemas.microsoft.com/office/drawing/2014/main" id="{6C605F27-CEA5-3EF5-24A2-80B0CB3F23F1}"/>
                </a:ext>
              </a:extLst>
            </p:cNvPr>
            <p:cNvSpPr/>
            <p:nvPr/>
          </p:nvSpPr>
          <p:spPr>
            <a:xfrm>
              <a:off x="4600097" y="861572"/>
              <a:ext cx="4149650" cy="3288079"/>
            </a:xfrm>
            <a:custGeom>
              <a:avLst/>
              <a:gdLst/>
              <a:ahLst/>
              <a:cxnLst/>
              <a:rect l="l" t="t" r="r" b="b"/>
              <a:pathLst>
                <a:path w="4149650" h="3288079">
                  <a:moveTo>
                    <a:pt x="0" y="0"/>
                  </a:moveTo>
                  <a:lnTo>
                    <a:pt x="4149651" y="0"/>
                  </a:lnTo>
                  <a:lnTo>
                    <a:pt x="4149651" y="3288078"/>
                  </a:lnTo>
                  <a:lnTo>
                    <a:pt x="0" y="3288078"/>
                  </a:lnTo>
                  <a:lnTo>
                    <a:pt x="0" y="0"/>
                  </a:lnTo>
                  <a:close/>
                </a:path>
              </a:pathLst>
            </a:custGeom>
            <a:blipFill>
              <a:blip>
                <a:extLst>
                  <a:ext uri="{96DAC541-7B7A-43D3-8B79-37D633B846F1}">
                    <asvg:svgBlip xmlns:asvg="http://schemas.microsoft.com/office/drawing/2016/SVG/main" r:embed="rId3"/>
                  </a:ext>
                </a:extLst>
              </a:blip>
              <a:stretch>
                <a:fillRect b="-26202"/>
              </a:stretch>
            </a:blipFill>
          </p:spPr>
          <p:txBody>
            <a:bodyPr/>
            <a:lstStyle/>
            <a:p>
              <a:endParaRPr lang="en-IN"/>
            </a:p>
          </p:txBody>
        </p:sp>
        <p:sp>
          <p:nvSpPr>
            <p:cNvPr id="13" name="Freeform 13">
              <a:extLst>
                <a:ext uri="{FF2B5EF4-FFF2-40B4-BE49-F238E27FC236}">
                  <a16:creationId xmlns:a16="http://schemas.microsoft.com/office/drawing/2014/main" id="{721267AE-79A2-870A-CAF6-1DA236478A88}"/>
                </a:ext>
              </a:extLst>
            </p:cNvPr>
            <p:cNvSpPr/>
            <p:nvPr/>
          </p:nvSpPr>
          <p:spPr>
            <a:xfrm>
              <a:off x="9194248" y="202855"/>
              <a:ext cx="4149650" cy="4149650"/>
            </a:xfrm>
            <a:custGeom>
              <a:avLst/>
              <a:gdLst/>
              <a:ahLst/>
              <a:cxnLst/>
              <a:rect l="l" t="t" r="r" b="b"/>
              <a:pathLst>
                <a:path w="4149650" h="4149650">
                  <a:moveTo>
                    <a:pt x="0" y="0"/>
                  </a:moveTo>
                  <a:lnTo>
                    <a:pt x="4149650" y="0"/>
                  </a:lnTo>
                  <a:lnTo>
                    <a:pt x="4149650" y="4149651"/>
                  </a:lnTo>
                  <a:lnTo>
                    <a:pt x="0" y="414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4" name="Freeform 14">
              <a:extLst>
                <a:ext uri="{FF2B5EF4-FFF2-40B4-BE49-F238E27FC236}">
                  <a16:creationId xmlns:a16="http://schemas.microsoft.com/office/drawing/2014/main" id="{C19C0CC9-A97C-1FFF-F229-4C7C49D3C376}"/>
                </a:ext>
              </a:extLst>
            </p:cNvPr>
            <p:cNvSpPr/>
            <p:nvPr/>
          </p:nvSpPr>
          <p:spPr>
            <a:xfrm>
              <a:off x="13794345" y="1064427"/>
              <a:ext cx="4149650" cy="3288079"/>
            </a:xfrm>
            <a:custGeom>
              <a:avLst/>
              <a:gdLst/>
              <a:ahLst/>
              <a:cxnLst/>
              <a:rect l="l" t="t" r="r" b="b"/>
              <a:pathLst>
                <a:path w="4149650" h="3288079">
                  <a:moveTo>
                    <a:pt x="0" y="0"/>
                  </a:moveTo>
                  <a:lnTo>
                    <a:pt x="4149650" y="0"/>
                  </a:lnTo>
                  <a:lnTo>
                    <a:pt x="4149650" y="3288079"/>
                  </a:lnTo>
                  <a:lnTo>
                    <a:pt x="0" y="3288079"/>
                  </a:lnTo>
                  <a:lnTo>
                    <a:pt x="0" y="0"/>
                  </a:lnTo>
                  <a:close/>
                </a:path>
              </a:pathLst>
            </a:custGeom>
            <a:blipFill>
              <a:blip>
                <a:extLst>
                  <a:ext uri="{96DAC541-7B7A-43D3-8B79-37D633B846F1}">
                    <asvg:svgBlip xmlns:asvg="http://schemas.microsoft.com/office/drawing/2016/SVG/main" r:embed="rId3"/>
                  </a:ext>
                </a:extLst>
              </a:blip>
              <a:stretch>
                <a:fillRect b="-26202"/>
              </a:stretch>
            </a:blipFill>
          </p:spPr>
          <p:txBody>
            <a:bodyPr/>
            <a:lstStyle/>
            <a:p>
              <a:endParaRPr lang="en-IN"/>
            </a:p>
          </p:txBody>
        </p:sp>
      </p:grpSp>
      <p:sp>
        <p:nvSpPr>
          <p:cNvPr id="15" name="Freeform 15">
            <a:extLst>
              <a:ext uri="{FF2B5EF4-FFF2-40B4-BE49-F238E27FC236}">
                <a16:creationId xmlns:a16="http://schemas.microsoft.com/office/drawing/2014/main" id="{6A8648D5-1522-2C4D-D477-B3D821AC7ED0}"/>
              </a:ext>
            </a:extLst>
          </p:cNvPr>
          <p:cNvSpPr/>
          <p:nvPr/>
        </p:nvSpPr>
        <p:spPr>
          <a:xfrm>
            <a:off x="10293805" y="-3747774"/>
            <a:ext cx="8754599" cy="8754599"/>
          </a:xfrm>
          <a:custGeom>
            <a:avLst/>
            <a:gdLst/>
            <a:ahLst/>
            <a:cxnLst/>
            <a:rect l="l" t="t" r="r" b="b"/>
            <a:pathLst>
              <a:path w="8754599" h="8754599">
                <a:moveTo>
                  <a:pt x="0" y="0"/>
                </a:moveTo>
                <a:lnTo>
                  <a:pt x="8754599" y="0"/>
                </a:lnTo>
                <a:lnTo>
                  <a:pt x="8754599" y="8754598"/>
                </a:lnTo>
                <a:lnTo>
                  <a:pt x="0" y="87545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16" name="Group 16">
            <a:extLst>
              <a:ext uri="{FF2B5EF4-FFF2-40B4-BE49-F238E27FC236}">
                <a16:creationId xmlns:a16="http://schemas.microsoft.com/office/drawing/2014/main" id="{75B98CDD-AE5D-7A81-2018-4759E70C7E32}"/>
              </a:ext>
            </a:extLst>
          </p:cNvPr>
          <p:cNvGrpSpPr/>
          <p:nvPr/>
        </p:nvGrpSpPr>
        <p:grpSpPr>
          <a:xfrm>
            <a:off x="15763958" y="-781916"/>
            <a:ext cx="1683983" cy="2405689"/>
            <a:chOff x="0" y="0"/>
            <a:chExt cx="4445000" cy="6350000"/>
          </a:xfrm>
        </p:grpSpPr>
        <p:sp>
          <p:nvSpPr>
            <p:cNvPr id="17" name="Freeform 17">
              <a:extLst>
                <a:ext uri="{FF2B5EF4-FFF2-40B4-BE49-F238E27FC236}">
                  <a16:creationId xmlns:a16="http://schemas.microsoft.com/office/drawing/2014/main" id="{E77F45F3-83A6-F42D-908B-5E9675DA8403}"/>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txBody>
            <a:bodyPr/>
            <a:lstStyle/>
            <a:p>
              <a:endParaRPr lang="en-IN"/>
            </a:p>
          </p:txBody>
        </p:sp>
      </p:grpSp>
      <p:grpSp>
        <p:nvGrpSpPr>
          <p:cNvPr id="18" name="Group 18">
            <a:extLst>
              <a:ext uri="{FF2B5EF4-FFF2-40B4-BE49-F238E27FC236}">
                <a16:creationId xmlns:a16="http://schemas.microsoft.com/office/drawing/2014/main" id="{58CCBC19-B831-0CA4-8A02-30D3DB0FEA36}"/>
              </a:ext>
            </a:extLst>
          </p:cNvPr>
          <p:cNvGrpSpPr/>
          <p:nvPr/>
        </p:nvGrpSpPr>
        <p:grpSpPr>
          <a:xfrm rot="-10800000">
            <a:off x="796106" y="7929818"/>
            <a:ext cx="1683983" cy="2405689"/>
            <a:chOff x="0" y="0"/>
            <a:chExt cx="4445000" cy="6350000"/>
          </a:xfrm>
        </p:grpSpPr>
        <p:sp>
          <p:nvSpPr>
            <p:cNvPr id="19" name="Freeform 19">
              <a:extLst>
                <a:ext uri="{FF2B5EF4-FFF2-40B4-BE49-F238E27FC236}">
                  <a16:creationId xmlns:a16="http://schemas.microsoft.com/office/drawing/2014/main" id="{D16089CA-DD50-54C0-AF0D-4097CD0C1E6B}"/>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txBody>
            <a:bodyPr/>
            <a:lstStyle/>
            <a:p>
              <a:endParaRPr lang="en-IN"/>
            </a:p>
          </p:txBody>
        </p:sp>
      </p:grpSp>
      <p:grpSp>
        <p:nvGrpSpPr>
          <p:cNvPr id="20" name="Group 20">
            <a:extLst>
              <a:ext uri="{FF2B5EF4-FFF2-40B4-BE49-F238E27FC236}">
                <a16:creationId xmlns:a16="http://schemas.microsoft.com/office/drawing/2014/main" id="{F47EF213-891B-6AE0-1E05-430362475A63}"/>
              </a:ext>
            </a:extLst>
          </p:cNvPr>
          <p:cNvGrpSpPr/>
          <p:nvPr/>
        </p:nvGrpSpPr>
        <p:grpSpPr>
          <a:xfrm rot="5400000">
            <a:off x="14472073" y="781782"/>
            <a:ext cx="841991" cy="841991"/>
            <a:chOff x="0" y="0"/>
            <a:chExt cx="812800" cy="812800"/>
          </a:xfrm>
        </p:grpSpPr>
        <p:sp>
          <p:nvSpPr>
            <p:cNvPr id="21" name="Freeform 21">
              <a:extLst>
                <a:ext uri="{FF2B5EF4-FFF2-40B4-BE49-F238E27FC236}">
                  <a16:creationId xmlns:a16="http://schemas.microsoft.com/office/drawing/2014/main" id="{7AD38A05-6A4C-1B8F-0D14-B0B7BE3433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26211" r="-126211"/>
              </a:stretch>
            </a:blipFill>
          </p:spPr>
          <p:txBody>
            <a:bodyPr/>
            <a:lstStyle/>
            <a:p>
              <a:endParaRPr lang="en-IN"/>
            </a:p>
          </p:txBody>
        </p:sp>
      </p:grpSp>
      <p:grpSp>
        <p:nvGrpSpPr>
          <p:cNvPr id="22" name="Group 22">
            <a:extLst>
              <a:ext uri="{FF2B5EF4-FFF2-40B4-BE49-F238E27FC236}">
                <a16:creationId xmlns:a16="http://schemas.microsoft.com/office/drawing/2014/main" id="{593B87CC-537A-633B-EC06-60AF84DF0933}"/>
              </a:ext>
            </a:extLst>
          </p:cNvPr>
          <p:cNvGrpSpPr/>
          <p:nvPr/>
        </p:nvGrpSpPr>
        <p:grpSpPr>
          <a:xfrm rot="-5400000">
            <a:off x="2929983" y="7929818"/>
            <a:ext cx="841991" cy="841991"/>
            <a:chOff x="0" y="0"/>
            <a:chExt cx="812800" cy="812800"/>
          </a:xfrm>
        </p:grpSpPr>
        <p:sp>
          <p:nvSpPr>
            <p:cNvPr id="23" name="Freeform 23">
              <a:extLst>
                <a:ext uri="{FF2B5EF4-FFF2-40B4-BE49-F238E27FC236}">
                  <a16:creationId xmlns:a16="http://schemas.microsoft.com/office/drawing/2014/main" id="{5F0663BF-AFED-6973-B009-76442F7D7C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26211" r="-126211"/>
              </a:stretch>
            </a:blipFill>
          </p:spPr>
          <p:txBody>
            <a:bodyPr/>
            <a:lstStyle/>
            <a:p>
              <a:endParaRPr lang="en-IN"/>
            </a:p>
          </p:txBody>
        </p:sp>
      </p:grpSp>
      <p:grpSp>
        <p:nvGrpSpPr>
          <p:cNvPr id="24" name="Group 24">
            <a:extLst>
              <a:ext uri="{FF2B5EF4-FFF2-40B4-BE49-F238E27FC236}">
                <a16:creationId xmlns:a16="http://schemas.microsoft.com/office/drawing/2014/main" id="{7CAFD221-F988-5145-B7CA-D841D52C5FEF}"/>
              </a:ext>
            </a:extLst>
          </p:cNvPr>
          <p:cNvGrpSpPr/>
          <p:nvPr/>
        </p:nvGrpSpPr>
        <p:grpSpPr>
          <a:xfrm>
            <a:off x="17138482" y="2066886"/>
            <a:ext cx="5754080" cy="8220114"/>
            <a:chOff x="0" y="0"/>
            <a:chExt cx="4445000" cy="6350000"/>
          </a:xfrm>
        </p:grpSpPr>
        <p:sp>
          <p:nvSpPr>
            <p:cNvPr id="25" name="Freeform 25">
              <a:extLst>
                <a:ext uri="{FF2B5EF4-FFF2-40B4-BE49-F238E27FC236}">
                  <a16:creationId xmlns:a16="http://schemas.microsoft.com/office/drawing/2014/main" id="{E185D7A0-B956-308C-58F4-28C14086CF51}"/>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txBody>
            <a:bodyPr/>
            <a:lstStyle/>
            <a:p>
              <a:endParaRPr lang="en-IN"/>
            </a:p>
          </p:txBody>
        </p:sp>
      </p:grpSp>
      <p:grpSp>
        <p:nvGrpSpPr>
          <p:cNvPr id="26" name="Group 26">
            <a:extLst>
              <a:ext uri="{FF2B5EF4-FFF2-40B4-BE49-F238E27FC236}">
                <a16:creationId xmlns:a16="http://schemas.microsoft.com/office/drawing/2014/main" id="{2F821DB7-BDC5-AB89-1D48-A8150D25021C}"/>
              </a:ext>
            </a:extLst>
          </p:cNvPr>
          <p:cNvGrpSpPr/>
          <p:nvPr/>
        </p:nvGrpSpPr>
        <p:grpSpPr>
          <a:xfrm>
            <a:off x="-4640800" y="-2817947"/>
            <a:ext cx="5754080" cy="8220114"/>
            <a:chOff x="-1178751" y="-2200686"/>
            <a:chExt cx="4445000" cy="6350000"/>
          </a:xfrm>
        </p:grpSpPr>
        <p:sp>
          <p:nvSpPr>
            <p:cNvPr id="27" name="Freeform 27">
              <a:extLst>
                <a:ext uri="{FF2B5EF4-FFF2-40B4-BE49-F238E27FC236}">
                  <a16:creationId xmlns:a16="http://schemas.microsoft.com/office/drawing/2014/main" id="{ACC35921-8616-E64B-4E28-177A18FB084C}"/>
                </a:ext>
              </a:extLst>
            </p:cNvPr>
            <p:cNvSpPr/>
            <p:nvPr/>
          </p:nvSpPr>
          <p:spPr>
            <a:xfrm>
              <a:off x="-1178751" y="-2200686"/>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txBody>
            <a:bodyPr/>
            <a:lstStyle/>
            <a:p>
              <a:endParaRPr lang="en-IN"/>
            </a:p>
          </p:txBody>
        </p:sp>
      </p:grpSp>
      <p:grpSp>
        <p:nvGrpSpPr>
          <p:cNvPr id="28" name="Group 28">
            <a:extLst>
              <a:ext uri="{FF2B5EF4-FFF2-40B4-BE49-F238E27FC236}">
                <a16:creationId xmlns:a16="http://schemas.microsoft.com/office/drawing/2014/main" id="{B29650D8-763A-20D8-BB11-13A15FB340DC}"/>
              </a:ext>
            </a:extLst>
          </p:cNvPr>
          <p:cNvGrpSpPr/>
          <p:nvPr/>
        </p:nvGrpSpPr>
        <p:grpSpPr>
          <a:xfrm>
            <a:off x="1353299" y="929683"/>
            <a:ext cx="94516" cy="2130893"/>
            <a:chOff x="0" y="0"/>
            <a:chExt cx="24893" cy="561223"/>
          </a:xfrm>
        </p:grpSpPr>
        <p:sp>
          <p:nvSpPr>
            <p:cNvPr id="29" name="Freeform 29">
              <a:extLst>
                <a:ext uri="{FF2B5EF4-FFF2-40B4-BE49-F238E27FC236}">
                  <a16:creationId xmlns:a16="http://schemas.microsoft.com/office/drawing/2014/main" id="{2FF1D38C-BC8E-5513-E384-BCF9B72AB3AB}"/>
                </a:ext>
              </a:extLst>
            </p:cNvPr>
            <p:cNvSpPr/>
            <p:nvPr/>
          </p:nvSpPr>
          <p:spPr>
            <a:xfrm>
              <a:off x="0" y="0"/>
              <a:ext cx="24893" cy="561223"/>
            </a:xfrm>
            <a:custGeom>
              <a:avLst/>
              <a:gdLst/>
              <a:ahLst/>
              <a:cxnLst/>
              <a:rect l="l" t="t" r="r" b="b"/>
              <a:pathLst>
                <a:path w="24893" h="561223">
                  <a:moveTo>
                    <a:pt x="0" y="0"/>
                  </a:moveTo>
                  <a:lnTo>
                    <a:pt x="24893" y="0"/>
                  </a:lnTo>
                  <a:lnTo>
                    <a:pt x="24893" y="561223"/>
                  </a:lnTo>
                  <a:lnTo>
                    <a:pt x="0" y="561223"/>
                  </a:lnTo>
                  <a:close/>
                </a:path>
              </a:pathLst>
            </a:custGeom>
            <a:solidFill>
              <a:srgbClr val="145DA0"/>
            </a:solidFill>
          </p:spPr>
          <p:txBody>
            <a:bodyPr/>
            <a:lstStyle/>
            <a:p>
              <a:endParaRPr lang="en-IN"/>
            </a:p>
          </p:txBody>
        </p:sp>
        <p:sp>
          <p:nvSpPr>
            <p:cNvPr id="30" name="TextBox 30">
              <a:extLst>
                <a:ext uri="{FF2B5EF4-FFF2-40B4-BE49-F238E27FC236}">
                  <a16:creationId xmlns:a16="http://schemas.microsoft.com/office/drawing/2014/main" id="{AE2C7213-D610-599B-2AAB-6DD0CA288918}"/>
                </a:ext>
              </a:extLst>
            </p:cNvPr>
            <p:cNvSpPr txBox="1"/>
            <p:nvPr/>
          </p:nvSpPr>
          <p:spPr>
            <a:xfrm>
              <a:off x="0" y="-47625"/>
              <a:ext cx="24893" cy="608848"/>
            </a:xfrm>
            <a:prstGeom prst="rect">
              <a:avLst/>
            </a:prstGeom>
          </p:spPr>
          <p:txBody>
            <a:bodyPr lIns="50800" tIns="50800" rIns="50800" bIns="50800" rtlCol="0" anchor="ctr"/>
            <a:lstStyle/>
            <a:p>
              <a:pPr algn="ctr">
                <a:lnSpc>
                  <a:spcPts val="2605"/>
                </a:lnSpc>
              </a:pPr>
              <a:endParaRPr/>
            </a:p>
          </p:txBody>
        </p:sp>
      </p:grpSp>
      <p:grpSp>
        <p:nvGrpSpPr>
          <p:cNvPr id="31" name="Group 31">
            <a:extLst>
              <a:ext uri="{FF2B5EF4-FFF2-40B4-BE49-F238E27FC236}">
                <a16:creationId xmlns:a16="http://schemas.microsoft.com/office/drawing/2014/main" id="{4FE78936-9717-E042-CF56-4E373D693B15}"/>
              </a:ext>
            </a:extLst>
          </p:cNvPr>
          <p:cNvGrpSpPr/>
          <p:nvPr/>
        </p:nvGrpSpPr>
        <p:grpSpPr>
          <a:xfrm>
            <a:off x="1200812" y="5364067"/>
            <a:ext cx="94516" cy="2130893"/>
            <a:chOff x="0" y="0"/>
            <a:chExt cx="24893" cy="561223"/>
          </a:xfrm>
        </p:grpSpPr>
        <p:sp>
          <p:nvSpPr>
            <p:cNvPr id="32" name="Freeform 32">
              <a:extLst>
                <a:ext uri="{FF2B5EF4-FFF2-40B4-BE49-F238E27FC236}">
                  <a16:creationId xmlns:a16="http://schemas.microsoft.com/office/drawing/2014/main" id="{F9DF9E24-EDEA-BBF4-4003-031941DBEF8A}"/>
                </a:ext>
              </a:extLst>
            </p:cNvPr>
            <p:cNvSpPr/>
            <p:nvPr/>
          </p:nvSpPr>
          <p:spPr>
            <a:xfrm>
              <a:off x="0" y="0"/>
              <a:ext cx="24893" cy="561223"/>
            </a:xfrm>
            <a:custGeom>
              <a:avLst/>
              <a:gdLst/>
              <a:ahLst/>
              <a:cxnLst/>
              <a:rect l="l" t="t" r="r" b="b"/>
              <a:pathLst>
                <a:path w="24893" h="561223">
                  <a:moveTo>
                    <a:pt x="0" y="0"/>
                  </a:moveTo>
                  <a:lnTo>
                    <a:pt x="24893" y="0"/>
                  </a:lnTo>
                  <a:lnTo>
                    <a:pt x="24893" y="561223"/>
                  </a:lnTo>
                  <a:lnTo>
                    <a:pt x="0" y="561223"/>
                  </a:lnTo>
                  <a:close/>
                </a:path>
              </a:pathLst>
            </a:custGeom>
            <a:solidFill>
              <a:srgbClr val="145DA0"/>
            </a:solidFill>
          </p:spPr>
          <p:txBody>
            <a:bodyPr/>
            <a:lstStyle/>
            <a:p>
              <a:endParaRPr lang="en-IN"/>
            </a:p>
          </p:txBody>
        </p:sp>
        <p:sp>
          <p:nvSpPr>
            <p:cNvPr id="33" name="TextBox 33">
              <a:extLst>
                <a:ext uri="{FF2B5EF4-FFF2-40B4-BE49-F238E27FC236}">
                  <a16:creationId xmlns:a16="http://schemas.microsoft.com/office/drawing/2014/main" id="{5B0974A9-C0D4-A0D3-DFEB-5A1E904B8FDB}"/>
                </a:ext>
              </a:extLst>
            </p:cNvPr>
            <p:cNvSpPr txBox="1"/>
            <p:nvPr/>
          </p:nvSpPr>
          <p:spPr>
            <a:xfrm>
              <a:off x="0" y="-47625"/>
              <a:ext cx="24893" cy="608848"/>
            </a:xfrm>
            <a:prstGeom prst="rect">
              <a:avLst/>
            </a:prstGeom>
          </p:spPr>
          <p:txBody>
            <a:bodyPr lIns="50800" tIns="50800" rIns="50800" bIns="50800" rtlCol="0" anchor="ctr"/>
            <a:lstStyle/>
            <a:p>
              <a:pPr algn="ctr">
                <a:lnSpc>
                  <a:spcPts val="2605"/>
                </a:lnSpc>
              </a:pPr>
              <a:endParaRPr/>
            </a:p>
          </p:txBody>
        </p:sp>
      </p:grpSp>
      <p:sp>
        <p:nvSpPr>
          <p:cNvPr id="42" name="TextBox 41">
            <a:extLst>
              <a:ext uri="{FF2B5EF4-FFF2-40B4-BE49-F238E27FC236}">
                <a16:creationId xmlns:a16="http://schemas.microsoft.com/office/drawing/2014/main" id="{962B25E0-1CF9-64E5-D290-4470C59437B9}"/>
              </a:ext>
            </a:extLst>
          </p:cNvPr>
          <p:cNvSpPr txBox="1"/>
          <p:nvPr/>
        </p:nvSpPr>
        <p:spPr>
          <a:xfrm>
            <a:off x="1705079" y="1386334"/>
            <a:ext cx="13926284" cy="1877437"/>
          </a:xfrm>
          <a:prstGeom prst="rect">
            <a:avLst/>
          </a:prstGeom>
          <a:noFill/>
        </p:spPr>
        <p:txBody>
          <a:bodyPr wrap="square" rtlCol="0">
            <a:spAutoFit/>
          </a:bodyPr>
          <a:lstStyle/>
          <a:p>
            <a:pPr algn="just"/>
            <a:r>
              <a:rPr lang="en-US" sz="3200" b="1" dirty="0">
                <a:solidFill>
                  <a:schemeClr val="bg1"/>
                </a:solidFill>
                <a:latin typeface="Times New Roman" panose="02020603050405020304" pitchFamily="18" charset="0"/>
                <a:cs typeface="Times New Roman" panose="02020603050405020304" pitchFamily="18" charset="0"/>
              </a:rPr>
              <a:t>-</a:t>
            </a:r>
            <a:r>
              <a:rPr lang="en-US" sz="2800" b="1" dirty="0">
                <a:solidFill>
                  <a:schemeClr val="bg1"/>
                </a:solidFill>
                <a:latin typeface="Times New Roman" panose="02020603050405020304" pitchFamily="18" charset="0"/>
                <a:cs typeface="Times New Roman" panose="02020603050405020304" pitchFamily="18" charset="0"/>
              </a:rPr>
              <a:t>Through providing reliable predictions, our tool enables optimal energy management, reduces dependence on fossil fuels, and ensures smooth integration of renewables into the grid, ultimately leading to a more resilient, efficient, and environmentally friendly energy system.</a:t>
            </a:r>
            <a:endParaRPr lang="en-IN" sz="2800" b="1" dirty="0">
              <a:solidFill>
                <a:schemeClr val="bg1"/>
              </a:solidFill>
              <a:latin typeface="Times New Roman" panose="02020603050405020304" pitchFamily="18" charset="0"/>
              <a:cs typeface="Times New Roman" panose="02020603050405020304" pitchFamily="18" charset="0"/>
            </a:endParaRPr>
          </a:p>
        </p:txBody>
      </p:sp>
      <p:pic>
        <p:nvPicPr>
          <p:cNvPr id="35" name="Picture 34" descr="A pie chart with different colored circles&#10;&#10;AI-generated content may be incorrect.">
            <a:extLst>
              <a:ext uri="{FF2B5EF4-FFF2-40B4-BE49-F238E27FC236}">
                <a16:creationId xmlns:a16="http://schemas.microsoft.com/office/drawing/2014/main" id="{891A1DA9-29B2-3EDC-918F-26378B34D6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87261" y="3490690"/>
            <a:ext cx="10807766" cy="5744750"/>
          </a:xfrm>
          <a:prstGeom prst="rect">
            <a:avLst/>
          </a:prstGeom>
        </p:spPr>
      </p:pic>
      <p:sp>
        <p:nvSpPr>
          <p:cNvPr id="36" name="TextBox 35">
            <a:extLst>
              <a:ext uri="{FF2B5EF4-FFF2-40B4-BE49-F238E27FC236}">
                <a16:creationId xmlns:a16="http://schemas.microsoft.com/office/drawing/2014/main" id="{712BF938-279E-1A00-9DF3-D9919AD4B486}"/>
              </a:ext>
            </a:extLst>
          </p:cNvPr>
          <p:cNvSpPr txBox="1"/>
          <p:nvPr/>
        </p:nvSpPr>
        <p:spPr>
          <a:xfrm>
            <a:off x="4749243" y="9258300"/>
            <a:ext cx="9067800" cy="400110"/>
          </a:xfrm>
          <a:prstGeom prst="rect">
            <a:avLst/>
          </a:prstGeom>
          <a:noFill/>
        </p:spPr>
        <p:txBody>
          <a:bodyPr wrap="square" rtlCol="0">
            <a:spAutoFit/>
          </a:bodyPr>
          <a:lstStyle/>
          <a:p>
            <a:r>
              <a:rPr lang="en-IN" dirty="0">
                <a:solidFill>
                  <a:schemeClr val="bg1"/>
                </a:solidFill>
              </a:rPr>
              <a:t>	</a:t>
            </a:r>
            <a:r>
              <a:rPr lang="en-IN" sz="2000" b="1" dirty="0">
                <a:solidFill>
                  <a:schemeClr val="bg1"/>
                </a:solidFill>
              </a:rPr>
              <a:t>FIGURE 1 : PERCENT OF RENEWABLE ENERGY SOURCE IN TOTAL LITERATURE </a:t>
            </a:r>
          </a:p>
        </p:txBody>
      </p:sp>
    </p:spTree>
    <p:extLst>
      <p:ext uri="{BB962C8B-B14F-4D97-AF65-F5344CB8AC3E}">
        <p14:creationId xmlns:p14="http://schemas.microsoft.com/office/powerpoint/2010/main" val="3549165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14" name="Group 14"/>
          <p:cNvGrpSpPr/>
          <p:nvPr/>
        </p:nvGrpSpPr>
        <p:grpSpPr>
          <a:xfrm>
            <a:off x="10016575" y="-1489570"/>
            <a:ext cx="4202211" cy="6003158"/>
            <a:chOff x="0" y="0"/>
            <a:chExt cx="4445000" cy="6350000"/>
          </a:xfrm>
        </p:grpSpPr>
        <p:sp>
          <p:nvSpPr>
            <p:cNvPr id="15" name="Freeform 15"/>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p:cNvGrpSpPr/>
          <p:nvPr/>
        </p:nvGrpSpPr>
        <p:grpSpPr>
          <a:xfrm rot="5400000">
            <a:off x="16605949" y="8402070"/>
            <a:ext cx="841991" cy="84199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p:cNvGrpSpPr/>
          <p:nvPr/>
        </p:nvGrpSpPr>
        <p:grpSpPr>
          <a:xfrm>
            <a:off x="-5173055" y="-2043171"/>
            <a:ext cx="5754080" cy="8220114"/>
            <a:chOff x="0" y="0"/>
            <a:chExt cx="4445000" cy="6350000"/>
          </a:xfrm>
        </p:grpSpPr>
        <p:sp>
          <p:nvSpPr>
            <p:cNvPr id="19" name="Freeform 19"/>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2" name="TextBox 22"/>
          <p:cNvSpPr txBox="1"/>
          <p:nvPr/>
        </p:nvSpPr>
        <p:spPr>
          <a:xfrm>
            <a:off x="2305167" y="458899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02</a:t>
            </a:r>
          </a:p>
        </p:txBody>
      </p:sp>
      <p:sp>
        <p:nvSpPr>
          <p:cNvPr id="23" name="TextBox 23"/>
          <p:cNvSpPr txBox="1"/>
          <p:nvPr/>
        </p:nvSpPr>
        <p:spPr>
          <a:xfrm>
            <a:off x="3529705" y="6152764"/>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03</a:t>
            </a:r>
          </a:p>
        </p:txBody>
      </p:sp>
      <p:grpSp>
        <p:nvGrpSpPr>
          <p:cNvPr id="31" name="Group 31"/>
          <p:cNvGrpSpPr/>
          <p:nvPr/>
        </p:nvGrpSpPr>
        <p:grpSpPr>
          <a:xfrm rot="-10800000">
            <a:off x="16605949" y="1202778"/>
            <a:ext cx="5246522" cy="7495031"/>
            <a:chOff x="0" y="0"/>
            <a:chExt cx="4445000" cy="6350000"/>
          </a:xfrm>
        </p:grpSpPr>
        <p:sp>
          <p:nvSpPr>
            <p:cNvPr id="32" name="Freeform 32"/>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37" name="TextBox 36">
            <a:extLst>
              <a:ext uri="{FF2B5EF4-FFF2-40B4-BE49-F238E27FC236}">
                <a16:creationId xmlns:a16="http://schemas.microsoft.com/office/drawing/2014/main" id="{5CA32263-97B5-110F-EEB8-2D0D772889D6}"/>
              </a:ext>
            </a:extLst>
          </p:cNvPr>
          <p:cNvSpPr txBox="1"/>
          <p:nvPr/>
        </p:nvSpPr>
        <p:spPr>
          <a:xfrm>
            <a:off x="1066800" y="419100"/>
            <a:ext cx="6858000" cy="707886"/>
          </a:xfrm>
          <a:prstGeom prst="rect">
            <a:avLst/>
          </a:prstGeom>
          <a:noFill/>
        </p:spPr>
        <p:txBody>
          <a:bodyPr wrap="square" rtlCol="0">
            <a:spAutoFit/>
          </a:bodyPr>
          <a:lstStyle/>
          <a:p>
            <a:r>
              <a:rPr lang="en-IN" sz="4000" b="1" u="sng" dirty="0">
                <a:solidFill>
                  <a:schemeClr val="bg1"/>
                </a:solidFill>
              </a:rPr>
              <a:t>LITERATURE SURVEY</a:t>
            </a:r>
          </a:p>
        </p:txBody>
      </p:sp>
      <p:graphicFrame>
        <p:nvGraphicFramePr>
          <p:cNvPr id="3" name="Table 2">
            <a:extLst>
              <a:ext uri="{FF2B5EF4-FFF2-40B4-BE49-F238E27FC236}">
                <a16:creationId xmlns:a16="http://schemas.microsoft.com/office/drawing/2014/main" id="{F0E5859B-F5DE-13E1-8F5A-FFC1EAB6B62F}"/>
              </a:ext>
            </a:extLst>
          </p:cNvPr>
          <p:cNvGraphicFramePr>
            <a:graphicFrameLocks noGrp="1"/>
          </p:cNvGraphicFramePr>
          <p:nvPr>
            <p:extLst>
              <p:ext uri="{D42A27DB-BD31-4B8C-83A1-F6EECF244321}">
                <p14:modId xmlns:p14="http://schemas.microsoft.com/office/powerpoint/2010/main" val="303422665"/>
              </p:ext>
            </p:extLst>
          </p:nvPr>
        </p:nvGraphicFramePr>
        <p:xfrm>
          <a:off x="581025" y="1126986"/>
          <a:ext cx="17021175" cy="8893313"/>
        </p:xfrm>
        <a:graphic>
          <a:graphicData uri="http://schemas.openxmlformats.org/drawingml/2006/table">
            <a:tbl>
              <a:tblPr firstRow="1" bandRow="1">
                <a:tableStyleId>{5C22544A-7EE6-4342-B048-85BDC9FD1C3A}</a:tableStyleId>
              </a:tblPr>
              <a:tblGrid>
                <a:gridCol w="3404235">
                  <a:extLst>
                    <a:ext uri="{9D8B030D-6E8A-4147-A177-3AD203B41FA5}">
                      <a16:colId xmlns:a16="http://schemas.microsoft.com/office/drawing/2014/main" val="1142372751"/>
                    </a:ext>
                  </a:extLst>
                </a:gridCol>
                <a:gridCol w="2034540">
                  <a:extLst>
                    <a:ext uri="{9D8B030D-6E8A-4147-A177-3AD203B41FA5}">
                      <a16:colId xmlns:a16="http://schemas.microsoft.com/office/drawing/2014/main" val="946318298"/>
                    </a:ext>
                  </a:extLst>
                </a:gridCol>
                <a:gridCol w="4773930">
                  <a:extLst>
                    <a:ext uri="{9D8B030D-6E8A-4147-A177-3AD203B41FA5}">
                      <a16:colId xmlns:a16="http://schemas.microsoft.com/office/drawing/2014/main" val="276413115"/>
                    </a:ext>
                  </a:extLst>
                </a:gridCol>
                <a:gridCol w="2236470">
                  <a:extLst>
                    <a:ext uri="{9D8B030D-6E8A-4147-A177-3AD203B41FA5}">
                      <a16:colId xmlns:a16="http://schemas.microsoft.com/office/drawing/2014/main" val="3536605003"/>
                    </a:ext>
                  </a:extLst>
                </a:gridCol>
                <a:gridCol w="4572000">
                  <a:extLst>
                    <a:ext uri="{9D8B030D-6E8A-4147-A177-3AD203B41FA5}">
                      <a16:colId xmlns:a16="http://schemas.microsoft.com/office/drawing/2014/main" val="2029768907"/>
                    </a:ext>
                  </a:extLst>
                </a:gridCol>
              </a:tblGrid>
              <a:tr h="7233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ARTICLE TITLE</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PUBLISHED YEAR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DESCRIPTION</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DATA USED</a:t>
                      </a:r>
                    </a:p>
                    <a:p>
                      <a:endParaRPr lang="en-IN" dirty="0"/>
                    </a:p>
                  </a:txBody>
                  <a:tcPr/>
                </a:tc>
                <a:tc>
                  <a:txBody>
                    <a:bodyPr/>
                    <a:lstStyle/>
                    <a:p>
                      <a:r>
                        <a:rPr lang="en-US" dirty="0"/>
                        <a:t>RESULT &amp; DISCUSSION</a:t>
                      </a:r>
                      <a:endParaRPr lang="en-IN" dirty="0"/>
                    </a:p>
                  </a:txBody>
                  <a:tcPr/>
                </a:tc>
                <a:extLst>
                  <a:ext uri="{0D108BD9-81ED-4DB2-BD59-A6C34878D82A}">
                    <a16:rowId xmlns:a16="http://schemas.microsoft.com/office/drawing/2014/main" val="3720362173"/>
                  </a:ext>
                </a:extLst>
              </a:tr>
              <a:tr h="1688849">
                <a:tc>
                  <a:txBody>
                    <a:bodyPr/>
                    <a:lstStyle/>
                    <a:p>
                      <a:r>
                        <a:rPr lang="en-US" dirty="0"/>
                        <a:t>AI-Powered Energy Forecasting Models for Smart Grid-Integrated Solar and Wind Systems [1]</a:t>
                      </a:r>
                      <a:endParaRPr lang="en-IN" dirty="0"/>
                    </a:p>
                  </a:txBody>
                  <a:tcPr/>
                </a:tc>
                <a:tc>
                  <a:txBody>
                    <a:bodyPr/>
                    <a:lstStyle/>
                    <a:p>
                      <a:r>
                        <a:rPr lang="en-IN" dirty="0"/>
                        <a:t>2025</a:t>
                      </a:r>
                    </a:p>
                  </a:txBody>
                  <a:tcPr/>
                </a:tc>
                <a:tc>
                  <a:txBody>
                    <a:bodyPr/>
                    <a:lstStyle/>
                    <a:p>
                      <a:r>
                        <a:rPr lang="en-US" dirty="0"/>
                        <a:t> It highlights  at different machine learning methods to predict solar and wind energy, focusing on helping manage smart grids better.</a:t>
                      </a:r>
                      <a:endParaRPr lang="en-IN" dirty="0"/>
                    </a:p>
                  </a:txBody>
                  <a:tcPr/>
                </a:tc>
                <a:tc>
                  <a:txBody>
                    <a:bodyPr/>
                    <a:lstStyle/>
                    <a:p>
                      <a:r>
                        <a:rPr lang="en-US" dirty="0"/>
                        <a:t>Historical energy generation, weather parameters (temp, wind speed, humidity, solar radiation)</a:t>
                      </a:r>
                      <a:endParaRPr lang="en-IN" dirty="0"/>
                    </a:p>
                  </a:txBody>
                  <a:tcPr/>
                </a:tc>
                <a:tc>
                  <a:txBody>
                    <a:bodyPr/>
                    <a:lstStyle/>
                    <a:p>
                      <a:r>
                        <a:rPr lang="en-US" dirty="0"/>
                        <a:t>Hybrid AI models (like LSTM + SVM) showed higher accuracy in forecasting solar and wind energy than traditional models. This led to better grid stability and reduced energy losses.</a:t>
                      </a:r>
                      <a:endParaRPr lang="en-IN" dirty="0"/>
                    </a:p>
                  </a:txBody>
                  <a:tcPr/>
                </a:tc>
                <a:extLst>
                  <a:ext uri="{0D108BD9-81ED-4DB2-BD59-A6C34878D82A}">
                    <a16:rowId xmlns:a16="http://schemas.microsoft.com/office/drawing/2014/main" val="4160456203"/>
                  </a:ext>
                </a:extLst>
              </a:tr>
              <a:tr h="1999111">
                <a:tc>
                  <a:txBody>
                    <a:bodyPr/>
                    <a:lstStyle/>
                    <a:p>
                      <a:r>
                        <a:rPr lang="en-US" dirty="0"/>
                        <a:t>AI-Powered Renewable Energy Forecasting: A Hybrid Deep Learning and Physics-Based Model for Solar and Wind Energy Prediction in Smart Grid Applications [2]</a:t>
                      </a:r>
                      <a:endParaRPr lang="en-IN" dirty="0"/>
                    </a:p>
                  </a:txBody>
                  <a:tcPr/>
                </a:tc>
                <a:tc>
                  <a:txBody>
                    <a:bodyPr/>
                    <a:lstStyle/>
                    <a:p>
                      <a:r>
                        <a:rPr lang="en-IN" dirty="0"/>
                        <a:t>2024</a:t>
                      </a:r>
                    </a:p>
                  </a:txBody>
                  <a:tcPr/>
                </a:tc>
                <a:tc>
                  <a:txBody>
                    <a:bodyPr/>
                    <a:lstStyle/>
                    <a:p>
                      <a:r>
                        <a:rPr lang="en-US" dirty="0"/>
                        <a:t>This paper combines deep learning with physics-based models to improve the accuracy of solar and wind energy forecasts. It leverages both data-driven insights and physical principles to handle the variability of renewable sources effectively.</a:t>
                      </a:r>
                      <a:endParaRPr lang="en-IN" dirty="0"/>
                    </a:p>
                  </a:txBody>
                  <a:tcPr/>
                </a:tc>
                <a:tc>
                  <a:txBody>
                    <a:bodyPr/>
                    <a:lstStyle/>
                    <a:p>
                      <a:r>
                        <a:rPr lang="en-US" dirty="0"/>
                        <a:t>Weather data (solar radiation, temperature, wind speed), historical energy output</a:t>
                      </a:r>
                      <a:endParaRPr lang="en-IN" dirty="0"/>
                    </a:p>
                  </a:txBody>
                  <a:tcPr/>
                </a:tc>
                <a:tc>
                  <a:txBody>
                    <a:bodyPr/>
                    <a:lstStyle/>
                    <a:p>
                      <a:r>
                        <a:rPr lang="en-US" dirty="0"/>
                        <a:t>The hybrid deep learning and physics-based model outperformed others in forecasting solar and wind energy, improving accuracy and grid reliability.</a:t>
                      </a:r>
                      <a:endParaRPr lang="en-IN" dirty="0"/>
                    </a:p>
                  </a:txBody>
                  <a:tcPr/>
                </a:tc>
                <a:extLst>
                  <a:ext uri="{0D108BD9-81ED-4DB2-BD59-A6C34878D82A}">
                    <a16:rowId xmlns:a16="http://schemas.microsoft.com/office/drawing/2014/main" val="1763136425"/>
                  </a:ext>
                </a:extLst>
              </a:tr>
              <a:tr h="1569272">
                <a:tc>
                  <a:txBody>
                    <a:bodyPr/>
                    <a:lstStyle/>
                    <a:p>
                      <a:r>
                        <a:rPr lang="en-US" dirty="0"/>
                        <a:t>Deep Learning-Based </a:t>
                      </a:r>
                      <a:r>
                        <a:rPr lang="en-US" dirty="0" err="1"/>
                        <a:t>Spatio</a:t>
                      </a:r>
                      <a:r>
                        <a:rPr lang="en-US" dirty="0"/>
                        <a:t>-Temporal Forecasting of Solar and Wind Energy Generation [3]</a:t>
                      </a:r>
                      <a:endParaRPr lang="en-IN" dirty="0"/>
                    </a:p>
                  </a:txBody>
                  <a:tcPr/>
                </a:tc>
                <a:tc>
                  <a:txBody>
                    <a:bodyPr/>
                    <a:lstStyle/>
                    <a:p>
                      <a:r>
                        <a:rPr lang="en-IN" dirty="0"/>
                        <a:t>2023</a:t>
                      </a:r>
                    </a:p>
                  </a:txBody>
                  <a:tcPr/>
                </a:tc>
                <a:tc>
                  <a:txBody>
                    <a:bodyPr/>
                    <a:lstStyle/>
                    <a:p>
                      <a:r>
                        <a:rPr lang="en-US" dirty="0"/>
                        <a:t>Uses advanced models that look at both location and time patterns to better predict how much solar and wind energy will be produced.</a:t>
                      </a:r>
                      <a:endParaRPr lang="en-IN" dirty="0"/>
                    </a:p>
                  </a:txBody>
                  <a:tcPr/>
                </a:tc>
                <a:tc>
                  <a:txBody>
                    <a:bodyPr/>
                    <a:lstStyle/>
                    <a:p>
                      <a:r>
                        <a:rPr lang="en-US" dirty="0"/>
                        <a:t>Spatial weather data, historical energy output</a:t>
                      </a:r>
                      <a:endParaRPr lang="en-IN" dirty="0"/>
                    </a:p>
                  </a:txBody>
                  <a:tcPr/>
                </a:tc>
                <a:tc>
                  <a:txBody>
                    <a:bodyPr/>
                    <a:lstStyle/>
                    <a:p>
                      <a:r>
                        <a:rPr lang="en-US" dirty="0"/>
                        <a:t>The deep learning model effectively captured spatial and temporal patterns, significantly improving forecasting accuracy for solar and wind energy. This leads to better grid management and renewable integration.</a:t>
                      </a:r>
                      <a:endParaRPr lang="en-IN" dirty="0"/>
                    </a:p>
                  </a:txBody>
                  <a:tcPr/>
                </a:tc>
                <a:extLst>
                  <a:ext uri="{0D108BD9-81ED-4DB2-BD59-A6C34878D82A}">
                    <a16:rowId xmlns:a16="http://schemas.microsoft.com/office/drawing/2014/main" val="456167241"/>
                  </a:ext>
                </a:extLst>
              </a:tr>
              <a:tr h="1569272">
                <a:tc>
                  <a:txBody>
                    <a:bodyPr/>
                    <a:lstStyle/>
                    <a:p>
                      <a:r>
                        <a:rPr lang="en-US" dirty="0"/>
                        <a:t>A Survey of Artificial Intelligence Methods for Renewable Energy Forecasting: Methodologies and Insights [4]</a:t>
                      </a:r>
                      <a:endParaRPr lang="en-IN" dirty="0"/>
                    </a:p>
                  </a:txBody>
                  <a:tcPr/>
                </a:tc>
                <a:tc>
                  <a:txBody>
                    <a:bodyPr/>
                    <a:lstStyle/>
                    <a:p>
                      <a:r>
                        <a:rPr lang="en-IN" dirty="0"/>
                        <a:t>2024</a:t>
                      </a:r>
                    </a:p>
                  </a:txBody>
                  <a:tcPr/>
                </a:tc>
                <a:tc>
                  <a:txBody>
                    <a:bodyPr/>
                    <a:lstStyle/>
                    <a:p>
                      <a:r>
                        <a:rPr lang="en-US" dirty="0"/>
                        <a:t>Reviews many AI techniques for forecasting renewable energy and discusses their pros and cons. </a:t>
                      </a:r>
                      <a:endParaRPr lang="en-IN" dirty="0"/>
                    </a:p>
                  </a:txBody>
                  <a:tcPr/>
                </a:tc>
                <a:tc>
                  <a:txBody>
                    <a:bodyPr/>
                    <a:lstStyle/>
                    <a:p>
                      <a:r>
                        <a:rPr lang="en-IN" dirty="0"/>
                        <a:t>Various datasets from literature</a:t>
                      </a:r>
                    </a:p>
                  </a:txBody>
                  <a:tcPr/>
                </a:tc>
                <a:tc>
                  <a:txBody>
                    <a:bodyPr/>
                    <a:lstStyle/>
                    <a:p>
                      <a:r>
                        <a:rPr lang="en-US" dirty="0"/>
                        <a:t>The survey shows hybrid AI methods improve renewable energy forecasting accuracy by combining traditional models with optimization techniques, addressing challenges of intermittency.</a:t>
                      </a:r>
                      <a:endParaRPr lang="en-IN" dirty="0"/>
                    </a:p>
                  </a:txBody>
                  <a:tcPr/>
                </a:tc>
                <a:extLst>
                  <a:ext uri="{0D108BD9-81ED-4DB2-BD59-A6C34878D82A}">
                    <a16:rowId xmlns:a16="http://schemas.microsoft.com/office/drawing/2014/main" val="3104267559"/>
                  </a:ext>
                </a:extLst>
              </a:tr>
              <a:tr h="1343425">
                <a:tc>
                  <a:txBody>
                    <a:bodyPr/>
                    <a:lstStyle/>
                    <a:p>
                      <a:r>
                        <a:rPr lang="en-US" dirty="0"/>
                        <a:t>Real-Time Solar and Wind Power Forecasting Using Edge AI and IoT Devices [5]</a:t>
                      </a:r>
                      <a:endParaRPr lang="en-IN" dirty="0"/>
                    </a:p>
                  </a:txBody>
                  <a:tcPr/>
                </a:tc>
                <a:tc>
                  <a:txBody>
                    <a:bodyPr/>
                    <a:lstStyle/>
                    <a:p>
                      <a:r>
                        <a:rPr lang="en-IN" dirty="0"/>
                        <a:t>2023</a:t>
                      </a:r>
                    </a:p>
                  </a:txBody>
                  <a:tcPr/>
                </a:tc>
                <a:tc>
                  <a:txBody>
                    <a:bodyPr/>
                    <a:lstStyle/>
                    <a:p>
                      <a:r>
                        <a:rPr lang="en-US" dirty="0"/>
                        <a:t>Focuses on making quick, real-time energy predictions using AI on small devices placed near solar and wind sources.</a:t>
                      </a:r>
                      <a:endParaRPr lang="en-IN" dirty="0"/>
                    </a:p>
                  </a:txBody>
                  <a:tcPr/>
                </a:tc>
                <a:tc>
                  <a:txBody>
                    <a:bodyPr/>
                    <a:lstStyle/>
                    <a:p>
                      <a:r>
                        <a:rPr lang="en-US" dirty="0"/>
                        <a:t>Real-time sensor data from IoT devices, weather data</a:t>
                      </a:r>
                      <a:endParaRPr lang="en-IN" dirty="0"/>
                    </a:p>
                  </a:txBody>
                  <a:tcPr/>
                </a:tc>
                <a:tc>
                  <a:txBody>
                    <a:bodyPr/>
                    <a:lstStyle/>
                    <a:p>
                      <a:r>
                        <a:rPr lang="en-US" dirty="0"/>
                        <a:t>Edge AI with IoT enables fast, real-time solar and wind forecasting, improving grid response and reducing cloud dependence</a:t>
                      </a:r>
                      <a:endParaRPr lang="en-IN" dirty="0"/>
                    </a:p>
                  </a:txBody>
                  <a:tcPr/>
                </a:tc>
                <a:extLst>
                  <a:ext uri="{0D108BD9-81ED-4DB2-BD59-A6C34878D82A}">
                    <a16:rowId xmlns:a16="http://schemas.microsoft.com/office/drawing/2014/main" val="412739884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ED43D9F4-4A98-1856-61F5-48415400B205}"/>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82586F03-B8C8-7A51-4FF5-D7E337344BFB}"/>
              </a:ext>
            </a:extLst>
          </p:cNvPr>
          <p:cNvGrpSpPr/>
          <p:nvPr/>
        </p:nvGrpSpPr>
        <p:grpSpPr>
          <a:xfrm>
            <a:off x="10016575" y="-1489570"/>
            <a:ext cx="4202211" cy="6003158"/>
            <a:chOff x="0" y="0"/>
            <a:chExt cx="4445000" cy="6350000"/>
          </a:xfrm>
        </p:grpSpPr>
        <p:sp>
          <p:nvSpPr>
            <p:cNvPr id="15" name="Freeform 15">
              <a:extLst>
                <a:ext uri="{FF2B5EF4-FFF2-40B4-BE49-F238E27FC236}">
                  <a16:creationId xmlns:a16="http://schemas.microsoft.com/office/drawing/2014/main" id="{5969F6AE-CCBC-134F-04B6-660BA868F28E}"/>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1E2F4651-25F4-D1BD-74D1-9017C2F242AA}"/>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3A7651A1-48AF-78AF-4859-31403C03F8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3F5BF2F7-012F-641E-B148-BA3FE150FA2E}"/>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CBC1B493-EBC0-1448-4487-9C6EB7C141B1}"/>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2" name="TextBox 22">
            <a:extLst>
              <a:ext uri="{FF2B5EF4-FFF2-40B4-BE49-F238E27FC236}">
                <a16:creationId xmlns:a16="http://schemas.microsoft.com/office/drawing/2014/main" id="{C251E532-84A0-37B8-0923-07A8760560D3}"/>
              </a:ext>
            </a:extLst>
          </p:cNvPr>
          <p:cNvSpPr txBox="1"/>
          <p:nvPr/>
        </p:nvSpPr>
        <p:spPr>
          <a:xfrm>
            <a:off x="2305167" y="458899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02</a:t>
            </a:r>
          </a:p>
        </p:txBody>
      </p:sp>
      <p:sp>
        <p:nvSpPr>
          <p:cNvPr id="23" name="TextBox 23">
            <a:extLst>
              <a:ext uri="{FF2B5EF4-FFF2-40B4-BE49-F238E27FC236}">
                <a16:creationId xmlns:a16="http://schemas.microsoft.com/office/drawing/2014/main" id="{29A54F20-481C-D726-3485-0F5E65A58F0F}"/>
              </a:ext>
            </a:extLst>
          </p:cNvPr>
          <p:cNvSpPr txBox="1"/>
          <p:nvPr/>
        </p:nvSpPr>
        <p:spPr>
          <a:xfrm>
            <a:off x="3529705" y="6152764"/>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03</a:t>
            </a:r>
          </a:p>
        </p:txBody>
      </p:sp>
      <p:grpSp>
        <p:nvGrpSpPr>
          <p:cNvPr id="31" name="Group 31">
            <a:extLst>
              <a:ext uri="{FF2B5EF4-FFF2-40B4-BE49-F238E27FC236}">
                <a16:creationId xmlns:a16="http://schemas.microsoft.com/office/drawing/2014/main" id="{3CF3BBE1-63D8-05CB-664B-4B7A3F489457}"/>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CC96BFFC-1F05-E019-A4A4-386B2F218803}"/>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37" name="TextBox 36">
            <a:extLst>
              <a:ext uri="{FF2B5EF4-FFF2-40B4-BE49-F238E27FC236}">
                <a16:creationId xmlns:a16="http://schemas.microsoft.com/office/drawing/2014/main" id="{216FD2BE-7CF2-E126-9478-52DB562CF12A}"/>
              </a:ext>
            </a:extLst>
          </p:cNvPr>
          <p:cNvSpPr txBox="1"/>
          <p:nvPr/>
        </p:nvSpPr>
        <p:spPr>
          <a:xfrm>
            <a:off x="1066800" y="419100"/>
            <a:ext cx="6858000" cy="707886"/>
          </a:xfrm>
          <a:prstGeom prst="rect">
            <a:avLst/>
          </a:prstGeom>
          <a:noFill/>
        </p:spPr>
        <p:txBody>
          <a:bodyPr wrap="square" rtlCol="0">
            <a:spAutoFit/>
          </a:bodyPr>
          <a:lstStyle/>
          <a:p>
            <a:r>
              <a:rPr lang="en-IN" sz="4000" b="1" u="sng" dirty="0">
                <a:solidFill>
                  <a:schemeClr val="bg1"/>
                </a:solidFill>
              </a:rPr>
              <a:t>LITERATURE SURVEY</a:t>
            </a:r>
          </a:p>
        </p:txBody>
      </p:sp>
      <p:graphicFrame>
        <p:nvGraphicFramePr>
          <p:cNvPr id="3" name="Table 2">
            <a:extLst>
              <a:ext uri="{FF2B5EF4-FFF2-40B4-BE49-F238E27FC236}">
                <a16:creationId xmlns:a16="http://schemas.microsoft.com/office/drawing/2014/main" id="{BC00E9F8-7109-618D-8F8D-0AA21475F48D}"/>
              </a:ext>
            </a:extLst>
          </p:cNvPr>
          <p:cNvGraphicFramePr>
            <a:graphicFrameLocks noGrp="1"/>
          </p:cNvGraphicFramePr>
          <p:nvPr>
            <p:extLst>
              <p:ext uri="{D42A27DB-BD31-4B8C-83A1-F6EECF244321}">
                <p14:modId xmlns:p14="http://schemas.microsoft.com/office/powerpoint/2010/main" val="2256392208"/>
              </p:ext>
            </p:extLst>
          </p:nvPr>
        </p:nvGraphicFramePr>
        <p:xfrm>
          <a:off x="633412" y="1363980"/>
          <a:ext cx="17021175" cy="8503920"/>
        </p:xfrm>
        <a:graphic>
          <a:graphicData uri="http://schemas.openxmlformats.org/drawingml/2006/table">
            <a:tbl>
              <a:tblPr firstRow="1" bandRow="1">
                <a:tableStyleId>{5C22544A-7EE6-4342-B048-85BDC9FD1C3A}</a:tableStyleId>
              </a:tblPr>
              <a:tblGrid>
                <a:gridCol w="3404235">
                  <a:extLst>
                    <a:ext uri="{9D8B030D-6E8A-4147-A177-3AD203B41FA5}">
                      <a16:colId xmlns:a16="http://schemas.microsoft.com/office/drawing/2014/main" val="1142372751"/>
                    </a:ext>
                  </a:extLst>
                </a:gridCol>
                <a:gridCol w="1729740">
                  <a:extLst>
                    <a:ext uri="{9D8B030D-6E8A-4147-A177-3AD203B41FA5}">
                      <a16:colId xmlns:a16="http://schemas.microsoft.com/office/drawing/2014/main" val="946318298"/>
                    </a:ext>
                  </a:extLst>
                </a:gridCol>
                <a:gridCol w="4800600">
                  <a:extLst>
                    <a:ext uri="{9D8B030D-6E8A-4147-A177-3AD203B41FA5}">
                      <a16:colId xmlns:a16="http://schemas.microsoft.com/office/drawing/2014/main" val="276413115"/>
                    </a:ext>
                  </a:extLst>
                </a:gridCol>
                <a:gridCol w="2514600">
                  <a:extLst>
                    <a:ext uri="{9D8B030D-6E8A-4147-A177-3AD203B41FA5}">
                      <a16:colId xmlns:a16="http://schemas.microsoft.com/office/drawing/2014/main" val="3536605003"/>
                    </a:ext>
                  </a:extLst>
                </a:gridCol>
                <a:gridCol w="4572000">
                  <a:extLst>
                    <a:ext uri="{9D8B030D-6E8A-4147-A177-3AD203B41FA5}">
                      <a16:colId xmlns:a16="http://schemas.microsoft.com/office/drawing/2014/main" val="2029768907"/>
                    </a:ext>
                  </a:extLst>
                </a:gridCol>
              </a:tblGrid>
              <a:tr h="8838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ARTICLE TITLE</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PUBLISHED YEAR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DESCRIPTION</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DATA USED</a:t>
                      </a:r>
                    </a:p>
                    <a:p>
                      <a:endParaRPr lang="en-IN" dirty="0"/>
                    </a:p>
                  </a:txBody>
                  <a:tcPr/>
                </a:tc>
                <a:tc>
                  <a:txBody>
                    <a:bodyPr/>
                    <a:lstStyle/>
                    <a:p>
                      <a:r>
                        <a:rPr lang="en-US" dirty="0"/>
                        <a:t>RESULT &amp; DISCUSSION</a:t>
                      </a:r>
                      <a:endParaRPr lang="en-IN" dirty="0"/>
                    </a:p>
                  </a:txBody>
                  <a:tcPr/>
                </a:tc>
                <a:extLst>
                  <a:ext uri="{0D108BD9-81ED-4DB2-BD59-A6C34878D82A}">
                    <a16:rowId xmlns:a16="http://schemas.microsoft.com/office/drawing/2014/main" val="3720362173"/>
                  </a:ext>
                </a:extLst>
              </a:tr>
              <a:tr h="1679378">
                <a:tc>
                  <a:txBody>
                    <a:bodyPr/>
                    <a:lstStyle/>
                    <a:p>
                      <a:r>
                        <a:rPr lang="en-US" dirty="0"/>
                        <a:t>Hybrid deep learning CNN-LSTM model for forecasting direct normal irradiance </a:t>
                      </a:r>
                      <a:r>
                        <a:rPr lang="en-IN" dirty="0"/>
                        <a:t>[6]</a:t>
                      </a:r>
                    </a:p>
                  </a:txBody>
                  <a:tcPr/>
                </a:tc>
                <a:tc>
                  <a:txBody>
                    <a:bodyPr/>
                    <a:lstStyle/>
                    <a:p>
                      <a:r>
                        <a:rPr lang="en-IN" dirty="0"/>
                        <a:t>2025</a:t>
                      </a:r>
                    </a:p>
                  </a:txBody>
                  <a:tcPr/>
                </a:tc>
                <a:tc>
                  <a:txBody>
                    <a:bodyPr/>
                    <a:lstStyle/>
                    <a:p>
                      <a:r>
                        <a:rPr lang="en-US" dirty="0"/>
                        <a:t>this study combines CNN and LSTM to capture both spatial patterns (cloud textures, light intensity) and time-series trends to predict direct normal irradiance accurately.</a:t>
                      </a:r>
                    </a:p>
                    <a:p>
                      <a:endParaRPr lang="en-US" dirty="0"/>
                    </a:p>
                    <a:p>
                      <a:endParaRPr lang="en-IN" dirty="0"/>
                    </a:p>
                  </a:txBody>
                  <a:tcPr/>
                </a:tc>
                <a:tc>
                  <a:txBody>
                    <a:bodyPr/>
                    <a:lstStyle/>
                    <a:p>
                      <a:r>
                        <a:rPr lang="en-IN" dirty="0"/>
                        <a:t>Satellite solar images, on-ground irradiance sensors, historical DNI readings.</a:t>
                      </a:r>
                    </a:p>
                  </a:txBody>
                  <a:tcPr/>
                </a:tc>
                <a:tc>
                  <a:txBody>
                    <a:bodyPr/>
                    <a:lstStyle/>
                    <a:p>
                      <a:r>
                        <a:rPr lang="en-US" dirty="0"/>
                        <a:t>the hybrid model delivered consistently higher DNI forecast accuracy, especially during rapidly changing weather, demonstrating strong potential for solar-rich regions.</a:t>
                      </a:r>
                      <a:endParaRPr lang="en-IN" dirty="0"/>
                    </a:p>
                  </a:txBody>
                  <a:tcPr/>
                </a:tc>
                <a:extLst>
                  <a:ext uri="{0D108BD9-81ED-4DB2-BD59-A6C34878D82A}">
                    <a16:rowId xmlns:a16="http://schemas.microsoft.com/office/drawing/2014/main" val="4160456203"/>
                  </a:ext>
                </a:extLst>
              </a:tr>
              <a:tr h="19445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Deep Learning Enhanced Solar Energy Forecasting with AI-Driven IoT </a:t>
                      </a:r>
                      <a:r>
                        <a:rPr lang="en-US" dirty="0"/>
                        <a:t>[7]</a:t>
                      </a:r>
                      <a:endParaRPr lang="en-IN" dirty="0"/>
                    </a:p>
                  </a:txBody>
                  <a:tcPr/>
                </a:tc>
                <a:tc>
                  <a:txBody>
                    <a:bodyPr/>
                    <a:lstStyle/>
                    <a:p>
                      <a:r>
                        <a:rPr lang="en-IN" dirty="0"/>
                        <a:t>2021</a:t>
                      </a:r>
                    </a:p>
                  </a:txBody>
                  <a:tcPr/>
                </a:tc>
                <a:tc>
                  <a:txBody>
                    <a:bodyPr/>
                    <a:lstStyle/>
                    <a:p>
                      <a:r>
                        <a:rPr lang="en-US" dirty="0"/>
                        <a:t>This paper presents a deep learning model integrated with IoT sensors to improve real-time solar energy forecasting by capturing rapid changes in environmental conditions.</a:t>
                      </a:r>
                      <a:endParaRPr lang="en-IN" dirty="0"/>
                    </a:p>
                  </a:txBody>
                  <a:tcPr/>
                </a:tc>
                <a:tc>
                  <a:txBody>
                    <a:bodyPr/>
                    <a:lstStyle/>
                    <a:p>
                      <a:r>
                        <a:rPr lang="en-US" dirty="0"/>
                        <a:t>IoT-based irradiance sensors, panel temperature, humidity, cloud index, and historical PV output collected at high frequency.</a:t>
                      </a:r>
                      <a:endParaRPr lang="en-IN" dirty="0"/>
                    </a:p>
                  </a:txBody>
                  <a:tcPr/>
                </a:tc>
                <a:tc>
                  <a:txBody>
                    <a:bodyPr/>
                    <a:lstStyle/>
                    <a:p>
                      <a:r>
                        <a:rPr lang="en-US" dirty="0"/>
                        <a:t>The deep learning + IoT setup achieved significantly lower prediction error than traditional ML models due to richer real-time data.</a:t>
                      </a:r>
                      <a:endParaRPr lang="en-IN" dirty="0"/>
                    </a:p>
                  </a:txBody>
                  <a:tcPr/>
                </a:tc>
                <a:extLst>
                  <a:ext uri="{0D108BD9-81ED-4DB2-BD59-A6C34878D82A}">
                    <a16:rowId xmlns:a16="http://schemas.microsoft.com/office/drawing/2014/main" val="1763136425"/>
                  </a:ext>
                </a:extLst>
              </a:tr>
              <a:tr h="1679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 optimized deep learning based hybrid model for prediction of daily average global solar irradiance using CNN SLSTM architecture</a:t>
                      </a:r>
                    </a:p>
                    <a:p>
                      <a:r>
                        <a:rPr lang="en-US" b="0" dirty="0"/>
                        <a:t>[8]</a:t>
                      </a:r>
                      <a:endParaRPr lang="en-IN" b="0" dirty="0"/>
                    </a:p>
                  </a:txBody>
                  <a:tcPr/>
                </a:tc>
                <a:tc>
                  <a:txBody>
                    <a:bodyPr/>
                    <a:lstStyle/>
                    <a:p>
                      <a:r>
                        <a:rPr lang="en-IN" dirty="0"/>
                        <a:t>2025</a:t>
                      </a:r>
                    </a:p>
                  </a:txBody>
                  <a:tcPr/>
                </a:tc>
                <a:tc>
                  <a:txBody>
                    <a:bodyPr/>
                    <a:lstStyle/>
                    <a:p>
                      <a:r>
                        <a:rPr lang="en-US" dirty="0"/>
                        <a:t>This paper introduces a hybrid CNN-SLSTM deep learning model that captures both spatial irradiance patterns and long-term temporal dependencies for accurate daily solar irradiance prediction.</a:t>
                      </a:r>
                      <a:endParaRPr lang="en-IN" dirty="0"/>
                    </a:p>
                  </a:txBody>
                  <a:tcPr/>
                </a:tc>
                <a:tc>
                  <a:txBody>
                    <a:bodyPr/>
                    <a:lstStyle/>
                    <a:p>
                      <a:r>
                        <a:rPr lang="en-US" dirty="0"/>
                        <a:t>Historical global solar irradiance records, sky/irradiance time-series, temperature, humidity, and auxiliary meteorological data.</a:t>
                      </a:r>
                      <a:endParaRPr lang="en-IN" dirty="0"/>
                    </a:p>
                  </a:txBody>
                  <a:tcPr/>
                </a:tc>
                <a:tc>
                  <a:txBody>
                    <a:bodyPr/>
                    <a:lstStyle/>
                    <a:p>
                      <a:r>
                        <a:rPr lang="en-US" dirty="0"/>
                        <a:t>The model effectively learns stable temporal trends and short-term variations simultaneously, improving forecasting accuracy for daily solar irradiance under diverse weather conditions.</a:t>
                      </a:r>
                      <a:endParaRPr lang="en-IN" dirty="0"/>
                    </a:p>
                  </a:txBody>
                  <a:tcPr/>
                </a:tc>
                <a:extLst>
                  <a:ext uri="{0D108BD9-81ED-4DB2-BD59-A6C34878D82A}">
                    <a16:rowId xmlns:a16="http://schemas.microsoft.com/office/drawing/2014/main" val="456167241"/>
                  </a:ext>
                </a:extLst>
              </a:tr>
              <a:tr h="1679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Sky Image-Based Localized, Short-Term Solar Irradiance Forecasting for Multiple PV Sites via Cloud Motion Tracking</a:t>
                      </a:r>
                    </a:p>
                    <a:p>
                      <a:r>
                        <a:rPr lang="en-IN" b="0" dirty="0"/>
                        <a:t>[9]</a:t>
                      </a:r>
                    </a:p>
                  </a:txBody>
                  <a:tcPr/>
                </a:tc>
                <a:tc>
                  <a:txBody>
                    <a:bodyPr/>
                    <a:lstStyle/>
                    <a:p>
                      <a:r>
                        <a:rPr lang="en-IN" dirty="0"/>
                        <a:t>2021</a:t>
                      </a:r>
                    </a:p>
                  </a:txBody>
                  <a:tcPr/>
                </a:tc>
                <a:tc>
                  <a:txBody>
                    <a:bodyPr/>
                    <a:lstStyle/>
                    <a:p>
                      <a:r>
                        <a:rPr lang="en-US" dirty="0"/>
                        <a:t>This paper proposes a sky-image–driven forecasting system that analyzes cloud movement patterns to deliver accurate short-term irradiance predictions across multiple nearby PV sites.</a:t>
                      </a:r>
                      <a:endParaRPr lang="en-IN" dirty="0"/>
                    </a:p>
                  </a:txBody>
                  <a:tcPr/>
                </a:tc>
                <a:tc>
                  <a:txBody>
                    <a:bodyPr/>
                    <a:lstStyle/>
                    <a:p>
                      <a:r>
                        <a:rPr lang="en-US" dirty="0"/>
                        <a:t>High-resolution sky images, cloud motion vectors, site-level solar irradiance readings, temperature, and short-term PV output.</a:t>
                      </a:r>
                      <a:endParaRPr lang="en-IN" dirty="0"/>
                    </a:p>
                  </a:txBody>
                  <a:tcPr/>
                </a:tc>
                <a:tc>
                  <a:txBody>
                    <a:bodyPr/>
                    <a:lstStyle/>
                    <a:p>
                      <a:r>
                        <a:rPr lang="en-US" dirty="0"/>
                        <a:t>By understanding real cloud movement instead of relying solely on sensor values, the model achieved better localized forecasting performance across multiple solar installations.</a:t>
                      </a:r>
                      <a:endParaRPr lang="en-IN" dirty="0"/>
                    </a:p>
                  </a:txBody>
                  <a:tcPr/>
                </a:tc>
                <a:extLst>
                  <a:ext uri="{0D108BD9-81ED-4DB2-BD59-A6C34878D82A}">
                    <a16:rowId xmlns:a16="http://schemas.microsoft.com/office/drawing/2014/main" val="3104267559"/>
                  </a:ext>
                </a:extLst>
              </a:tr>
              <a:tr h="353553">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127398848"/>
                  </a:ext>
                </a:extLst>
              </a:tr>
            </a:tbl>
          </a:graphicData>
        </a:graphic>
      </p:graphicFrame>
    </p:spTree>
    <p:extLst>
      <p:ext uri="{BB962C8B-B14F-4D97-AF65-F5344CB8AC3E}">
        <p14:creationId xmlns:p14="http://schemas.microsoft.com/office/powerpoint/2010/main" val="3342808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2A87D1F8-874F-65F1-CFB6-BD7865A6E2C3}"/>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B577B266-7543-5BF1-1FFD-EA47763DECF0}"/>
              </a:ext>
            </a:extLst>
          </p:cNvPr>
          <p:cNvGrpSpPr/>
          <p:nvPr/>
        </p:nvGrpSpPr>
        <p:grpSpPr>
          <a:xfrm>
            <a:off x="10016575" y="-1489570"/>
            <a:ext cx="4202211" cy="6003158"/>
            <a:chOff x="0" y="0"/>
            <a:chExt cx="4445000" cy="6350000"/>
          </a:xfrm>
        </p:grpSpPr>
        <p:sp>
          <p:nvSpPr>
            <p:cNvPr id="15" name="Freeform 15">
              <a:extLst>
                <a:ext uri="{FF2B5EF4-FFF2-40B4-BE49-F238E27FC236}">
                  <a16:creationId xmlns:a16="http://schemas.microsoft.com/office/drawing/2014/main" id="{97980553-FD59-22CB-2589-2C412725E5EF}"/>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012D8881-A6D3-4BC0-C121-D099280E2CE3}"/>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985CA27A-D19F-604C-9CA6-FE1EA84945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7D90F9E6-DF66-587F-E7D9-0B031C2BFD02}"/>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66B7465E-0AAF-A211-EF7F-0FDD62A45E9A}"/>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7AD712AB-3F2A-C882-BB63-CC4C2B2A1095}"/>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2DE6DCAD-116D-295F-011C-AE061E1AB57A}"/>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90732E02-A4EE-462E-1CDB-DB997376FA36}"/>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C47A5D2E-AAD9-2D81-F8B7-B8CC255138B7}"/>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37" name="TextBox 36">
            <a:extLst>
              <a:ext uri="{FF2B5EF4-FFF2-40B4-BE49-F238E27FC236}">
                <a16:creationId xmlns:a16="http://schemas.microsoft.com/office/drawing/2014/main" id="{191BEB41-7215-F2DD-8D4E-29879060ACE9}"/>
              </a:ext>
            </a:extLst>
          </p:cNvPr>
          <p:cNvSpPr txBox="1"/>
          <p:nvPr/>
        </p:nvSpPr>
        <p:spPr>
          <a:xfrm>
            <a:off x="1219200" y="2320482"/>
            <a:ext cx="15268575" cy="2185214"/>
          </a:xfrm>
          <a:prstGeom prst="rect">
            <a:avLst/>
          </a:prstGeom>
          <a:noFill/>
        </p:spPr>
        <p:txBody>
          <a:bodyPr wrap="square" rtlCol="0">
            <a:spAutoFit/>
          </a:bodyPr>
          <a:lstStyle/>
          <a:p>
            <a:pPr algn="just"/>
            <a:r>
              <a:rPr lang="en-US" sz="2800" dirty="0">
                <a:solidFill>
                  <a:schemeClr val="bg1"/>
                </a:solidFill>
                <a:latin typeface="Times New Roman" panose="02020603050405020304" pitchFamily="18" charset="0"/>
                <a:cs typeface="Times New Roman" panose="02020603050405020304" pitchFamily="18" charset="0"/>
              </a:rPr>
              <a:t>This study shows how deep learning and machine learning models like SVM, random forests, and LSTM improve solar and wind energy forecasting. Accurate predictions help integrate renewables into smart grids more smoothly, reducing backup power needs and boosting reliability. It also highlights the importance of training models with real historical weather and energy data.[1]</a:t>
            </a:r>
          </a:p>
          <a:p>
            <a:endParaRPr lang="en-US" sz="2400" dirty="0">
              <a:solidFill>
                <a:schemeClr val="bg1"/>
              </a:solidFill>
            </a:endParaRPr>
          </a:p>
        </p:txBody>
      </p:sp>
      <p:sp>
        <p:nvSpPr>
          <p:cNvPr id="38" name="TextBox 37">
            <a:extLst>
              <a:ext uri="{FF2B5EF4-FFF2-40B4-BE49-F238E27FC236}">
                <a16:creationId xmlns:a16="http://schemas.microsoft.com/office/drawing/2014/main" id="{316B4CCE-390A-08E0-A959-C8CDAE14A846}"/>
              </a:ext>
            </a:extLst>
          </p:cNvPr>
          <p:cNvSpPr txBox="1"/>
          <p:nvPr/>
        </p:nvSpPr>
        <p:spPr>
          <a:xfrm>
            <a:off x="1309548" y="6082533"/>
            <a:ext cx="15116175" cy="2185214"/>
          </a:xfrm>
          <a:prstGeom prst="rect">
            <a:avLst/>
          </a:prstGeom>
          <a:noFill/>
        </p:spPr>
        <p:txBody>
          <a:bodyPr wrap="square" rtlCol="0">
            <a:spAutoFit/>
          </a:bodyPr>
          <a:lstStyle/>
          <a:p>
            <a:pPr algn="just"/>
            <a:r>
              <a:rPr lang="en-US" sz="2800" dirty="0">
                <a:solidFill>
                  <a:schemeClr val="bg1"/>
                </a:solidFill>
                <a:latin typeface="Times New Roman" panose="02020603050405020304" pitchFamily="18" charset="0"/>
                <a:cs typeface="Times New Roman" panose="02020603050405020304" pitchFamily="18" charset="0"/>
              </a:rPr>
              <a:t>This paper combines deep learning (CNN, LSTM) with physics-based principles to improve solar and wind energy forecasting. Tested on real farm data, the hybrid model outperformed traditional methods, delivering more accurate and reliable predictions. This helps grid operators plan better, reduce uncertainty, and integrate renewable energy more smoothly into the grid.[2]</a:t>
            </a:r>
          </a:p>
          <a:p>
            <a:endParaRPr lang="en-US" sz="2400" dirty="0">
              <a:solidFill>
                <a:schemeClr val="bg1"/>
              </a:solidFill>
            </a:endParaRPr>
          </a:p>
        </p:txBody>
      </p:sp>
      <p:sp>
        <p:nvSpPr>
          <p:cNvPr id="42" name="TextBox 41">
            <a:extLst>
              <a:ext uri="{FF2B5EF4-FFF2-40B4-BE49-F238E27FC236}">
                <a16:creationId xmlns:a16="http://schemas.microsoft.com/office/drawing/2014/main" id="{8BED1786-1DED-7808-F319-97AAEA816908}"/>
              </a:ext>
            </a:extLst>
          </p:cNvPr>
          <p:cNvSpPr txBox="1"/>
          <p:nvPr/>
        </p:nvSpPr>
        <p:spPr>
          <a:xfrm>
            <a:off x="671426" y="966116"/>
            <a:ext cx="13513632" cy="707886"/>
          </a:xfrm>
          <a:prstGeom prst="rect">
            <a:avLst/>
          </a:prstGeom>
          <a:noFill/>
        </p:spPr>
        <p:txBody>
          <a:bodyPr wrap="square">
            <a:spAutoFit/>
          </a:bodyPr>
          <a:lstStyle/>
          <a:p>
            <a:r>
              <a:rPr lang="en-IN" sz="4000" b="1" u="sng" dirty="0">
                <a:solidFill>
                  <a:schemeClr val="bg1"/>
                </a:solidFill>
                <a:latin typeface="Times New Roman" panose="02020603050405020304" pitchFamily="18" charset="0"/>
                <a:cs typeface="Times New Roman" panose="02020603050405020304" pitchFamily="18" charset="0"/>
              </a:rPr>
              <a:t>LITERATURE SURVEY: research papers brief</a:t>
            </a:r>
          </a:p>
        </p:txBody>
      </p:sp>
    </p:spTree>
    <p:extLst>
      <p:ext uri="{BB962C8B-B14F-4D97-AF65-F5344CB8AC3E}">
        <p14:creationId xmlns:p14="http://schemas.microsoft.com/office/powerpoint/2010/main" val="6505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2066886"/>
            <a:ext cx="5754080" cy="8220114"/>
            <a:chOff x="0" y="0"/>
            <a:chExt cx="4445000" cy="6350000"/>
          </a:xfrm>
        </p:grpSpPr>
        <p:sp>
          <p:nvSpPr>
            <p:cNvPr id="3" name="Freeform 3"/>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4" name="Group 4"/>
          <p:cNvGrpSpPr/>
          <p:nvPr/>
        </p:nvGrpSpPr>
        <p:grpSpPr>
          <a:xfrm>
            <a:off x="-5173055" y="-2043171"/>
            <a:ext cx="5754080" cy="8220114"/>
            <a:chOff x="0" y="0"/>
            <a:chExt cx="4445000" cy="6350000"/>
          </a:xfrm>
        </p:grpSpPr>
        <p:sp>
          <p:nvSpPr>
            <p:cNvPr id="5" name="Freeform 5"/>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9" name="Group 9"/>
          <p:cNvGrpSpPr/>
          <p:nvPr/>
        </p:nvGrpSpPr>
        <p:grpSpPr>
          <a:xfrm>
            <a:off x="13473951" y="0"/>
            <a:ext cx="6134277" cy="613427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sp>
        <p:nvSpPr>
          <p:cNvPr id="19" name="TextBox 18">
            <a:extLst>
              <a:ext uri="{FF2B5EF4-FFF2-40B4-BE49-F238E27FC236}">
                <a16:creationId xmlns:a16="http://schemas.microsoft.com/office/drawing/2014/main" id="{514EF286-F9DA-307F-0D1D-17399F669964}"/>
              </a:ext>
            </a:extLst>
          </p:cNvPr>
          <p:cNvSpPr txBox="1"/>
          <p:nvPr/>
        </p:nvSpPr>
        <p:spPr>
          <a:xfrm>
            <a:off x="1333289" y="1485900"/>
            <a:ext cx="14089380" cy="8279190"/>
          </a:xfrm>
          <a:prstGeom prst="rect">
            <a:avLst/>
          </a:prstGeom>
          <a:noFill/>
        </p:spPr>
        <p:txBody>
          <a:bodyPr wrap="square">
            <a:spAutoFit/>
          </a:bodyPr>
          <a:lstStyle/>
          <a:p>
            <a:pPr>
              <a:buNone/>
            </a:pPr>
            <a:r>
              <a:rPr lang="en-US" sz="2800" dirty="0">
                <a:solidFill>
                  <a:schemeClr val="bg1"/>
                </a:solidFill>
                <a:latin typeface="Times New Roman" panose="02020603050405020304" pitchFamily="18" charset="0"/>
                <a:cs typeface="Times New Roman" panose="02020603050405020304" pitchFamily="18" charset="0"/>
              </a:rPr>
              <a:t>While many researchers have done great work using machine learning and AI to forecast renewable energy, we noticed some important limitations after studying the latest papers:</a:t>
            </a:r>
          </a:p>
          <a:p>
            <a:pPr>
              <a:buNone/>
            </a:pPr>
            <a:endParaRPr lang="en-US" sz="2800" dirty="0">
              <a:solidFill>
                <a:schemeClr val="bg1"/>
              </a:solidFill>
              <a:latin typeface="Times New Roman" panose="02020603050405020304" pitchFamily="18" charset="0"/>
              <a:cs typeface="Times New Roman" panose="02020603050405020304" pitchFamily="18" charset="0"/>
            </a:endParaRPr>
          </a:p>
          <a:p>
            <a:pPr>
              <a:buNone/>
            </a:pPr>
            <a:r>
              <a:rPr lang="en-US" sz="2800" b="1" dirty="0">
                <a:solidFill>
                  <a:schemeClr val="bg1"/>
                </a:solidFill>
                <a:latin typeface="Times New Roman" panose="02020603050405020304" pitchFamily="18" charset="0"/>
                <a:cs typeface="Times New Roman" panose="02020603050405020304" pitchFamily="18" charset="0"/>
              </a:rPr>
              <a:t>1.</a:t>
            </a:r>
            <a:r>
              <a:rPr lang="en-US" sz="2800" dirty="0">
                <a:solidFill>
                  <a:schemeClr val="bg1"/>
                </a:solidFill>
                <a:latin typeface="Times New Roman" panose="02020603050405020304" pitchFamily="18" charset="0"/>
                <a:cs typeface="Times New Roman" panose="02020603050405020304" pitchFamily="18" charset="0"/>
              </a:rPr>
              <a:t>Not built for real-time use:</a:t>
            </a: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Most models rely on historical data and struggle to adapt to sudden changes, limiting their real-time effectiveness.</a:t>
            </a:r>
          </a:p>
          <a:p>
            <a:pPr>
              <a:buNone/>
            </a:pPr>
            <a:endParaRPr lang="en-US" sz="2800" dirty="0">
              <a:solidFill>
                <a:schemeClr val="bg1"/>
              </a:solidFill>
              <a:latin typeface="Times New Roman" panose="02020603050405020304" pitchFamily="18" charset="0"/>
              <a:cs typeface="Times New Roman" panose="02020603050405020304" pitchFamily="18" charset="0"/>
            </a:endParaRPr>
          </a:p>
          <a:p>
            <a:pPr>
              <a:buNone/>
            </a:pPr>
            <a:r>
              <a:rPr lang="en-US" sz="2800" dirty="0">
                <a:solidFill>
                  <a:schemeClr val="bg1"/>
                </a:solidFill>
                <a:latin typeface="Times New Roman" panose="02020603050405020304" pitchFamily="18" charset="0"/>
                <a:cs typeface="Times New Roman" panose="02020603050405020304" pitchFamily="18" charset="0"/>
              </a:rPr>
              <a:t>2.Limited data input variety:</a:t>
            </a: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Many tools rely on just weather or past energy data, lacking integration of multiple real-time sources for improved accuracy.</a:t>
            </a:r>
          </a:p>
          <a:p>
            <a:pPr>
              <a:buNone/>
            </a:pPr>
            <a:endParaRPr lang="en-US" sz="2800" dirty="0">
              <a:solidFill>
                <a:schemeClr val="bg1"/>
              </a:solidFill>
              <a:latin typeface="Times New Roman" panose="02020603050405020304" pitchFamily="18" charset="0"/>
              <a:cs typeface="Times New Roman" panose="02020603050405020304" pitchFamily="18" charset="0"/>
            </a:endParaRPr>
          </a:p>
          <a:p>
            <a:pPr>
              <a:buNone/>
            </a:pPr>
            <a:r>
              <a:rPr lang="en-US" sz="2800" dirty="0">
                <a:solidFill>
                  <a:schemeClr val="bg1"/>
                </a:solidFill>
                <a:latin typeface="Times New Roman" panose="02020603050405020304" pitchFamily="18" charset="0"/>
                <a:cs typeface="Times New Roman" panose="02020603050405020304" pitchFamily="18" charset="0"/>
              </a:rPr>
              <a:t>3.Too complex, not very explainable:</a:t>
            </a:r>
          </a:p>
          <a:p>
            <a:pPr>
              <a:buNone/>
            </a:pPr>
            <a:r>
              <a:rPr lang="en-US" sz="2800" dirty="0">
                <a:solidFill>
                  <a:schemeClr val="bg1"/>
                </a:solidFill>
                <a:latin typeface="Times New Roman" panose="02020603050405020304" pitchFamily="18" charset="0"/>
                <a:cs typeface="Times New Roman" panose="02020603050405020304" pitchFamily="18" charset="0"/>
              </a:rPr>
              <a:t>Advanced models like deep learning often act as black boxes, offering little insight into their predictions for users.</a:t>
            </a:r>
          </a:p>
          <a:p>
            <a:pPr>
              <a:buNone/>
            </a:pP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4.Mostly academic, not ready for deployment:</a:t>
            </a:r>
            <a:br>
              <a:rPr lang="en-US" sz="2800" u="sng"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Many solutions are tested only in labs or simulations, with limited real-world or edge-device deployment.</a:t>
            </a:r>
            <a:br>
              <a:rPr lang="en-US" sz="2800" dirty="0">
                <a:solidFill>
                  <a:schemeClr val="bg1"/>
                </a:solidFill>
              </a:rPr>
            </a:br>
            <a:endParaRPr lang="en-US" sz="2800" b="1" dirty="0">
              <a:solidFill>
                <a:schemeClr val="bg1"/>
              </a:solidFill>
            </a:endParaRPr>
          </a:p>
        </p:txBody>
      </p:sp>
      <p:sp>
        <p:nvSpPr>
          <p:cNvPr id="20" name="TextBox 2"/>
          <p:cNvSpPr txBox="1"/>
          <p:nvPr/>
        </p:nvSpPr>
        <p:spPr>
          <a:xfrm>
            <a:off x="1475954" y="378919"/>
            <a:ext cx="5296321" cy="948337"/>
          </a:xfrm>
          <a:prstGeom prst="rect">
            <a:avLst/>
          </a:prstGeom>
        </p:spPr>
        <p:txBody>
          <a:bodyPr wrap="square" lIns="0" tIns="0" rIns="0" bIns="0" rtlCol="0" anchor="t">
            <a:spAutoFit/>
          </a:bodyPr>
          <a:lstStyle/>
          <a:p>
            <a:pPr marL="0" lvl="0" indent="0" algn="l">
              <a:lnSpc>
                <a:spcPts val="7711"/>
              </a:lnSpc>
              <a:spcBef>
                <a:spcPct val="0"/>
              </a:spcBef>
            </a:pPr>
            <a:r>
              <a:rPr lang="en-US" sz="5400" b="1" dirty="0">
                <a:solidFill>
                  <a:srgbClr val="17E3B2"/>
                </a:solidFill>
                <a:latin typeface="Almarai Bold"/>
                <a:ea typeface="Almarai Bold"/>
                <a:cs typeface="Almarai Bold"/>
                <a:sym typeface="Almarai Bold"/>
              </a:rPr>
              <a:t>RESEARH GAP</a:t>
            </a:r>
          </a:p>
        </p:txBody>
      </p:sp>
      <p:grpSp>
        <p:nvGrpSpPr>
          <p:cNvPr id="21" name="Group 9"/>
          <p:cNvGrpSpPr/>
          <p:nvPr/>
        </p:nvGrpSpPr>
        <p:grpSpPr>
          <a:xfrm rot="5400000">
            <a:off x="252276" y="1269643"/>
            <a:ext cx="1943100" cy="161652"/>
            <a:chOff x="0" y="0"/>
            <a:chExt cx="511763" cy="42575"/>
          </a:xfrm>
        </p:grpSpPr>
        <p:sp>
          <p:nvSpPr>
            <p:cNvPr id="22" name="Freeform 10"/>
            <p:cNvSpPr/>
            <p:nvPr/>
          </p:nvSpPr>
          <p:spPr>
            <a:xfrm>
              <a:off x="0" y="0"/>
              <a:ext cx="511763" cy="42575"/>
            </a:xfrm>
            <a:custGeom>
              <a:avLst/>
              <a:gdLst/>
              <a:ahLst/>
              <a:cxnLst/>
              <a:rect l="l" t="t" r="r" b="b"/>
              <a:pathLst>
                <a:path w="511763" h="42575">
                  <a:moveTo>
                    <a:pt x="0" y="0"/>
                  </a:moveTo>
                  <a:lnTo>
                    <a:pt x="511763" y="0"/>
                  </a:lnTo>
                  <a:lnTo>
                    <a:pt x="511763" y="42575"/>
                  </a:lnTo>
                  <a:lnTo>
                    <a:pt x="0" y="42575"/>
                  </a:lnTo>
                  <a:close/>
                </a:path>
              </a:pathLst>
            </a:custGeom>
            <a:solidFill>
              <a:srgbClr val="145DA0"/>
            </a:solidFill>
          </p:spPr>
          <p:txBody>
            <a:bodyPr/>
            <a:lstStyle/>
            <a:p>
              <a:endParaRPr lang="en-IN"/>
            </a:p>
          </p:txBody>
        </p:sp>
        <p:sp>
          <p:nvSpPr>
            <p:cNvPr id="23" name="TextBox 11"/>
            <p:cNvSpPr txBox="1"/>
            <p:nvPr/>
          </p:nvSpPr>
          <p:spPr>
            <a:xfrm>
              <a:off x="0" y="-47625"/>
              <a:ext cx="511763" cy="90200"/>
            </a:xfrm>
            <a:prstGeom prst="rect">
              <a:avLst/>
            </a:prstGeom>
          </p:spPr>
          <p:txBody>
            <a:bodyPr lIns="50800" tIns="50800" rIns="50800" bIns="50800" rtlCol="0" anchor="ctr"/>
            <a:lstStyle/>
            <a:p>
              <a:pPr algn="ctr">
                <a:lnSpc>
                  <a:spcPts val="2605"/>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6005391" y="-56898"/>
            <a:ext cx="12010783" cy="10400796"/>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02591" r="-102591"/>
              </a:stretch>
            </a:blipFill>
          </p:spPr>
          <p:txBody>
            <a:bodyPr/>
            <a:lstStyle/>
            <a:p>
              <a:endParaRPr lang="en-IN"/>
            </a:p>
          </p:txBody>
        </p:sp>
      </p:grpSp>
      <p:grpSp>
        <p:nvGrpSpPr>
          <p:cNvPr id="4" name="Group 4"/>
          <p:cNvGrpSpPr/>
          <p:nvPr/>
        </p:nvGrpSpPr>
        <p:grpSpPr>
          <a:xfrm>
            <a:off x="-4976691" y="-56898"/>
            <a:ext cx="12010783" cy="10400796"/>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02591" r="-102591"/>
              </a:stretch>
            </a:blipFill>
          </p:spPr>
          <p:txBody>
            <a:bodyPr/>
            <a:lstStyle/>
            <a:p>
              <a:endParaRPr lang="en-IN"/>
            </a:p>
          </p:txBody>
        </p:sp>
      </p:grpSp>
      <p:grpSp>
        <p:nvGrpSpPr>
          <p:cNvPr id="6" name="Group 6"/>
          <p:cNvGrpSpPr/>
          <p:nvPr/>
        </p:nvGrpSpPr>
        <p:grpSpPr>
          <a:xfrm rot="5400000">
            <a:off x="363740" y="4941839"/>
            <a:ext cx="518653" cy="403322"/>
            <a:chOff x="0" y="0"/>
            <a:chExt cx="812800" cy="632061"/>
          </a:xfrm>
        </p:grpSpPr>
        <p:sp>
          <p:nvSpPr>
            <p:cNvPr id="7" name="Freeform 7"/>
            <p:cNvSpPr/>
            <p:nvPr/>
          </p:nvSpPr>
          <p:spPr>
            <a:xfrm>
              <a:off x="0" y="0"/>
              <a:ext cx="812800" cy="632061"/>
            </a:xfrm>
            <a:custGeom>
              <a:avLst/>
              <a:gdLst/>
              <a:ahLst/>
              <a:cxnLst/>
              <a:rect l="l" t="t" r="r" b="b"/>
              <a:pathLst>
                <a:path w="812800" h="632061">
                  <a:moveTo>
                    <a:pt x="406400" y="0"/>
                  </a:moveTo>
                  <a:lnTo>
                    <a:pt x="812800" y="632061"/>
                  </a:lnTo>
                  <a:lnTo>
                    <a:pt x="0" y="632061"/>
                  </a:lnTo>
                  <a:lnTo>
                    <a:pt x="406400" y="0"/>
                  </a:lnTo>
                  <a:close/>
                </a:path>
              </a:pathLst>
            </a:custGeom>
            <a:solidFill>
              <a:srgbClr val="FFFFFF"/>
            </a:solidFill>
          </p:spPr>
          <p:txBody>
            <a:bodyPr/>
            <a:lstStyle/>
            <a:p>
              <a:endParaRPr lang="en-IN"/>
            </a:p>
          </p:txBody>
        </p:sp>
        <p:sp>
          <p:nvSpPr>
            <p:cNvPr id="8" name="TextBox 8"/>
            <p:cNvSpPr txBox="1"/>
            <p:nvPr/>
          </p:nvSpPr>
          <p:spPr>
            <a:xfrm>
              <a:off x="127000" y="245832"/>
              <a:ext cx="558800" cy="341082"/>
            </a:xfrm>
            <a:prstGeom prst="rect">
              <a:avLst/>
            </a:prstGeom>
          </p:spPr>
          <p:txBody>
            <a:bodyPr lIns="50800" tIns="50800" rIns="50800" bIns="50800" rtlCol="0" anchor="ctr"/>
            <a:lstStyle/>
            <a:p>
              <a:pPr algn="ctr">
                <a:lnSpc>
                  <a:spcPts val="2605"/>
                </a:lnSpc>
              </a:pPr>
              <a:endParaRPr/>
            </a:p>
          </p:txBody>
        </p:sp>
      </p:grpSp>
      <p:grpSp>
        <p:nvGrpSpPr>
          <p:cNvPr id="35" name="Group 35"/>
          <p:cNvGrpSpPr/>
          <p:nvPr/>
        </p:nvGrpSpPr>
        <p:grpSpPr>
          <a:xfrm>
            <a:off x="17259300" y="2066886"/>
            <a:ext cx="5754080" cy="8220114"/>
            <a:chOff x="0" y="0"/>
            <a:chExt cx="4445000" cy="6350000"/>
          </a:xfrm>
        </p:grpSpPr>
        <p:sp>
          <p:nvSpPr>
            <p:cNvPr id="36" name="Freeform 36"/>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37" name="Group 37"/>
          <p:cNvGrpSpPr/>
          <p:nvPr/>
        </p:nvGrpSpPr>
        <p:grpSpPr>
          <a:xfrm rot="-10800000">
            <a:off x="-4527414" y="-342900"/>
            <a:ext cx="5754080" cy="8220114"/>
            <a:chOff x="0" y="0"/>
            <a:chExt cx="4445000" cy="6350000"/>
          </a:xfrm>
        </p:grpSpPr>
        <p:sp>
          <p:nvSpPr>
            <p:cNvPr id="38" name="Freeform 38"/>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39" name="TextBox 39"/>
          <p:cNvSpPr txBox="1"/>
          <p:nvPr/>
        </p:nvSpPr>
        <p:spPr>
          <a:xfrm>
            <a:off x="942975" y="4709201"/>
            <a:ext cx="4135034" cy="2026196"/>
          </a:xfrm>
          <a:prstGeom prst="rect">
            <a:avLst/>
          </a:prstGeom>
        </p:spPr>
        <p:txBody>
          <a:bodyPr lIns="0" tIns="0" rIns="0" bIns="0" rtlCol="0" anchor="t">
            <a:spAutoFit/>
          </a:bodyPr>
          <a:lstStyle/>
          <a:p>
            <a:pPr marL="0" lvl="0" indent="0" algn="l">
              <a:lnSpc>
                <a:spcPts val="7884"/>
              </a:lnSpc>
              <a:spcBef>
                <a:spcPct val="0"/>
              </a:spcBef>
            </a:pPr>
            <a:r>
              <a:rPr lang="en-US" sz="6570" b="1" u="sng" dirty="0">
                <a:solidFill>
                  <a:srgbClr val="FFFFFF"/>
                </a:solidFill>
                <a:latin typeface="Almarai Bold"/>
                <a:ea typeface="Almarai Bold"/>
                <a:cs typeface="Almarai Bold"/>
                <a:sym typeface="Almarai Bold"/>
              </a:rPr>
              <a:t>Problem </a:t>
            </a:r>
          </a:p>
          <a:p>
            <a:pPr marL="0" lvl="0" indent="0" algn="l">
              <a:lnSpc>
                <a:spcPts val="7884"/>
              </a:lnSpc>
              <a:spcBef>
                <a:spcPct val="0"/>
              </a:spcBef>
            </a:pPr>
            <a:r>
              <a:rPr lang="en-US" sz="6570" b="1" u="sng" dirty="0">
                <a:solidFill>
                  <a:srgbClr val="FFFFFF"/>
                </a:solidFill>
                <a:latin typeface="Almarai Bold"/>
                <a:ea typeface="Almarai Bold"/>
                <a:cs typeface="Almarai Bold"/>
                <a:sym typeface="Almarai Bold"/>
              </a:rPr>
              <a:t>Statement </a:t>
            </a:r>
          </a:p>
        </p:txBody>
      </p:sp>
      <p:sp>
        <p:nvSpPr>
          <p:cNvPr id="40" name="Text 1"/>
          <p:cNvSpPr/>
          <p:nvPr/>
        </p:nvSpPr>
        <p:spPr>
          <a:xfrm>
            <a:off x="7483368" y="5530776"/>
            <a:ext cx="10347431" cy="2313100"/>
          </a:xfrm>
          <a:prstGeom prst="rect">
            <a:avLst/>
          </a:prstGeom>
          <a:noFill/>
          <a:ln/>
        </p:spPr>
        <p:txBody>
          <a:bodyPr wrap="square" lIns="0" tIns="0" rIns="0" bIns="0" rtlCol="0" anchor="t"/>
          <a:lstStyle/>
          <a:p>
            <a:pPr>
              <a:lnSpc>
                <a:spcPts val="3050"/>
              </a:lnSpc>
            </a:pPr>
            <a:r>
              <a:rPr lang="en-US" sz="4400" dirty="0">
                <a:solidFill>
                  <a:schemeClr val="bg1"/>
                </a:solidFill>
                <a:latin typeface="Centaur" panose="02030504050205020304" pitchFamily="18" charset="0"/>
                <a:cs typeface="Arial" panose="020B0604020202020204" pitchFamily="34" charset="0"/>
              </a:rPr>
              <a:t>“</a:t>
            </a:r>
            <a:r>
              <a:rPr lang="en-US" sz="4400" dirty="0">
                <a:solidFill>
                  <a:schemeClr val="bg1"/>
                </a:solidFill>
                <a:latin typeface="Times New Roman" panose="02020603050405020304" pitchFamily="18" charset="0"/>
                <a:cs typeface="Times New Roman" panose="02020603050405020304" pitchFamily="18" charset="0"/>
              </a:rPr>
              <a:t>The unpredictable nature of solar and wind </a:t>
            </a:r>
          </a:p>
          <a:p>
            <a:pPr>
              <a:lnSpc>
                <a:spcPts val="3050"/>
              </a:lnSpc>
            </a:pPr>
            <a:r>
              <a:rPr lang="en-US" sz="4400" dirty="0">
                <a:solidFill>
                  <a:schemeClr val="bg1"/>
                </a:solidFill>
                <a:latin typeface="Times New Roman" panose="02020603050405020304" pitchFamily="18" charset="0"/>
                <a:cs typeface="Times New Roman" panose="02020603050405020304" pitchFamily="18" charset="0"/>
              </a:rPr>
              <a:t> energy poses a major challenge to consistent</a:t>
            </a:r>
          </a:p>
          <a:p>
            <a:pPr>
              <a:lnSpc>
                <a:spcPts val="3050"/>
              </a:lnSpc>
            </a:pPr>
            <a:r>
              <a:rPr lang="en-US" sz="4400" dirty="0">
                <a:solidFill>
                  <a:schemeClr val="bg1"/>
                </a:solidFill>
                <a:latin typeface="Times New Roman" panose="02020603050405020304" pitchFamily="18" charset="0"/>
                <a:cs typeface="Times New Roman" panose="02020603050405020304" pitchFamily="18" charset="0"/>
              </a:rPr>
              <a:t> and reliable energy planning.”</a:t>
            </a:r>
          </a:p>
          <a:p>
            <a:pPr>
              <a:lnSpc>
                <a:spcPts val="3050"/>
              </a:lnSpc>
            </a:pPr>
            <a:endParaRPr lang="en-US" sz="4400" u="sng" dirty="0">
              <a:solidFill>
                <a:schemeClr val="bg1"/>
              </a:solidFill>
            </a:endParaRPr>
          </a:p>
        </p:txBody>
      </p:sp>
      <p:sp>
        <p:nvSpPr>
          <p:cNvPr id="43" name="Freeform 3"/>
          <p:cNvSpPr/>
          <p:nvPr/>
        </p:nvSpPr>
        <p:spPr>
          <a:xfrm>
            <a:off x="1399571" y="844105"/>
            <a:ext cx="1903815" cy="178238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a:ln w="95250" cap="sq">
            <a:solidFill>
              <a:srgbClr val="051D40"/>
            </a:solidFill>
            <a:prstDash val="solid"/>
            <a:miter/>
          </a:ln>
        </p:spPr>
        <p:txBody>
          <a:bodyPr/>
          <a:lstStyle/>
          <a:p>
            <a:endParaRPr lang="en-IN"/>
          </a:p>
        </p:txBody>
      </p:sp>
      <p:sp>
        <p:nvSpPr>
          <p:cNvPr id="45" name="Freeform 8"/>
          <p:cNvSpPr/>
          <p:nvPr/>
        </p:nvSpPr>
        <p:spPr>
          <a:xfrm>
            <a:off x="1745381" y="1113954"/>
            <a:ext cx="1212197" cy="1212197"/>
          </a:xfrm>
          <a:custGeom>
            <a:avLst/>
            <a:gdLst/>
            <a:ahLst/>
            <a:cxnLst/>
            <a:rect l="l" t="t" r="r" b="b"/>
            <a:pathLst>
              <a:path w="1212197" h="1212197">
                <a:moveTo>
                  <a:pt x="0" y="0"/>
                </a:moveTo>
                <a:lnTo>
                  <a:pt x="1212198" y="0"/>
                </a:lnTo>
                <a:lnTo>
                  <a:pt x="1212198" y="1212197"/>
                </a:lnTo>
                <a:lnTo>
                  <a:pt x="0" y="12121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pic>
        <p:nvPicPr>
          <p:cNvPr id="47" name="Picture 46" descr="Solar panels on a field&#10;&#10;AI-generated content may be incorrect.">
            <a:extLst>
              <a:ext uri="{FF2B5EF4-FFF2-40B4-BE49-F238E27FC236}">
                <a16:creationId xmlns:a16="http://schemas.microsoft.com/office/drawing/2014/main" id="{906FC70B-61B2-841A-7CB3-EA781A2CBE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29675" y="872680"/>
            <a:ext cx="5181600" cy="30469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704081" y="1042216"/>
            <a:ext cx="3813808" cy="295068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4" name="Group 4"/>
          <p:cNvGrpSpPr/>
          <p:nvPr/>
        </p:nvGrpSpPr>
        <p:grpSpPr>
          <a:xfrm>
            <a:off x="-1251282" y="-104502"/>
            <a:ext cx="5108433" cy="446407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sp>
        <p:nvSpPr>
          <p:cNvPr id="6" name="TextBox 6"/>
          <p:cNvSpPr txBox="1"/>
          <p:nvPr/>
        </p:nvSpPr>
        <p:spPr>
          <a:xfrm>
            <a:off x="109228" y="1073386"/>
            <a:ext cx="4800049" cy="884666"/>
          </a:xfrm>
          <a:prstGeom prst="rect">
            <a:avLst/>
          </a:prstGeom>
        </p:spPr>
        <p:txBody>
          <a:bodyPr lIns="0" tIns="0" rIns="0" bIns="0" rtlCol="0" anchor="t">
            <a:spAutoFit/>
          </a:bodyPr>
          <a:lstStyle/>
          <a:p>
            <a:pPr algn="ctr">
              <a:lnSpc>
                <a:spcPts val="7288"/>
              </a:lnSpc>
            </a:pPr>
            <a:r>
              <a:rPr lang="en-US" sz="6073" b="1" u="sng" dirty="0">
                <a:solidFill>
                  <a:srgbClr val="FFFFFF"/>
                </a:solidFill>
                <a:latin typeface="Times New Roman" panose="02020603050405020304" pitchFamily="18" charset="0"/>
                <a:ea typeface="Almarai Bold"/>
                <a:cs typeface="Times New Roman" panose="02020603050405020304" pitchFamily="18" charset="0"/>
                <a:sym typeface="Almarai Bold"/>
              </a:rPr>
              <a:t>Objectives</a:t>
            </a:r>
          </a:p>
        </p:txBody>
      </p:sp>
      <p:sp>
        <p:nvSpPr>
          <p:cNvPr id="11" name="TextBox 11"/>
          <p:cNvSpPr txBox="1"/>
          <p:nvPr/>
        </p:nvSpPr>
        <p:spPr>
          <a:xfrm>
            <a:off x="4617414" y="722844"/>
            <a:ext cx="1114154" cy="1194502"/>
          </a:xfrm>
          <a:prstGeom prst="rect">
            <a:avLst/>
          </a:prstGeom>
        </p:spPr>
        <p:txBody>
          <a:bodyPr lIns="50800" tIns="50800" rIns="50800" bIns="50800" rtlCol="0" anchor="ctr"/>
          <a:lstStyle/>
          <a:p>
            <a:pPr algn="ctr">
              <a:lnSpc>
                <a:spcPts val="2605"/>
              </a:lnSpc>
            </a:pPr>
            <a:endParaRPr dirty="0"/>
          </a:p>
        </p:txBody>
      </p:sp>
      <p:grpSp>
        <p:nvGrpSpPr>
          <p:cNvPr id="12" name="Group 12"/>
          <p:cNvGrpSpPr/>
          <p:nvPr/>
        </p:nvGrpSpPr>
        <p:grpSpPr>
          <a:xfrm>
            <a:off x="6164634" y="695619"/>
            <a:ext cx="1371267" cy="137126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a:ln w="95250" cap="sq">
              <a:solidFill>
                <a:srgbClr val="051D40"/>
              </a:solidFill>
              <a:prstDash val="solid"/>
              <a:miter/>
            </a:ln>
          </p:spPr>
          <p:txBody>
            <a:bodyPr/>
            <a:lstStyle/>
            <a:p>
              <a:endParaRPr lang="en-IN"/>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05"/>
                </a:lnSpc>
              </a:pPr>
              <a:endParaRPr/>
            </a:p>
          </p:txBody>
        </p:sp>
      </p:grpSp>
      <p:grpSp>
        <p:nvGrpSpPr>
          <p:cNvPr id="15" name="Group 15"/>
          <p:cNvGrpSpPr/>
          <p:nvPr/>
        </p:nvGrpSpPr>
        <p:grpSpPr>
          <a:xfrm>
            <a:off x="4670460" y="758772"/>
            <a:ext cx="1371267" cy="137126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a:ln w="95250" cap="sq">
              <a:solidFill>
                <a:srgbClr val="051D40"/>
              </a:solidFill>
              <a:prstDash val="solid"/>
              <a:miter/>
            </a:ln>
          </p:spPr>
          <p:txBody>
            <a:bodyPr/>
            <a:lstStyle/>
            <a:p>
              <a:endParaRPr lang="en-IN"/>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05"/>
                </a:lnSpc>
              </a:pPr>
              <a:endParaRPr/>
            </a:p>
          </p:txBody>
        </p:sp>
      </p:grpSp>
      <p:sp>
        <p:nvSpPr>
          <p:cNvPr id="21" name="Freeform 21"/>
          <p:cNvSpPr/>
          <p:nvPr/>
        </p:nvSpPr>
        <p:spPr>
          <a:xfrm>
            <a:off x="6699362" y="1109600"/>
            <a:ext cx="585607" cy="669613"/>
          </a:xfrm>
          <a:custGeom>
            <a:avLst/>
            <a:gdLst/>
            <a:ahLst/>
            <a:cxnLst/>
            <a:rect l="l" t="t" r="r" b="b"/>
            <a:pathLst>
              <a:path w="585607" h="669613">
                <a:moveTo>
                  <a:pt x="0" y="0"/>
                </a:moveTo>
                <a:lnTo>
                  <a:pt x="585607" y="0"/>
                </a:lnTo>
                <a:lnTo>
                  <a:pt x="585607" y="669613"/>
                </a:lnTo>
                <a:lnTo>
                  <a:pt x="0" y="6696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4" name="Freeform 24"/>
          <p:cNvSpPr/>
          <p:nvPr/>
        </p:nvSpPr>
        <p:spPr>
          <a:xfrm>
            <a:off x="5047424" y="1052679"/>
            <a:ext cx="566255" cy="720926"/>
          </a:xfrm>
          <a:custGeom>
            <a:avLst/>
            <a:gdLst/>
            <a:ahLst/>
            <a:cxnLst/>
            <a:rect l="l" t="t" r="r" b="b"/>
            <a:pathLst>
              <a:path w="566255" h="720926">
                <a:moveTo>
                  <a:pt x="0" y="0"/>
                </a:moveTo>
                <a:lnTo>
                  <a:pt x="566255" y="0"/>
                </a:lnTo>
                <a:lnTo>
                  <a:pt x="566255" y="720926"/>
                </a:lnTo>
                <a:lnTo>
                  <a:pt x="0" y="7209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25" name="Group 25"/>
          <p:cNvGrpSpPr/>
          <p:nvPr/>
        </p:nvGrpSpPr>
        <p:grpSpPr>
          <a:xfrm>
            <a:off x="17259300" y="2066886"/>
            <a:ext cx="5754080" cy="8220114"/>
            <a:chOff x="0" y="0"/>
            <a:chExt cx="4445000" cy="6350000"/>
          </a:xfrm>
        </p:grpSpPr>
        <p:sp>
          <p:nvSpPr>
            <p:cNvPr id="26" name="Freeform 26"/>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27" name="Group 27"/>
          <p:cNvGrpSpPr/>
          <p:nvPr/>
        </p:nvGrpSpPr>
        <p:grpSpPr>
          <a:xfrm rot="-10800000">
            <a:off x="-4725380" y="5468707"/>
            <a:ext cx="5754080" cy="8220114"/>
            <a:chOff x="0" y="0"/>
            <a:chExt cx="4445000" cy="6350000"/>
          </a:xfrm>
        </p:grpSpPr>
        <p:sp>
          <p:nvSpPr>
            <p:cNvPr id="28" name="Freeform 28"/>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29" name="Group 29"/>
          <p:cNvGrpSpPr/>
          <p:nvPr/>
        </p:nvGrpSpPr>
        <p:grpSpPr>
          <a:xfrm>
            <a:off x="15763958" y="-781916"/>
            <a:ext cx="1683983" cy="2405689"/>
            <a:chOff x="0" y="0"/>
            <a:chExt cx="4445000" cy="6350000"/>
          </a:xfrm>
        </p:grpSpPr>
        <p:sp>
          <p:nvSpPr>
            <p:cNvPr id="30" name="Freeform 30"/>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31" name="Group 31"/>
          <p:cNvGrpSpPr/>
          <p:nvPr/>
        </p:nvGrpSpPr>
        <p:grpSpPr>
          <a:xfrm rot="5400000">
            <a:off x="14391539" y="875530"/>
            <a:ext cx="841991" cy="84199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sp>
        <p:nvSpPr>
          <p:cNvPr id="40" name="TextBox 39">
            <a:extLst>
              <a:ext uri="{FF2B5EF4-FFF2-40B4-BE49-F238E27FC236}">
                <a16:creationId xmlns:a16="http://schemas.microsoft.com/office/drawing/2014/main" id="{B52C8761-BD39-8261-84F7-4DE30EAA1481}"/>
              </a:ext>
            </a:extLst>
          </p:cNvPr>
          <p:cNvSpPr txBox="1"/>
          <p:nvPr/>
        </p:nvSpPr>
        <p:spPr>
          <a:xfrm>
            <a:off x="1042987" y="3215094"/>
            <a:ext cx="15216476" cy="4832092"/>
          </a:xfrm>
          <a:prstGeom prst="rect">
            <a:avLst/>
          </a:prstGeom>
          <a:noFill/>
        </p:spPr>
        <p:txBody>
          <a:bodyPr wrap="square" rtlCol="0">
            <a:spAutoFit/>
          </a:bodyPr>
          <a:lstStyle/>
          <a:p>
            <a:pPr marL="514350" lvl="0" indent="-514350" algn="just" eaLnBrk="0" fontAlgn="base" hangingPunct="0">
              <a:spcBef>
                <a:spcPct val="0"/>
              </a:spcBef>
              <a:spcAft>
                <a:spcPct val="0"/>
              </a:spcAft>
              <a:buFont typeface="+mj-lt"/>
              <a:buAutoNum type="arabicPeriod"/>
            </a:pPr>
            <a:r>
              <a:rPr lang="en-US" altLang="en-US" sz="2800" dirty="0">
                <a:solidFill>
                  <a:schemeClr val="bg1"/>
                </a:solidFill>
                <a:latin typeface="Times New Roman" panose="02020603050405020304" pitchFamily="18" charset="0"/>
                <a:cs typeface="Times New Roman" panose="02020603050405020304" pitchFamily="18" charset="0"/>
              </a:rPr>
              <a:t>Develop an intelligent forecasting system capable of accurately predicting solar and wind energy generation, leveraging artificial intelligence in a responsible and ethical manner.</a:t>
            </a:r>
          </a:p>
          <a:p>
            <a:pPr marL="514350" lvl="0" indent="-514350" algn="just" eaLnBrk="0" fontAlgn="base" hangingPunct="0">
              <a:spcBef>
                <a:spcPct val="0"/>
              </a:spcBef>
              <a:spcAft>
                <a:spcPct val="0"/>
              </a:spcAft>
              <a:buFont typeface="+mj-lt"/>
              <a:buAutoNum type="arabicPeriod"/>
            </a:pPr>
            <a:endParaRPr lang="en-US" altLang="en-US" sz="2800" dirty="0">
              <a:solidFill>
                <a:schemeClr val="bg1"/>
              </a:solidFill>
              <a:latin typeface="Times New Roman" panose="02020603050405020304" pitchFamily="18" charset="0"/>
              <a:cs typeface="Times New Roman" panose="02020603050405020304" pitchFamily="18" charset="0"/>
            </a:endParaRPr>
          </a:p>
          <a:p>
            <a:pPr marL="514350" lvl="0" indent="-514350" algn="just" eaLnBrk="0" fontAlgn="base" hangingPunct="0">
              <a:spcBef>
                <a:spcPct val="0"/>
              </a:spcBef>
              <a:spcAft>
                <a:spcPct val="0"/>
              </a:spcAft>
              <a:buFont typeface="+mj-lt"/>
              <a:buAutoNum type="arabicPeriod"/>
            </a:pPr>
            <a:r>
              <a:rPr lang="en-US" altLang="en-US" sz="2800" dirty="0">
                <a:solidFill>
                  <a:schemeClr val="bg1"/>
                </a:solidFill>
                <a:latin typeface="Times New Roman" panose="02020603050405020304" pitchFamily="18" charset="0"/>
                <a:cs typeface="Times New Roman" panose="02020603050405020304" pitchFamily="18" charset="0"/>
              </a:rPr>
              <a:t>Enhance forecasting accuracy by integrating historical generation data with real-time weather inputs, ensuring dynamic, timely, and actionable energy predictions.</a:t>
            </a:r>
          </a:p>
          <a:p>
            <a:pPr marL="514350" lvl="0" indent="-514350" algn="just" eaLnBrk="0" fontAlgn="base" hangingPunct="0">
              <a:spcBef>
                <a:spcPct val="0"/>
              </a:spcBef>
              <a:spcAft>
                <a:spcPct val="0"/>
              </a:spcAft>
              <a:buFont typeface="+mj-lt"/>
              <a:buAutoNum type="arabicPeriod"/>
            </a:pPr>
            <a:endParaRPr lang="en-US" altLang="en-US" sz="2800" dirty="0">
              <a:solidFill>
                <a:schemeClr val="bg1"/>
              </a:solidFill>
              <a:latin typeface="Times New Roman" panose="02020603050405020304" pitchFamily="18" charset="0"/>
              <a:cs typeface="Times New Roman" panose="02020603050405020304" pitchFamily="18" charset="0"/>
            </a:endParaRPr>
          </a:p>
          <a:p>
            <a:pPr marL="514350" lvl="0" indent="-514350" algn="just" eaLnBrk="0" fontAlgn="base" hangingPunct="0">
              <a:spcBef>
                <a:spcPct val="0"/>
              </a:spcBef>
              <a:spcAft>
                <a:spcPct val="0"/>
              </a:spcAft>
              <a:buFont typeface="+mj-lt"/>
              <a:buAutoNum type="arabicPeriod"/>
            </a:pPr>
            <a:r>
              <a:rPr lang="en-US" altLang="en-US" sz="2800" dirty="0">
                <a:solidFill>
                  <a:schemeClr val="bg1"/>
                </a:solidFill>
                <a:latin typeface="Times New Roman" panose="02020603050405020304" pitchFamily="18" charset="0"/>
                <a:cs typeface="Times New Roman" panose="02020603050405020304" pitchFamily="18" charset="0"/>
              </a:rPr>
              <a:t>Support strategic energy planning by minimizing uncertainty in renewable energy output, thereby facilitating a more reliable transition away from fossil fuels.</a:t>
            </a:r>
          </a:p>
          <a:p>
            <a:pPr marL="514350" lvl="0" indent="-514350" algn="just" eaLnBrk="0" fontAlgn="base" hangingPunct="0">
              <a:spcBef>
                <a:spcPct val="0"/>
              </a:spcBef>
              <a:spcAft>
                <a:spcPct val="0"/>
              </a:spcAft>
              <a:buFont typeface="+mj-lt"/>
              <a:buAutoNum type="arabicPeriod"/>
            </a:pPr>
            <a:endParaRPr lang="en-US" altLang="en-US" sz="2800" dirty="0">
              <a:solidFill>
                <a:schemeClr val="bg1"/>
              </a:solidFill>
              <a:latin typeface="Times New Roman" panose="02020603050405020304" pitchFamily="18" charset="0"/>
              <a:cs typeface="Times New Roman" panose="02020603050405020304" pitchFamily="18" charset="0"/>
            </a:endParaRPr>
          </a:p>
          <a:p>
            <a:pPr marL="514350" lvl="0" indent="-514350" algn="just" eaLnBrk="0" fontAlgn="base" hangingPunct="0">
              <a:spcBef>
                <a:spcPct val="0"/>
              </a:spcBef>
              <a:spcAft>
                <a:spcPct val="0"/>
              </a:spcAft>
              <a:buFont typeface="+mj-lt"/>
              <a:buAutoNum type="arabicPeriod"/>
            </a:pPr>
            <a:r>
              <a:rPr lang="en-US" altLang="en-US" sz="2800" dirty="0">
                <a:solidFill>
                  <a:schemeClr val="bg1"/>
                </a:solidFill>
                <a:latin typeface="Times New Roman" panose="02020603050405020304" pitchFamily="18" charset="0"/>
                <a:cs typeface="Times New Roman" panose="02020603050405020304" pitchFamily="18" charset="0"/>
              </a:rPr>
              <a:t>Design a user-centric and scalable solution that is intuitive, transparent, and trustworthy, with the flexibility to adapt and perform effectively in real-world operational environments.</a:t>
            </a:r>
            <a:endParaRPr lang="en-IN" dirty="0">
              <a:latin typeface="Times New Roman" panose="02020603050405020304" pitchFamily="18" charset="0"/>
              <a:cs typeface="Times New Roman" panose="02020603050405020304" pitchFamily="18" charset="0"/>
            </a:endParaRPr>
          </a:p>
        </p:txBody>
      </p:sp>
      <p:pic>
        <p:nvPicPr>
          <p:cNvPr id="23" name="Picture 22" descr="A windmill and solar panels&#10;&#10;AI-generated content may be incorrect.">
            <a:extLst>
              <a:ext uri="{FF2B5EF4-FFF2-40B4-BE49-F238E27FC236}">
                <a16:creationId xmlns:a16="http://schemas.microsoft.com/office/drawing/2014/main" id="{2DD28D56-EB70-7B53-345E-7F06392745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62334" y="308075"/>
            <a:ext cx="4371196" cy="24667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A7FA005F-08EA-2DCF-10FC-D6E8D0206D79}"/>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202825C1-C379-548E-910C-8DD2EEF62D4A}"/>
              </a:ext>
            </a:extLst>
          </p:cNvPr>
          <p:cNvGrpSpPr/>
          <p:nvPr/>
        </p:nvGrpSpPr>
        <p:grpSpPr>
          <a:xfrm>
            <a:off x="10016575" y="-1489570"/>
            <a:ext cx="4202211" cy="6003158"/>
            <a:chOff x="0" y="0"/>
            <a:chExt cx="4445000" cy="6350000"/>
          </a:xfrm>
        </p:grpSpPr>
        <p:sp>
          <p:nvSpPr>
            <p:cNvPr id="15" name="Freeform 15">
              <a:extLst>
                <a:ext uri="{FF2B5EF4-FFF2-40B4-BE49-F238E27FC236}">
                  <a16:creationId xmlns:a16="http://schemas.microsoft.com/office/drawing/2014/main" id="{86631FEA-90B6-9B35-0C83-9FBEB60EAA2E}"/>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18329E62-DA8A-4DF0-B9F7-6BFF82BBC1AC}"/>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A92A3526-A9EE-4C6D-55F5-B15A8B5281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3129F4DC-9BB3-7E9B-C8C9-0F6FF2D2542A}"/>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9B33309E-901A-6618-6A0F-E2807C371879}"/>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CA8C4532-3179-6428-CAA9-C1551250F12C}"/>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B519ABA8-A506-390E-6FFB-96707FC459C5}"/>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2167FE31-5623-ECE9-50C6-DC53EB6FB06F}"/>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995C265F-3045-62A4-9D07-A3AEC75BF3E0}"/>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 name="TextBox 1">
            <a:extLst>
              <a:ext uri="{FF2B5EF4-FFF2-40B4-BE49-F238E27FC236}">
                <a16:creationId xmlns:a16="http://schemas.microsoft.com/office/drawing/2014/main" id="{3C698B2F-4DC4-C696-C53C-3C1BDD439123}"/>
              </a:ext>
            </a:extLst>
          </p:cNvPr>
          <p:cNvSpPr txBox="1"/>
          <p:nvPr/>
        </p:nvSpPr>
        <p:spPr>
          <a:xfrm>
            <a:off x="1107213" y="466673"/>
            <a:ext cx="5029200" cy="769441"/>
          </a:xfrm>
          <a:prstGeom prst="rect">
            <a:avLst/>
          </a:prstGeom>
          <a:noFill/>
        </p:spPr>
        <p:txBody>
          <a:bodyPr wrap="square" rtlCol="0">
            <a:spAutoFit/>
          </a:bodyPr>
          <a:lstStyle/>
          <a:p>
            <a:r>
              <a:rPr lang="en-IN" sz="4400" b="1" u="sng" dirty="0">
                <a:solidFill>
                  <a:schemeClr val="bg1"/>
                </a:solidFill>
                <a:latin typeface="Times New Roman" panose="02020603050405020304" pitchFamily="18" charset="0"/>
                <a:cs typeface="Times New Roman" panose="02020603050405020304" pitchFamily="18" charset="0"/>
              </a:rPr>
              <a:t>Methodology</a:t>
            </a:r>
            <a:endParaRPr lang="en-IN" b="1" u="sn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84848BD-2748-4E7F-FBCC-C5A438F3E318}"/>
              </a:ext>
            </a:extLst>
          </p:cNvPr>
          <p:cNvSpPr txBox="1"/>
          <p:nvPr/>
        </p:nvSpPr>
        <p:spPr>
          <a:xfrm>
            <a:off x="990600" y="1789801"/>
            <a:ext cx="9220200" cy="7694414"/>
          </a:xfrm>
          <a:prstGeom prst="rect">
            <a:avLst/>
          </a:prstGeom>
          <a:noFill/>
        </p:spPr>
        <p:txBody>
          <a:bodyPr wrap="square" rtlCol="0">
            <a:spAutoFit/>
          </a:bodyPr>
          <a:lstStyle/>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1) Data Collection – Solar irradiance, PV output, ambient temperature, time-stamps</a:t>
            </a:r>
          </a:p>
          <a:p>
            <a:pPr lvl="0" eaLnBrk="0" fontAlgn="base" hangingPunct="0">
              <a:spcBef>
                <a:spcPct val="0"/>
              </a:spcBef>
              <a:spcAft>
                <a:spcPct val="0"/>
              </a:spcAft>
            </a:pPr>
            <a:endParaRPr lang="en-US" altLang="en-US" sz="28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2) Preprocessing – Cleaning, smoothing, noise reduction, missing-value handling</a:t>
            </a:r>
          </a:p>
          <a:p>
            <a:pPr lvl="0" eaLnBrk="0" fontAlgn="base" hangingPunct="0">
              <a:spcBef>
                <a:spcPct val="0"/>
              </a:spcBef>
              <a:spcAft>
                <a:spcPct val="0"/>
              </a:spcAft>
            </a:pPr>
            <a:endParaRPr lang="en-US" altLang="en-US" sz="2800" b="1"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3)Feature Engineering – Irradiance variability, rolling mean/std, lag values, time-vectors</a:t>
            </a:r>
          </a:p>
          <a:p>
            <a:pPr lvl="0" eaLnBrk="0" fontAlgn="base" hangingPunct="0">
              <a:spcBef>
                <a:spcPct val="0"/>
              </a:spcBef>
              <a:spcAft>
                <a:spcPct val="0"/>
              </a:spcAft>
            </a:pPr>
            <a:endParaRPr lang="en-US" altLang="en-US" sz="28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4)</a:t>
            </a:r>
            <a:r>
              <a:rPr lang="en-US" altLang="en-US" sz="2800" dirty="0" err="1">
                <a:solidFill>
                  <a:schemeClr val="bg1"/>
                </a:solidFill>
                <a:latin typeface="Times New Roman" panose="02020603050405020304" pitchFamily="18" charset="0"/>
                <a:cs typeface="Times New Roman" panose="02020603050405020304" pitchFamily="18" charset="0"/>
              </a:rPr>
              <a:t>Behaviour</a:t>
            </a:r>
            <a:r>
              <a:rPr lang="en-US" altLang="en-US" sz="2800" dirty="0">
                <a:solidFill>
                  <a:schemeClr val="bg1"/>
                </a:solidFill>
                <a:latin typeface="Times New Roman" panose="02020603050405020304" pitchFamily="18" charset="0"/>
                <a:cs typeface="Times New Roman" panose="02020603050405020304" pitchFamily="18" charset="0"/>
              </a:rPr>
              <a:t> Clustering – K-Means grouping into Sunny, Intermittent-Cloud, Overcast</a:t>
            </a:r>
          </a:p>
          <a:p>
            <a:pPr lvl="0" eaLnBrk="0" fontAlgn="base" hangingPunct="0">
              <a:spcBef>
                <a:spcPct val="0"/>
              </a:spcBef>
              <a:spcAft>
                <a:spcPct val="0"/>
              </a:spcAft>
            </a:pPr>
            <a:endParaRPr lang="en-US" altLang="en-US" sz="28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5)Hybrid Model Training – Cluster-specific ML models (Linear, Random Forest, </a:t>
            </a:r>
            <a:r>
              <a:rPr lang="en-US" altLang="en-US" sz="2800" dirty="0" err="1">
                <a:solidFill>
                  <a:schemeClr val="bg1"/>
                </a:solidFill>
                <a:latin typeface="Times New Roman" panose="02020603050405020304" pitchFamily="18" charset="0"/>
                <a:cs typeface="Times New Roman" panose="02020603050405020304" pitchFamily="18" charset="0"/>
              </a:rPr>
              <a:t>XGBooster</a:t>
            </a:r>
            <a:r>
              <a:rPr lang="en-US" altLang="en-US" sz="2800" dirty="0">
                <a:solidFill>
                  <a:schemeClr val="bg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pPr>
            <a:endParaRPr lang="en-US" altLang="en-US" sz="28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6)Real-Time Forecasting – Auto-cluster detection + adaptive prediction + error correction</a:t>
            </a:r>
          </a:p>
          <a:p>
            <a:endParaRPr lang="en-IN" dirty="0"/>
          </a:p>
        </p:txBody>
      </p:sp>
      <p:pic>
        <p:nvPicPr>
          <p:cNvPr id="13" name="Picture 12" descr="A diagram of a process&#10;&#10;AI-generated content may be incorrect.">
            <a:extLst>
              <a:ext uri="{FF2B5EF4-FFF2-40B4-BE49-F238E27FC236}">
                <a16:creationId xmlns:a16="http://schemas.microsoft.com/office/drawing/2014/main" id="{BE2CD717-249C-E9E5-4685-647301EB44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200" y="1349843"/>
            <a:ext cx="4800600" cy="6367336"/>
          </a:xfrm>
          <a:prstGeom prst="rect">
            <a:avLst/>
          </a:prstGeom>
        </p:spPr>
      </p:pic>
      <p:sp>
        <p:nvSpPr>
          <p:cNvPr id="3" name="TextBox 2">
            <a:extLst>
              <a:ext uri="{FF2B5EF4-FFF2-40B4-BE49-F238E27FC236}">
                <a16:creationId xmlns:a16="http://schemas.microsoft.com/office/drawing/2014/main" id="{BC7E128D-EF56-D7A8-666D-BC7CEB02F548}"/>
              </a:ext>
            </a:extLst>
          </p:cNvPr>
          <p:cNvSpPr txBox="1"/>
          <p:nvPr/>
        </p:nvSpPr>
        <p:spPr>
          <a:xfrm>
            <a:off x="10981655" y="8059625"/>
            <a:ext cx="5985573" cy="369332"/>
          </a:xfrm>
          <a:prstGeom prst="rect">
            <a:avLst/>
          </a:prstGeom>
          <a:noFill/>
        </p:spPr>
        <p:txBody>
          <a:bodyPr wrap="square" rtlCol="0">
            <a:spAutoFit/>
          </a:bodyPr>
          <a:lstStyle/>
          <a:p>
            <a:r>
              <a:rPr lang="en-IN" b="1" dirty="0">
                <a:solidFill>
                  <a:schemeClr val="bg1">
                    <a:lumMod val="95000"/>
                  </a:schemeClr>
                </a:solidFill>
              </a:rPr>
              <a:t>FIGURE2 :  Flowchart representation of  Methodology</a:t>
            </a:r>
          </a:p>
        </p:txBody>
      </p:sp>
    </p:spTree>
    <p:extLst>
      <p:ext uri="{BB962C8B-B14F-4D97-AF65-F5344CB8AC3E}">
        <p14:creationId xmlns:p14="http://schemas.microsoft.com/office/powerpoint/2010/main" val="2730022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E4A5FD32-E037-3A0C-659B-E85923CD14DE}"/>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1D7A1F74-314F-90DA-AEC8-6FC63A0A353C}"/>
              </a:ext>
            </a:extLst>
          </p:cNvPr>
          <p:cNvGrpSpPr/>
          <p:nvPr/>
        </p:nvGrpSpPr>
        <p:grpSpPr>
          <a:xfrm>
            <a:off x="10016575" y="-1489570"/>
            <a:ext cx="4202211" cy="6003158"/>
            <a:chOff x="0" y="0"/>
            <a:chExt cx="4445000" cy="6350000"/>
          </a:xfrm>
        </p:grpSpPr>
        <p:sp>
          <p:nvSpPr>
            <p:cNvPr id="15" name="Freeform 15">
              <a:extLst>
                <a:ext uri="{FF2B5EF4-FFF2-40B4-BE49-F238E27FC236}">
                  <a16:creationId xmlns:a16="http://schemas.microsoft.com/office/drawing/2014/main" id="{1404F4AF-2F1F-CEC2-9E4B-1277FA67505B}"/>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116C8800-3844-E837-0F4E-6242EB6FBCE3}"/>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F6BCF4BE-133F-7CA0-74B4-C1640C42A2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3CF32D9A-05AB-CA78-BAA3-86732944FAC5}"/>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9ED4563A-A7C4-EFA8-0317-EF0527AC595E}"/>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2" name="TextBox 22">
            <a:extLst>
              <a:ext uri="{FF2B5EF4-FFF2-40B4-BE49-F238E27FC236}">
                <a16:creationId xmlns:a16="http://schemas.microsoft.com/office/drawing/2014/main" id="{8D08BE39-DCBA-A928-97C3-F7E34A3150E8}"/>
              </a:ext>
            </a:extLst>
          </p:cNvPr>
          <p:cNvSpPr txBox="1"/>
          <p:nvPr/>
        </p:nvSpPr>
        <p:spPr>
          <a:xfrm>
            <a:off x="2305167" y="458899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dirty="0">
                <a:solidFill>
                  <a:srgbClr val="051D40"/>
                </a:solidFill>
                <a:latin typeface="Almarai Bold"/>
                <a:ea typeface="Almarai Bold"/>
                <a:cs typeface="Almarai Bold"/>
                <a:sym typeface="Almarai Bold"/>
              </a:rPr>
              <a:t>02</a:t>
            </a:r>
          </a:p>
        </p:txBody>
      </p:sp>
      <p:sp>
        <p:nvSpPr>
          <p:cNvPr id="23" name="TextBox 23">
            <a:extLst>
              <a:ext uri="{FF2B5EF4-FFF2-40B4-BE49-F238E27FC236}">
                <a16:creationId xmlns:a16="http://schemas.microsoft.com/office/drawing/2014/main" id="{D635C5B5-B1FA-CCB2-EB96-3E68957104AF}"/>
              </a:ext>
            </a:extLst>
          </p:cNvPr>
          <p:cNvSpPr txBox="1"/>
          <p:nvPr/>
        </p:nvSpPr>
        <p:spPr>
          <a:xfrm>
            <a:off x="3529705" y="6152764"/>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03</a:t>
            </a:r>
          </a:p>
        </p:txBody>
      </p:sp>
      <p:grpSp>
        <p:nvGrpSpPr>
          <p:cNvPr id="31" name="Group 31">
            <a:extLst>
              <a:ext uri="{FF2B5EF4-FFF2-40B4-BE49-F238E27FC236}">
                <a16:creationId xmlns:a16="http://schemas.microsoft.com/office/drawing/2014/main" id="{9849900A-6666-A505-E330-2BDF080DBE0F}"/>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F9210D71-4C64-5A14-02D8-BD71EDEAC999}"/>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 name="TextBox 1">
            <a:extLst>
              <a:ext uri="{FF2B5EF4-FFF2-40B4-BE49-F238E27FC236}">
                <a16:creationId xmlns:a16="http://schemas.microsoft.com/office/drawing/2014/main" id="{E369A317-FBB1-3C12-941F-50FBEB45ADE9}"/>
              </a:ext>
            </a:extLst>
          </p:cNvPr>
          <p:cNvSpPr txBox="1"/>
          <p:nvPr/>
        </p:nvSpPr>
        <p:spPr>
          <a:xfrm>
            <a:off x="833437" y="1202777"/>
            <a:ext cx="16459200" cy="9602629"/>
          </a:xfrm>
          <a:prstGeom prst="rect">
            <a:avLst/>
          </a:prstGeom>
          <a:noFill/>
        </p:spPr>
        <p:txBody>
          <a:bodyPr wrap="square" rtlCol="0">
            <a:spAutoFit/>
          </a:bodyPr>
          <a:lstStyle/>
          <a:p>
            <a:r>
              <a:rPr lang="en-US" sz="2400" b="1" u="sng" dirty="0">
                <a:solidFill>
                  <a:schemeClr val="bg1"/>
                </a:solidFill>
                <a:latin typeface="Times New Roman" panose="02020603050405020304" pitchFamily="18" charset="0"/>
                <a:cs typeface="Times New Roman" panose="02020603050405020304" pitchFamily="18" charset="0"/>
              </a:rPr>
              <a:t>Data Collection</a:t>
            </a:r>
          </a:p>
          <a:p>
            <a:r>
              <a:rPr lang="en-US" sz="2400" dirty="0">
                <a:solidFill>
                  <a:schemeClr val="bg1"/>
                </a:solidFill>
                <a:latin typeface="Times New Roman" panose="02020603050405020304" pitchFamily="18" charset="0"/>
                <a:cs typeface="Times New Roman" panose="02020603050405020304" pitchFamily="18" charset="0"/>
              </a:rPr>
              <a:t>The first step of the system is collecting relevant solar and environmental data.</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Solar energy output is highly dependent on changing weather conditions. Therefore, collecting accurate historical and environmental data is essential to build a reliable forecasting system.</a:t>
            </a:r>
          </a:p>
          <a:p>
            <a:r>
              <a:rPr lang="en-US" sz="2400" dirty="0">
                <a:solidFill>
                  <a:schemeClr val="bg1"/>
                </a:solidFill>
                <a:latin typeface="Times New Roman" panose="02020603050405020304" pitchFamily="18" charset="0"/>
                <a:cs typeface="Times New Roman" panose="02020603050405020304" pitchFamily="18" charset="0"/>
              </a:rPr>
              <a:t>The system is designed to operate using standard datasets without requiring expensive hardware sensors or imaging systems.</a:t>
            </a:r>
          </a:p>
          <a:p>
            <a:endParaRPr lang="en-IN" sz="2400" dirty="0">
              <a:solidFill>
                <a:schemeClr val="bg1"/>
              </a:solidFill>
              <a:latin typeface="Times New Roman" panose="02020603050405020304" pitchFamily="18" charset="0"/>
              <a:cs typeface="Times New Roman" panose="02020603050405020304" pitchFamily="18" charset="0"/>
            </a:endParaRPr>
          </a:p>
          <a:p>
            <a:r>
              <a:rPr lang="en-US" sz="2400" b="1" u="sng" dirty="0">
                <a:solidFill>
                  <a:schemeClr val="bg1"/>
                </a:solidFill>
                <a:latin typeface="Times New Roman" panose="02020603050405020304" pitchFamily="18" charset="0"/>
                <a:cs typeface="Times New Roman" panose="02020603050405020304" pitchFamily="18" charset="0"/>
              </a:rPr>
              <a:t>Data Preprocessing</a:t>
            </a:r>
          </a:p>
          <a:p>
            <a:r>
              <a:rPr lang="en-US" sz="2400" dirty="0">
                <a:solidFill>
                  <a:schemeClr val="bg1"/>
                </a:solidFill>
                <a:latin typeface="Times New Roman" panose="02020603050405020304" pitchFamily="18" charset="0"/>
                <a:cs typeface="Times New Roman" panose="02020603050405020304" pitchFamily="18" charset="0"/>
              </a:rPr>
              <a:t>Raw solar data often contains noise, missing values, and sudden fluctuations caused by cloud movement or atmospheric disturbances.</a:t>
            </a:r>
          </a:p>
          <a:p>
            <a:r>
              <a:rPr lang="en-US" sz="2400" dirty="0">
                <a:solidFill>
                  <a:schemeClr val="bg1"/>
                </a:solidFill>
                <a:latin typeface="Times New Roman" panose="02020603050405020304" pitchFamily="18" charset="0"/>
                <a:cs typeface="Times New Roman" panose="02020603050405020304" pitchFamily="18" charset="0"/>
              </a:rPr>
              <a:t>This step ensures that the forecasting models receive stable and meaningful input data, improving overall prediction accuracy.</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u="sng" dirty="0">
                <a:solidFill>
                  <a:schemeClr val="bg1"/>
                </a:solidFill>
                <a:latin typeface="Times New Roman" panose="02020603050405020304" pitchFamily="18" charset="0"/>
                <a:cs typeface="Times New Roman" panose="02020603050405020304" pitchFamily="18" charset="0"/>
              </a:rPr>
              <a:t>Feature Engineering</a:t>
            </a:r>
          </a:p>
          <a:p>
            <a:r>
              <a:rPr lang="en-US" sz="2400" dirty="0">
                <a:solidFill>
                  <a:schemeClr val="bg1"/>
                </a:solidFill>
                <a:latin typeface="Times New Roman" panose="02020603050405020304" pitchFamily="18" charset="0"/>
                <a:cs typeface="Times New Roman" panose="02020603050405020304" pitchFamily="18" charset="0"/>
              </a:rPr>
              <a:t>Instead of directly using raw irradiance values, the system generates additional derived features that help understand solar behavior patterns over time.</a:t>
            </a:r>
          </a:p>
          <a:p>
            <a:r>
              <a:rPr lang="en-US" sz="2400" dirty="0">
                <a:solidFill>
                  <a:schemeClr val="bg1"/>
                </a:solidFill>
                <a:latin typeface="Times New Roman" panose="02020603050405020304" pitchFamily="18" charset="0"/>
                <a:cs typeface="Times New Roman" panose="02020603050405020304" pitchFamily="18" charset="0"/>
              </a:rPr>
              <a:t>These engineered features allow the system to capture trends, fluctuations, and temporal dependencies in solar energy generation.</a:t>
            </a:r>
          </a:p>
          <a:p>
            <a:r>
              <a:rPr lang="en-US" sz="2400" dirty="0">
                <a:solidFill>
                  <a:schemeClr val="bg1"/>
                </a:solidFill>
                <a:latin typeface="Times New Roman" panose="02020603050405020304" pitchFamily="18" charset="0"/>
                <a:cs typeface="Times New Roman" panose="02020603050405020304" pitchFamily="18" charset="0"/>
              </a:rPr>
              <a:t>This step transforms raw data into behavior-aware indicators, making the forecasting process more intelligent.</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u="sng" dirty="0" err="1">
                <a:solidFill>
                  <a:schemeClr val="bg1"/>
                </a:solidFill>
                <a:latin typeface="Times New Roman" panose="02020603050405020304" pitchFamily="18" charset="0"/>
                <a:cs typeface="Times New Roman" panose="02020603050405020304" pitchFamily="18" charset="0"/>
              </a:rPr>
              <a:t>Behaviour</a:t>
            </a:r>
            <a:r>
              <a:rPr lang="en-US" sz="2400" b="1" u="sng" dirty="0">
                <a:solidFill>
                  <a:schemeClr val="bg1"/>
                </a:solidFill>
                <a:latin typeface="Times New Roman" panose="02020603050405020304" pitchFamily="18" charset="0"/>
                <a:cs typeface="Times New Roman" panose="02020603050405020304" pitchFamily="18" charset="0"/>
              </a:rPr>
              <a:t>-Based Clustering</a:t>
            </a:r>
          </a:p>
          <a:p>
            <a:r>
              <a:rPr lang="en-US" sz="2400" dirty="0">
                <a:solidFill>
                  <a:schemeClr val="bg1"/>
                </a:solidFill>
                <a:latin typeface="Times New Roman" panose="02020603050405020304" pitchFamily="18" charset="0"/>
                <a:cs typeface="Times New Roman" panose="02020603050405020304" pitchFamily="18" charset="0"/>
              </a:rPr>
              <a:t>After feature extraction, K-Means clustering is applied to classify solar behavior into three main weather regimes:</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Sunny</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Intermittent-Cloud</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Overcast</a:t>
            </a:r>
          </a:p>
          <a:p>
            <a:endParaRPr lang="en-US" sz="2400" dirty="0">
              <a:solidFill>
                <a:schemeClr val="bg1"/>
              </a:solidFill>
            </a:endParaRPr>
          </a:p>
          <a:p>
            <a:endParaRPr lang="en-US" sz="2400" dirty="0">
              <a:solidFill>
                <a:schemeClr val="bg1"/>
              </a:solidFill>
            </a:endParaRPr>
          </a:p>
          <a:p>
            <a:endParaRPr lang="en-US" sz="2400" dirty="0">
              <a:solidFill>
                <a:schemeClr val="bg1"/>
              </a:solidFill>
            </a:endParaRPr>
          </a:p>
          <a:p>
            <a:endParaRPr lang="en-IN" dirty="0"/>
          </a:p>
        </p:txBody>
      </p:sp>
      <p:sp>
        <p:nvSpPr>
          <p:cNvPr id="4" name="TextBox 3">
            <a:extLst>
              <a:ext uri="{FF2B5EF4-FFF2-40B4-BE49-F238E27FC236}">
                <a16:creationId xmlns:a16="http://schemas.microsoft.com/office/drawing/2014/main" id="{1F1D7DF4-59E8-D062-BA0E-3F1B5A6E6EEC}"/>
              </a:ext>
            </a:extLst>
          </p:cNvPr>
          <p:cNvSpPr txBox="1"/>
          <p:nvPr/>
        </p:nvSpPr>
        <p:spPr>
          <a:xfrm>
            <a:off x="833437" y="298083"/>
            <a:ext cx="9677399" cy="646331"/>
          </a:xfrm>
          <a:prstGeom prst="rect">
            <a:avLst/>
          </a:prstGeom>
          <a:noFill/>
        </p:spPr>
        <p:txBody>
          <a:bodyPr wrap="square" rtlCol="0">
            <a:spAutoFit/>
          </a:bodyPr>
          <a:lstStyle/>
          <a:p>
            <a:r>
              <a:rPr lang="en-IN" sz="3600" b="1" u="sng" dirty="0">
                <a:solidFill>
                  <a:schemeClr val="bg1"/>
                </a:solidFill>
                <a:latin typeface="Times New Roman" panose="02020603050405020304" pitchFamily="18" charset="0"/>
                <a:cs typeface="Times New Roman" panose="02020603050405020304" pitchFamily="18" charset="0"/>
              </a:rPr>
              <a:t>Methodology (detailed </a:t>
            </a:r>
            <a:r>
              <a:rPr lang="en-IN" sz="3600" b="1" u="sng" dirty="0" err="1">
                <a:solidFill>
                  <a:schemeClr val="bg1"/>
                </a:solidFill>
                <a:latin typeface="Times New Roman" panose="02020603050405020304" pitchFamily="18" charset="0"/>
                <a:cs typeface="Times New Roman" panose="02020603050405020304" pitchFamily="18" charset="0"/>
              </a:rPr>
              <a:t>explanantion</a:t>
            </a:r>
            <a:r>
              <a:rPr lang="en-IN" sz="3600" b="1" u="sng" dirty="0">
                <a:solidFill>
                  <a:schemeClr val="bg1"/>
                </a:solidFill>
                <a:latin typeface="Times New Roman" panose="02020603050405020304" pitchFamily="18" charset="0"/>
                <a:cs typeface="Times New Roman" panose="02020603050405020304" pitchFamily="18" charset="0"/>
              </a:rPr>
              <a:t>)</a:t>
            </a:r>
            <a:endParaRPr lang="en-IN" sz="36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5791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028D24F3-5100-B04C-6DF3-115A02DDA699}"/>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045058A6-4FD8-7B3D-777E-9C5E10A5CD57}"/>
              </a:ext>
            </a:extLst>
          </p:cNvPr>
          <p:cNvGrpSpPr/>
          <p:nvPr/>
        </p:nvGrpSpPr>
        <p:grpSpPr>
          <a:xfrm>
            <a:off x="10016575" y="-1489570"/>
            <a:ext cx="4202211" cy="6003158"/>
            <a:chOff x="0" y="0"/>
            <a:chExt cx="4445000" cy="6350000"/>
          </a:xfrm>
        </p:grpSpPr>
        <p:sp>
          <p:nvSpPr>
            <p:cNvPr id="15" name="Freeform 15">
              <a:extLst>
                <a:ext uri="{FF2B5EF4-FFF2-40B4-BE49-F238E27FC236}">
                  <a16:creationId xmlns:a16="http://schemas.microsoft.com/office/drawing/2014/main" id="{842BF88B-4649-EC75-F442-24FB3B13341D}"/>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0D860C38-A9DC-1822-1A5E-9CFEA945140E}"/>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C5E86E42-B2D5-17B8-6096-DC395C12593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E612467E-06FD-9C6C-3CA3-9B36E7FE98A7}"/>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7BA2361E-8F4F-6FE1-D6FA-E632608D9D84}"/>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2" name="TextBox 22">
            <a:extLst>
              <a:ext uri="{FF2B5EF4-FFF2-40B4-BE49-F238E27FC236}">
                <a16:creationId xmlns:a16="http://schemas.microsoft.com/office/drawing/2014/main" id="{0769493F-02C1-F4A5-A3A6-5ED5DB984909}"/>
              </a:ext>
            </a:extLst>
          </p:cNvPr>
          <p:cNvSpPr txBox="1"/>
          <p:nvPr/>
        </p:nvSpPr>
        <p:spPr>
          <a:xfrm>
            <a:off x="2305167" y="458899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dirty="0">
                <a:solidFill>
                  <a:srgbClr val="051D40"/>
                </a:solidFill>
                <a:latin typeface="Almarai Bold"/>
                <a:ea typeface="Almarai Bold"/>
                <a:cs typeface="Almarai Bold"/>
                <a:sym typeface="Almarai Bold"/>
              </a:rPr>
              <a:t>02</a:t>
            </a:r>
          </a:p>
        </p:txBody>
      </p:sp>
      <p:sp>
        <p:nvSpPr>
          <p:cNvPr id="23" name="TextBox 23">
            <a:extLst>
              <a:ext uri="{FF2B5EF4-FFF2-40B4-BE49-F238E27FC236}">
                <a16:creationId xmlns:a16="http://schemas.microsoft.com/office/drawing/2014/main" id="{D83824CD-4670-36E0-5579-652AE75195E1}"/>
              </a:ext>
            </a:extLst>
          </p:cNvPr>
          <p:cNvSpPr txBox="1"/>
          <p:nvPr/>
        </p:nvSpPr>
        <p:spPr>
          <a:xfrm>
            <a:off x="3529705" y="6152764"/>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03</a:t>
            </a:r>
          </a:p>
        </p:txBody>
      </p:sp>
      <p:grpSp>
        <p:nvGrpSpPr>
          <p:cNvPr id="31" name="Group 31">
            <a:extLst>
              <a:ext uri="{FF2B5EF4-FFF2-40B4-BE49-F238E27FC236}">
                <a16:creationId xmlns:a16="http://schemas.microsoft.com/office/drawing/2014/main" id="{BE655BAA-7406-068E-7A16-2093E2F28B3D}"/>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C1D86341-E24A-9FD1-A3A1-35AEA6B75E27}"/>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 name="TextBox 1">
            <a:extLst>
              <a:ext uri="{FF2B5EF4-FFF2-40B4-BE49-F238E27FC236}">
                <a16:creationId xmlns:a16="http://schemas.microsoft.com/office/drawing/2014/main" id="{4A242A03-D5C7-0329-15EA-F8D21FFF1448}"/>
              </a:ext>
            </a:extLst>
          </p:cNvPr>
          <p:cNvSpPr txBox="1"/>
          <p:nvPr/>
        </p:nvSpPr>
        <p:spPr>
          <a:xfrm>
            <a:off x="519112" y="529487"/>
            <a:ext cx="16866915" cy="8679299"/>
          </a:xfrm>
          <a:prstGeom prst="rect">
            <a:avLst/>
          </a:prstGeom>
          <a:noFill/>
        </p:spPr>
        <p:txBody>
          <a:bodyPr wrap="square" rtlCol="0">
            <a:spAutoFit/>
          </a:bodyPr>
          <a:lstStyle/>
          <a:p>
            <a:endParaRPr lang="en-US" dirty="0"/>
          </a:p>
          <a:p>
            <a:r>
              <a:rPr lang="en-US" sz="2400" dirty="0">
                <a:solidFill>
                  <a:schemeClr val="bg1"/>
                </a:solidFill>
                <a:latin typeface="Times New Roman" panose="02020603050405020304" pitchFamily="18" charset="0"/>
                <a:cs typeface="Times New Roman" panose="02020603050405020304" pitchFamily="18" charset="0"/>
              </a:rPr>
              <a:t>Different weather conditions show different statistical characteristics.</a:t>
            </a:r>
          </a:p>
          <a:p>
            <a:r>
              <a:rPr lang="en-US" sz="2400" dirty="0">
                <a:solidFill>
                  <a:schemeClr val="bg1"/>
                </a:solidFill>
                <a:latin typeface="Times New Roman" panose="02020603050405020304" pitchFamily="18" charset="0"/>
                <a:cs typeface="Times New Roman" panose="02020603050405020304" pitchFamily="18" charset="0"/>
              </a:rPr>
              <a:t>Instead of using one single forecasting model for all situations, the system first identifies the current solar behavior pattern.</a:t>
            </a:r>
          </a:p>
          <a:p>
            <a:r>
              <a:rPr lang="en-US" sz="2400" dirty="0">
                <a:solidFill>
                  <a:schemeClr val="bg1"/>
                </a:solidFill>
                <a:latin typeface="Times New Roman" panose="02020603050405020304" pitchFamily="18" charset="0"/>
                <a:cs typeface="Times New Roman" panose="02020603050405020304" pitchFamily="18" charset="0"/>
              </a:rPr>
              <a:t>This clustering step is a core innovation of the system because it allows the forecasting process to adapt according to weather conditions.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u="sng" dirty="0">
                <a:solidFill>
                  <a:schemeClr val="bg1"/>
                </a:solidFill>
                <a:latin typeface="Times New Roman" panose="02020603050405020304" pitchFamily="18" charset="0"/>
                <a:cs typeface="Times New Roman" panose="02020603050405020304" pitchFamily="18" charset="0"/>
              </a:rPr>
              <a:t>Cluster-Specific Hybrid Model Training</a:t>
            </a:r>
          </a:p>
          <a:p>
            <a:r>
              <a:rPr lang="en-US" sz="2400" dirty="0">
                <a:solidFill>
                  <a:schemeClr val="bg1"/>
                </a:solidFill>
                <a:latin typeface="Times New Roman" panose="02020603050405020304" pitchFamily="18" charset="0"/>
                <a:cs typeface="Times New Roman" panose="02020603050405020304" pitchFamily="18" charset="0"/>
              </a:rPr>
              <a:t>Once the data is grouped into behavior clusters, separate lightweight machine learning models are trained for each cluster.</a:t>
            </a:r>
          </a:p>
          <a:p>
            <a:r>
              <a:rPr lang="en-US" sz="2400" dirty="0">
                <a:solidFill>
                  <a:schemeClr val="bg1"/>
                </a:solidFill>
                <a:latin typeface="Times New Roman" panose="02020603050405020304" pitchFamily="18" charset="0"/>
                <a:cs typeface="Times New Roman" panose="02020603050405020304" pitchFamily="18" charset="0"/>
              </a:rPr>
              <a:t>By assigning a specialized model to each weather regime, the system ensures better prediction performance compared to using a single universal model.</a:t>
            </a:r>
          </a:p>
          <a:p>
            <a:r>
              <a:rPr lang="en-US" sz="2400" dirty="0">
                <a:solidFill>
                  <a:schemeClr val="bg1"/>
                </a:solidFill>
                <a:latin typeface="Times New Roman" panose="02020603050405020304" pitchFamily="18" charset="0"/>
                <a:cs typeface="Times New Roman" panose="02020603050405020304" pitchFamily="18" charset="0"/>
              </a:rPr>
              <a:t>This hybrid approach balances accuracy and computational efficiency.</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u="sng"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Real-Time Forecasting and Adaptive Error Correction</a:t>
            </a:r>
          </a:p>
          <a:p>
            <a:r>
              <a:rPr lang="en-US" sz="2400" dirty="0">
                <a:solidFill>
                  <a:schemeClr val="bg1"/>
                </a:solidFill>
                <a:latin typeface="Times New Roman" panose="02020603050405020304" pitchFamily="18" charset="0"/>
                <a:cs typeface="Times New Roman" panose="02020603050405020304" pitchFamily="18" charset="0"/>
              </a:rPr>
              <a:t>In the final stage, the system operates in near real-time.</a:t>
            </a:r>
          </a:p>
          <a:p>
            <a:r>
              <a:rPr lang="en-US" sz="2400" dirty="0">
                <a:solidFill>
                  <a:schemeClr val="bg1"/>
                </a:solidFill>
                <a:latin typeface="Times New Roman" panose="02020603050405020304" pitchFamily="18" charset="0"/>
                <a:cs typeface="Times New Roman" panose="02020603050405020304" pitchFamily="18" charset="0"/>
              </a:rPr>
              <a:t>After prediction, an adaptive error-correction mechanism compares predicted values with actual observations and makes minor adjustments if needed.</a:t>
            </a:r>
          </a:p>
          <a:p>
            <a:r>
              <a:rPr lang="en-US" sz="2400" dirty="0">
                <a:solidFill>
                  <a:schemeClr val="bg1"/>
                </a:solidFill>
                <a:latin typeface="Times New Roman" panose="02020603050405020304" pitchFamily="18" charset="0"/>
                <a:cs typeface="Times New Roman" panose="02020603050405020304" pitchFamily="18" charset="0"/>
              </a:rPr>
              <a:t>Additionally, selective retraining is applied only to the underperforming cluster model instead of retraining the entire system.</a:t>
            </a:r>
          </a:p>
          <a:p>
            <a:r>
              <a:rPr lang="en-US" sz="2400" dirty="0">
                <a:solidFill>
                  <a:schemeClr val="bg1"/>
                </a:solidFill>
                <a:latin typeface="Times New Roman" panose="02020603050405020304" pitchFamily="18" charset="0"/>
                <a:cs typeface="Times New Roman" panose="02020603050405020304" pitchFamily="18" charset="0"/>
              </a:rPr>
              <a:t>This reduces computational cost and maintains long-term model efficiency.</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dirty="0">
                <a:solidFill>
                  <a:schemeClr val="bg1"/>
                </a:solidFill>
                <a:latin typeface="Times New Roman" panose="02020603050405020304" pitchFamily="18" charset="0"/>
                <a:cs typeface="Times New Roman" panose="02020603050405020304" pitchFamily="18" charset="0"/>
              </a:rPr>
              <a:t>In conclusion, the methodology converts solar forecasting from a static prediction problem into an adaptive, behavior-aware intelligent system that improves accuracy while maintaining computational efficiency.</a:t>
            </a:r>
          </a:p>
          <a:p>
            <a:endParaRPr lang="en-US" sz="2400" dirty="0">
              <a:solidFill>
                <a:schemeClr val="bg1"/>
              </a:solidFill>
            </a:endParaRPr>
          </a:p>
          <a:p>
            <a:br>
              <a:rPr lang="en-US" dirty="0"/>
            </a:br>
            <a:endParaRPr lang="en-IN" dirty="0"/>
          </a:p>
        </p:txBody>
      </p:sp>
    </p:spTree>
    <p:extLst>
      <p:ext uri="{BB962C8B-B14F-4D97-AF65-F5344CB8AC3E}">
        <p14:creationId xmlns:p14="http://schemas.microsoft.com/office/powerpoint/2010/main" val="1539199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0F2AEBB5-1C81-AD38-209A-933EAF342E2C}"/>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C5328F7F-AE2B-4DCA-F1DA-79C01E83A6CC}"/>
              </a:ext>
            </a:extLst>
          </p:cNvPr>
          <p:cNvGrpSpPr/>
          <p:nvPr/>
        </p:nvGrpSpPr>
        <p:grpSpPr>
          <a:xfrm>
            <a:off x="10016575" y="-1489570"/>
            <a:ext cx="4202211" cy="6003158"/>
            <a:chOff x="0" y="0"/>
            <a:chExt cx="4445000" cy="6350000"/>
          </a:xfrm>
        </p:grpSpPr>
        <p:sp>
          <p:nvSpPr>
            <p:cNvPr id="15" name="Freeform 15">
              <a:extLst>
                <a:ext uri="{FF2B5EF4-FFF2-40B4-BE49-F238E27FC236}">
                  <a16:creationId xmlns:a16="http://schemas.microsoft.com/office/drawing/2014/main" id="{3594B445-58F5-C988-B5A4-5E6A38684013}"/>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B6D5657E-0890-DDF7-2007-FE963D21E99C}"/>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6A1ADB11-B200-3378-4063-8815EB0127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944D73A6-EA30-62F8-74CE-939D060131FF}"/>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6FB31A2E-A50E-73B8-46B3-6FA9BEA602C0}"/>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2" name="TextBox 22">
            <a:extLst>
              <a:ext uri="{FF2B5EF4-FFF2-40B4-BE49-F238E27FC236}">
                <a16:creationId xmlns:a16="http://schemas.microsoft.com/office/drawing/2014/main" id="{C8AD92C3-5DD2-A5E8-A660-355F74FCEC48}"/>
              </a:ext>
            </a:extLst>
          </p:cNvPr>
          <p:cNvSpPr txBox="1"/>
          <p:nvPr/>
        </p:nvSpPr>
        <p:spPr>
          <a:xfrm>
            <a:off x="2305167" y="458899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dirty="0">
                <a:solidFill>
                  <a:srgbClr val="051D40"/>
                </a:solidFill>
                <a:latin typeface="Almarai Bold"/>
                <a:ea typeface="Almarai Bold"/>
                <a:cs typeface="Almarai Bold"/>
                <a:sym typeface="Almarai Bold"/>
              </a:rPr>
              <a:t>02</a:t>
            </a:r>
          </a:p>
        </p:txBody>
      </p:sp>
      <p:grpSp>
        <p:nvGrpSpPr>
          <p:cNvPr id="31" name="Group 31">
            <a:extLst>
              <a:ext uri="{FF2B5EF4-FFF2-40B4-BE49-F238E27FC236}">
                <a16:creationId xmlns:a16="http://schemas.microsoft.com/office/drawing/2014/main" id="{217ABEA3-28A5-120E-AFBC-2816543C5EF3}"/>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0E691A5A-5FC9-2D33-FD25-7067C660A9F1}"/>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pic>
        <p:nvPicPr>
          <p:cNvPr id="2" name="Picture 1">
            <a:extLst>
              <a:ext uri="{FF2B5EF4-FFF2-40B4-BE49-F238E27FC236}">
                <a16:creationId xmlns:a16="http://schemas.microsoft.com/office/drawing/2014/main" id="{C9ED0D42-B5A5-464E-6FE4-AB5906031E0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28760" y="182195"/>
            <a:ext cx="7924800" cy="8824961"/>
          </a:xfrm>
          <a:prstGeom prst="rect">
            <a:avLst/>
          </a:prstGeom>
          <a:noFill/>
          <a:ln>
            <a:noFill/>
          </a:ln>
        </p:spPr>
      </p:pic>
      <p:sp>
        <p:nvSpPr>
          <p:cNvPr id="5" name="TextBox 4">
            <a:extLst>
              <a:ext uri="{FF2B5EF4-FFF2-40B4-BE49-F238E27FC236}">
                <a16:creationId xmlns:a16="http://schemas.microsoft.com/office/drawing/2014/main" id="{71E9D420-71D8-2829-326E-F38F43BEFA72}"/>
              </a:ext>
            </a:extLst>
          </p:cNvPr>
          <p:cNvSpPr txBox="1"/>
          <p:nvPr/>
        </p:nvSpPr>
        <p:spPr>
          <a:xfrm>
            <a:off x="1000124" y="876300"/>
            <a:ext cx="7696200" cy="4955203"/>
          </a:xfrm>
          <a:prstGeom prst="rect">
            <a:avLst/>
          </a:prstGeom>
          <a:noFill/>
        </p:spPr>
        <p:txBody>
          <a:bodyPr wrap="square" rtlCol="0">
            <a:spAutoFit/>
          </a:bodyPr>
          <a:lstStyle/>
          <a:p>
            <a:r>
              <a:rPr lang="en-IN" sz="2800" b="1" u="sng" dirty="0">
                <a:solidFill>
                  <a:schemeClr val="bg1"/>
                </a:solidFill>
                <a:latin typeface="Times New Roman" panose="02020603050405020304" pitchFamily="18" charset="0"/>
                <a:cs typeface="Times New Roman" panose="02020603050405020304" pitchFamily="18" charset="0"/>
              </a:rPr>
              <a:t>Detailed system architecture:</a:t>
            </a:r>
          </a:p>
          <a:p>
            <a:endParaRPr lang="en-IN" sz="2400" dirty="0">
              <a:solidFill>
                <a:schemeClr val="bg1"/>
              </a:solidFill>
              <a:latin typeface="Times New Roman" panose="02020603050405020304" pitchFamily="18" charset="0"/>
              <a:cs typeface="Times New Roman" panose="02020603050405020304" pitchFamily="18" charset="0"/>
            </a:endParaRPr>
          </a:p>
          <a:p>
            <a:endParaRPr lang="en-IN" sz="2400" dirty="0">
              <a:solidFill>
                <a:schemeClr val="bg1"/>
              </a:solidFill>
              <a:latin typeface="Times New Roman" panose="02020603050405020304" pitchFamily="18" charset="0"/>
              <a:cs typeface="Times New Roman" panose="02020603050405020304" pitchFamily="18" charset="0"/>
            </a:endParaRPr>
          </a:p>
          <a:p>
            <a:endParaRPr lang="en-IN"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This diagram represents the complete working flow of the proposed adaptive forecasting system.</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The process begins with data acquisition and preprocessing, followed by </a:t>
            </a:r>
            <a:r>
              <a:rPr lang="en-US" sz="2400" dirty="0" err="1">
                <a:solidFill>
                  <a:schemeClr val="bg1"/>
                </a:solidFill>
                <a:latin typeface="Times New Roman" panose="02020603050405020304" pitchFamily="18" charset="0"/>
                <a:cs typeface="Times New Roman" panose="02020603050405020304" pitchFamily="18" charset="0"/>
              </a:rPr>
              <a:t>behaviour</a:t>
            </a:r>
            <a:r>
              <a:rPr lang="en-US" sz="2400" dirty="0">
                <a:solidFill>
                  <a:schemeClr val="bg1"/>
                </a:solidFill>
                <a:latin typeface="Times New Roman" panose="02020603050405020304" pitchFamily="18" charset="0"/>
                <a:cs typeface="Times New Roman" panose="02020603050405020304" pitchFamily="18" charset="0"/>
              </a:rPr>
              <a:t>-based clustering.</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Based on the detected solar condition, a specialized model is selected for prediction.</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The system then applies adaptive error correction and selectively retrains only the underperforming model to maintain efficiency.</a:t>
            </a:r>
            <a:r>
              <a:rPr lang="en-IN" sz="2400" dirty="0">
                <a:solidFill>
                  <a:schemeClr val="bg1"/>
                </a:solidFill>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3D8E9C42-8C79-3F80-9E36-E21008138AF5}"/>
              </a:ext>
            </a:extLst>
          </p:cNvPr>
          <p:cNvSpPr txBox="1"/>
          <p:nvPr/>
        </p:nvSpPr>
        <p:spPr>
          <a:xfrm>
            <a:off x="9144000" y="9256726"/>
            <a:ext cx="7924800" cy="984885"/>
          </a:xfrm>
          <a:prstGeom prst="rect">
            <a:avLst/>
          </a:prstGeom>
          <a:noFill/>
        </p:spPr>
        <p:txBody>
          <a:bodyPr wrap="square" rtlCol="0">
            <a:spAutoFit/>
          </a:bodyPr>
          <a:lstStyle/>
          <a:p>
            <a:r>
              <a:rPr lang="en-IN" sz="2000" b="1" dirty="0">
                <a:solidFill>
                  <a:schemeClr val="bg1"/>
                </a:solidFill>
              </a:rPr>
              <a:t>Figure 3 :  Detailed analysis of flowchart of Hybrid AI-Based Adaptive Weather-Cluster Solar Forecasting System.</a:t>
            </a:r>
          </a:p>
          <a:p>
            <a:endParaRPr lang="en-IN" dirty="0"/>
          </a:p>
        </p:txBody>
      </p:sp>
    </p:spTree>
    <p:extLst>
      <p:ext uri="{BB962C8B-B14F-4D97-AF65-F5344CB8AC3E}">
        <p14:creationId xmlns:p14="http://schemas.microsoft.com/office/powerpoint/2010/main" val="755015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67C499EE-4D28-042B-6774-DA25019E90D8}"/>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10D4602A-2E7B-F446-FB3D-E25D11210348}"/>
              </a:ext>
            </a:extLst>
          </p:cNvPr>
          <p:cNvGrpSpPr/>
          <p:nvPr/>
        </p:nvGrpSpPr>
        <p:grpSpPr>
          <a:xfrm>
            <a:off x="10460036" y="-934693"/>
            <a:ext cx="4202211" cy="6003158"/>
            <a:chOff x="0" y="0"/>
            <a:chExt cx="4445000" cy="6350000"/>
          </a:xfrm>
        </p:grpSpPr>
        <p:sp>
          <p:nvSpPr>
            <p:cNvPr id="15" name="Freeform 15">
              <a:extLst>
                <a:ext uri="{FF2B5EF4-FFF2-40B4-BE49-F238E27FC236}">
                  <a16:creationId xmlns:a16="http://schemas.microsoft.com/office/drawing/2014/main" id="{20507323-3A5D-FAD1-922F-C205424B3F86}"/>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9FF7636C-A8CC-BC5E-5661-CA52D6D62C10}"/>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EACBCDB4-6786-8780-F7BD-E5D819B964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253FE683-6C8A-420A-B75B-DDF8D41E9955}"/>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2D79E231-DAC1-3EAC-3092-32C94B4023E8}"/>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616ECE20-4E3E-1AFF-6E0F-D95573BF00AC}"/>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C503A5A0-5D07-2CD0-0132-AF16170FEF67}"/>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DA6443BA-759C-13C7-FE55-AEDED12D9DD1}"/>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B96C0527-30B4-AD71-EDFF-608D59235E34}"/>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 name="TextBox 1">
            <a:extLst>
              <a:ext uri="{FF2B5EF4-FFF2-40B4-BE49-F238E27FC236}">
                <a16:creationId xmlns:a16="http://schemas.microsoft.com/office/drawing/2014/main" id="{24AB0AB5-5266-4135-A22D-A54F1A07464E}"/>
              </a:ext>
            </a:extLst>
          </p:cNvPr>
          <p:cNvSpPr txBox="1"/>
          <p:nvPr/>
        </p:nvSpPr>
        <p:spPr>
          <a:xfrm>
            <a:off x="1307123" y="1550109"/>
            <a:ext cx="12644577" cy="1446550"/>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Our proposed solution focuses on delivering a highly accurate, solar-centric forecasting system:</a:t>
            </a:r>
          </a:p>
          <a:p>
            <a:endParaRPr lang="en-US" sz="3200" dirty="0">
              <a:solidFill>
                <a:schemeClr val="bg1"/>
              </a:solidFill>
            </a:endParaRPr>
          </a:p>
        </p:txBody>
      </p:sp>
      <p:sp>
        <p:nvSpPr>
          <p:cNvPr id="3" name="TextBox 2">
            <a:extLst>
              <a:ext uri="{FF2B5EF4-FFF2-40B4-BE49-F238E27FC236}">
                <a16:creationId xmlns:a16="http://schemas.microsoft.com/office/drawing/2014/main" id="{9E115373-E277-4814-062D-65420435C47D}"/>
              </a:ext>
            </a:extLst>
          </p:cNvPr>
          <p:cNvSpPr txBox="1"/>
          <p:nvPr/>
        </p:nvSpPr>
        <p:spPr>
          <a:xfrm>
            <a:off x="1307123" y="371780"/>
            <a:ext cx="6248400" cy="830997"/>
          </a:xfrm>
          <a:prstGeom prst="rect">
            <a:avLst/>
          </a:prstGeom>
          <a:noFill/>
        </p:spPr>
        <p:txBody>
          <a:bodyPr wrap="square" rtlCol="0">
            <a:spAutoFit/>
          </a:bodyPr>
          <a:lstStyle/>
          <a:p>
            <a:r>
              <a:rPr lang="en-IN" sz="4800" b="1" u="sng" dirty="0">
                <a:solidFill>
                  <a:schemeClr val="bg1"/>
                </a:solidFill>
                <a:latin typeface="Times New Roman" panose="02020603050405020304" pitchFamily="18" charset="0"/>
                <a:cs typeface="Times New Roman" panose="02020603050405020304" pitchFamily="18" charset="0"/>
              </a:rPr>
              <a:t>Proposed Solution</a:t>
            </a:r>
          </a:p>
        </p:txBody>
      </p:sp>
      <p:sp>
        <p:nvSpPr>
          <p:cNvPr id="7" name="TextBox 6">
            <a:extLst>
              <a:ext uri="{FF2B5EF4-FFF2-40B4-BE49-F238E27FC236}">
                <a16:creationId xmlns:a16="http://schemas.microsoft.com/office/drawing/2014/main" id="{66BDFD9D-B231-A324-9E30-0148ADD3FE4A}"/>
              </a:ext>
            </a:extLst>
          </p:cNvPr>
          <p:cNvSpPr txBox="1"/>
          <p:nvPr/>
        </p:nvSpPr>
        <p:spPr>
          <a:xfrm>
            <a:off x="1376223" y="2705100"/>
            <a:ext cx="15229726" cy="6124754"/>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Develop a solar forecasting system that first identifies the current solar-</a:t>
            </a:r>
            <a:r>
              <a:rPr lang="en-US" altLang="en-US" sz="2800" dirty="0" err="1">
                <a:solidFill>
                  <a:schemeClr val="bg1"/>
                </a:solidFill>
                <a:latin typeface="Times New Roman" panose="02020603050405020304" pitchFamily="18" charset="0"/>
                <a:cs typeface="Times New Roman" panose="02020603050405020304" pitchFamily="18" charset="0"/>
              </a:rPr>
              <a:t>behaviour</a:t>
            </a:r>
            <a:r>
              <a:rPr lang="en-US" altLang="en-US" sz="2800" dirty="0">
                <a:solidFill>
                  <a:schemeClr val="bg1"/>
                </a:solidFill>
                <a:latin typeface="Times New Roman" panose="02020603050405020304" pitchFamily="18" charset="0"/>
                <a:cs typeface="Times New Roman" panose="02020603050405020304" pitchFamily="18" charset="0"/>
              </a:rPr>
              <a:t> pattern (sunny, intermittent-cloud, overcast) using clustering on irradiance variability.</a:t>
            </a:r>
          </a:p>
          <a:p>
            <a:pPr lvl="0" algn="just" eaLnBrk="0" fontAlgn="base" hangingPunct="0">
              <a:spcBef>
                <a:spcPct val="0"/>
              </a:spcBef>
              <a:spcAft>
                <a:spcPct val="0"/>
              </a:spcAft>
              <a:buFontTx/>
              <a:buChar char="•"/>
            </a:pPr>
            <a:endParaRPr lang="en-US" altLang="en-US" sz="2800" dirty="0">
              <a:solidFill>
                <a:schemeClr val="bg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Train small, specialized ML models for each cluster so the model that is best suited for the current solar condition is automatically selected.</a:t>
            </a:r>
          </a:p>
          <a:p>
            <a:pPr lvl="0" algn="just" eaLnBrk="0" fontAlgn="base" hangingPunct="0">
              <a:spcBef>
                <a:spcPct val="0"/>
              </a:spcBef>
              <a:spcAft>
                <a:spcPct val="0"/>
              </a:spcAft>
              <a:buFontTx/>
              <a:buChar char="•"/>
            </a:pPr>
            <a:endParaRPr lang="en-US" altLang="en-US" sz="2800" dirty="0">
              <a:solidFill>
                <a:schemeClr val="bg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Perform real-time cluster detection so that the system dynamically switches to the most appropriate forecasting model based on the latest weather behavior.</a:t>
            </a:r>
          </a:p>
          <a:p>
            <a:pPr lvl="0" algn="just" eaLnBrk="0" fontAlgn="base" hangingPunct="0">
              <a:spcBef>
                <a:spcPct val="0"/>
              </a:spcBef>
              <a:spcAft>
                <a:spcPct val="0"/>
              </a:spcAft>
              <a:buFontTx/>
              <a:buChar char="•"/>
            </a:pPr>
            <a:endParaRPr lang="en-US" altLang="en-US" sz="2800" dirty="0">
              <a:solidFill>
                <a:schemeClr val="bg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Implement a lightweight error-correction loop that adapts predictions based on short-term deviations between predicted and actual solar output.</a:t>
            </a:r>
          </a:p>
          <a:p>
            <a:pPr lvl="0" algn="just" eaLnBrk="0" fontAlgn="base" hangingPunct="0">
              <a:spcBef>
                <a:spcPct val="0"/>
              </a:spcBef>
              <a:spcAft>
                <a:spcPct val="0"/>
              </a:spcAft>
              <a:buFontTx/>
              <a:buChar char="•"/>
            </a:pPr>
            <a:endParaRPr lang="en-US" altLang="en-US" sz="2800" dirty="0">
              <a:solidFill>
                <a:schemeClr val="bg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Enable selective retraining only for the cluster that shows performance drift, minimizing computation and keeping the model fresh.</a:t>
            </a:r>
          </a:p>
        </p:txBody>
      </p:sp>
    </p:spTree>
    <p:extLst>
      <p:ext uri="{BB962C8B-B14F-4D97-AF65-F5344CB8AC3E}">
        <p14:creationId xmlns:p14="http://schemas.microsoft.com/office/powerpoint/2010/main" val="4177396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A215C36A-3124-6A06-DDA2-F287DB55C5B7}"/>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CEDEC8CF-14FA-5709-2CD5-6E9C0B49FBF1}"/>
              </a:ext>
            </a:extLst>
          </p:cNvPr>
          <p:cNvGrpSpPr/>
          <p:nvPr/>
        </p:nvGrpSpPr>
        <p:grpSpPr>
          <a:xfrm>
            <a:off x="10460036" y="-934693"/>
            <a:ext cx="4202211" cy="6003158"/>
            <a:chOff x="0" y="0"/>
            <a:chExt cx="4445000" cy="6350000"/>
          </a:xfrm>
        </p:grpSpPr>
        <p:sp>
          <p:nvSpPr>
            <p:cNvPr id="15" name="Freeform 15">
              <a:extLst>
                <a:ext uri="{FF2B5EF4-FFF2-40B4-BE49-F238E27FC236}">
                  <a16:creationId xmlns:a16="http://schemas.microsoft.com/office/drawing/2014/main" id="{2ADAA6CD-458D-8496-FF40-C0405A3808A6}"/>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FCCE195A-1EA2-C923-CF99-B02F76479BA3}"/>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8ECB4BE2-DB16-54F8-7D2F-82A0E2B0CA1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8A09C65E-2265-E16B-83C7-D3005776E42D}"/>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A80A2108-69BB-38D9-8406-991459632EFF}"/>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1ECCAD6F-5331-E4BA-1E6A-6F49FFB371FB}"/>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9EC7BE85-7098-211A-2880-297D17824438}"/>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1B7332D5-98BE-44AF-9C23-74C77B349217}"/>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6A72483F-16FD-5FD3-2DEA-33B44AA4189F}"/>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pic>
        <p:nvPicPr>
          <p:cNvPr id="4" name="Picture 3">
            <a:extLst>
              <a:ext uri="{FF2B5EF4-FFF2-40B4-BE49-F238E27FC236}">
                <a16:creationId xmlns:a16="http://schemas.microsoft.com/office/drawing/2014/main" id="{0322063F-13BF-B6F9-D9E3-BEF784316D92}"/>
              </a:ext>
            </a:extLst>
          </p:cNvPr>
          <p:cNvPicPr>
            <a:picLocks noChangeAspect="1"/>
          </p:cNvPicPr>
          <p:nvPr/>
        </p:nvPicPr>
        <p:blipFill>
          <a:blip r:embed="rId3"/>
          <a:stretch>
            <a:fillRect/>
          </a:stretch>
        </p:blipFill>
        <p:spPr>
          <a:xfrm>
            <a:off x="1273469" y="1384811"/>
            <a:ext cx="16174471" cy="7859250"/>
          </a:xfrm>
          <a:prstGeom prst="rect">
            <a:avLst/>
          </a:prstGeom>
        </p:spPr>
      </p:pic>
      <p:sp>
        <p:nvSpPr>
          <p:cNvPr id="12" name="TextBox 11">
            <a:extLst>
              <a:ext uri="{FF2B5EF4-FFF2-40B4-BE49-F238E27FC236}">
                <a16:creationId xmlns:a16="http://schemas.microsoft.com/office/drawing/2014/main" id="{1BDC89E6-C115-B967-FA8F-72BCA3EC9F62}"/>
              </a:ext>
            </a:extLst>
          </p:cNvPr>
          <p:cNvSpPr txBox="1"/>
          <p:nvPr/>
        </p:nvSpPr>
        <p:spPr>
          <a:xfrm>
            <a:off x="1273468" y="312782"/>
            <a:ext cx="10156531" cy="707886"/>
          </a:xfrm>
          <a:prstGeom prst="rect">
            <a:avLst/>
          </a:prstGeom>
          <a:noFill/>
        </p:spPr>
        <p:txBody>
          <a:bodyPr wrap="square" rtlCol="0">
            <a:spAutoFit/>
          </a:bodyPr>
          <a:lstStyle/>
          <a:p>
            <a:r>
              <a:rPr lang="en-IN" sz="4000" b="1" u="sng" dirty="0">
                <a:solidFill>
                  <a:schemeClr val="bg1"/>
                </a:solidFill>
                <a:latin typeface="Times New Roman" panose="02020603050405020304" pitchFamily="18" charset="0"/>
                <a:cs typeface="Times New Roman" panose="02020603050405020304" pitchFamily="18" charset="0"/>
              </a:rPr>
              <a:t>RESULTS AND IMPLEMENTATION</a:t>
            </a:r>
          </a:p>
        </p:txBody>
      </p:sp>
      <p:sp>
        <p:nvSpPr>
          <p:cNvPr id="2" name="TextBox 1">
            <a:extLst>
              <a:ext uri="{FF2B5EF4-FFF2-40B4-BE49-F238E27FC236}">
                <a16:creationId xmlns:a16="http://schemas.microsoft.com/office/drawing/2014/main" id="{D6ECF3D8-1EFA-4E86-B8A0-A334D86B42D9}"/>
              </a:ext>
            </a:extLst>
          </p:cNvPr>
          <p:cNvSpPr txBox="1"/>
          <p:nvPr/>
        </p:nvSpPr>
        <p:spPr>
          <a:xfrm>
            <a:off x="6019800" y="9426095"/>
            <a:ext cx="15279584" cy="400110"/>
          </a:xfrm>
          <a:prstGeom prst="rect">
            <a:avLst/>
          </a:prstGeom>
          <a:noFill/>
        </p:spPr>
        <p:txBody>
          <a:bodyPr wrap="square" rtlCol="0">
            <a:spAutoFit/>
          </a:bodyPr>
          <a:lstStyle/>
          <a:p>
            <a:r>
              <a:rPr lang="en-IN" sz="2000" b="1" dirty="0">
                <a:solidFill>
                  <a:schemeClr val="bg1"/>
                </a:solidFill>
              </a:rPr>
              <a:t>FIGURE 4 : SYSTEM INTERFACE OVERVIEW : THE FRONT PAGE OF WEBSITE</a:t>
            </a:r>
          </a:p>
        </p:txBody>
      </p:sp>
    </p:spTree>
    <p:extLst>
      <p:ext uri="{BB962C8B-B14F-4D97-AF65-F5344CB8AC3E}">
        <p14:creationId xmlns:p14="http://schemas.microsoft.com/office/powerpoint/2010/main" val="230918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B8EFED2A-8CD3-60C5-A4CD-DE308AF8D1FA}"/>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ABCAD430-ED66-84DF-BB37-0E32FAA9159B}"/>
              </a:ext>
            </a:extLst>
          </p:cNvPr>
          <p:cNvGrpSpPr/>
          <p:nvPr/>
        </p:nvGrpSpPr>
        <p:grpSpPr>
          <a:xfrm>
            <a:off x="10460036" y="-934693"/>
            <a:ext cx="4202211" cy="6003158"/>
            <a:chOff x="0" y="0"/>
            <a:chExt cx="4445000" cy="6350000"/>
          </a:xfrm>
        </p:grpSpPr>
        <p:sp>
          <p:nvSpPr>
            <p:cNvPr id="15" name="Freeform 15">
              <a:extLst>
                <a:ext uri="{FF2B5EF4-FFF2-40B4-BE49-F238E27FC236}">
                  <a16:creationId xmlns:a16="http://schemas.microsoft.com/office/drawing/2014/main" id="{C2E0CD94-EA2C-F2E6-48B3-CCF2BF50A484}"/>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F103C6C5-332F-5686-821D-3F20B733AAE9}"/>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5752852A-4172-9643-B712-D37A5EB976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12040423-AB51-A4F9-7DA8-797375AC3A1B}"/>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2274B374-E705-0164-A157-BADD032354A9}"/>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B876B26B-EB43-D5EC-5AC3-75CEEC6B46D2}"/>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07BA16AF-C272-78D2-E83C-EB1E9A6FB822}"/>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94999F24-82DF-7BBB-5EE3-3F8E600AE363}"/>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A702CF44-2F15-7FE8-6601-4713F547A9EF}"/>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pic>
        <p:nvPicPr>
          <p:cNvPr id="7" name="Picture 6">
            <a:extLst>
              <a:ext uri="{FF2B5EF4-FFF2-40B4-BE49-F238E27FC236}">
                <a16:creationId xmlns:a16="http://schemas.microsoft.com/office/drawing/2014/main" id="{C4E99BC0-3B02-AE63-358E-A74952E86067}"/>
              </a:ext>
            </a:extLst>
          </p:cNvPr>
          <p:cNvPicPr>
            <a:picLocks noChangeAspect="1"/>
          </p:cNvPicPr>
          <p:nvPr/>
        </p:nvPicPr>
        <p:blipFill>
          <a:blip r:embed="rId3"/>
          <a:stretch>
            <a:fillRect/>
          </a:stretch>
        </p:blipFill>
        <p:spPr>
          <a:xfrm>
            <a:off x="504262" y="527651"/>
            <a:ext cx="17279476" cy="8316300"/>
          </a:xfrm>
          <a:prstGeom prst="rect">
            <a:avLst/>
          </a:prstGeom>
        </p:spPr>
      </p:pic>
      <p:sp>
        <p:nvSpPr>
          <p:cNvPr id="3" name="TextBox 2">
            <a:extLst>
              <a:ext uri="{FF2B5EF4-FFF2-40B4-BE49-F238E27FC236}">
                <a16:creationId xmlns:a16="http://schemas.microsoft.com/office/drawing/2014/main" id="{02B51F24-B6FD-EE5D-5D85-91AA52D79100}"/>
              </a:ext>
            </a:extLst>
          </p:cNvPr>
          <p:cNvSpPr txBox="1"/>
          <p:nvPr/>
        </p:nvSpPr>
        <p:spPr>
          <a:xfrm>
            <a:off x="6160341" y="9044006"/>
            <a:ext cx="12801600" cy="400110"/>
          </a:xfrm>
          <a:prstGeom prst="rect">
            <a:avLst/>
          </a:prstGeom>
          <a:noFill/>
        </p:spPr>
        <p:txBody>
          <a:bodyPr wrap="square" rtlCol="0">
            <a:spAutoFit/>
          </a:bodyPr>
          <a:lstStyle/>
          <a:p>
            <a:r>
              <a:rPr lang="en-IN" sz="2000" b="1" dirty="0">
                <a:solidFill>
                  <a:schemeClr val="bg1"/>
                </a:solidFill>
              </a:rPr>
              <a:t>FIGURE 5 :  MODEL RESULTS, USING RANDOM FOREST </a:t>
            </a:r>
          </a:p>
        </p:txBody>
      </p:sp>
    </p:spTree>
    <p:extLst>
      <p:ext uri="{BB962C8B-B14F-4D97-AF65-F5344CB8AC3E}">
        <p14:creationId xmlns:p14="http://schemas.microsoft.com/office/powerpoint/2010/main" val="116113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0E5BD29C-6FBC-859C-FACD-A50AFEF27283}"/>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A0C16495-05EB-DFAB-910A-945370AEBFBF}"/>
              </a:ext>
            </a:extLst>
          </p:cNvPr>
          <p:cNvGrpSpPr/>
          <p:nvPr/>
        </p:nvGrpSpPr>
        <p:grpSpPr>
          <a:xfrm>
            <a:off x="10460036" y="-934693"/>
            <a:ext cx="4202211" cy="6003158"/>
            <a:chOff x="0" y="0"/>
            <a:chExt cx="4445000" cy="6350000"/>
          </a:xfrm>
        </p:grpSpPr>
        <p:sp>
          <p:nvSpPr>
            <p:cNvPr id="15" name="Freeform 15">
              <a:extLst>
                <a:ext uri="{FF2B5EF4-FFF2-40B4-BE49-F238E27FC236}">
                  <a16:creationId xmlns:a16="http://schemas.microsoft.com/office/drawing/2014/main" id="{93EB6AC7-C2AF-1EF3-2008-C1AD3156E0F2}"/>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8A8191AC-9D63-1857-F0ED-51B4722802DA}"/>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7D481253-5F9E-EDFC-C407-C450BB7676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15D0CF0E-5C6D-60A5-DBC6-DB811247BECA}"/>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E947DA01-13B3-60EF-34A2-BE628F42FA95}"/>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C0EA1EBB-0D1B-D04D-CE9E-918667167284}"/>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D8EF1C7C-E9C1-6AA1-EEF9-6704B36BE735}"/>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BE731E75-B76A-4C6B-21AA-0BCAB68D3F98}"/>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0E7924F3-7A02-54AE-3978-8878856A5290}"/>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3" name="TextBox 2">
            <a:extLst>
              <a:ext uri="{FF2B5EF4-FFF2-40B4-BE49-F238E27FC236}">
                <a16:creationId xmlns:a16="http://schemas.microsoft.com/office/drawing/2014/main" id="{5F0C777C-96F0-8505-46DD-9AD146DD18B6}"/>
              </a:ext>
            </a:extLst>
          </p:cNvPr>
          <p:cNvSpPr txBox="1"/>
          <p:nvPr/>
        </p:nvSpPr>
        <p:spPr>
          <a:xfrm>
            <a:off x="5542830" y="9084223"/>
            <a:ext cx="13508830" cy="400110"/>
          </a:xfrm>
          <a:prstGeom prst="rect">
            <a:avLst/>
          </a:prstGeom>
          <a:noFill/>
        </p:spPr>
        <p:txBody>
          <a:bodyPr wrap="square">
            <a:spAutoFit/>
          </a:bodyPr>
          <a:lstStyle/>
          <a:p>
            <a:pPr>
              <a:buNone/>
            </a:pPr>
            <a:r>
              <a:rPr lang="en-US" sz="2000" b="1" dirty="0">
                <a:solidFill>
                  <a:schemeClr val="bg1"/>
                </a:solidFill>
              </a:rPr>
              <a:t>FIGURE 6 :  CLUSTER SCREEN CLASSIFIES INTO THREE WEATHERS</a:t>
            </a:r>
          </a:p>
        </p:txBody>
      </p:sp>
      <p:pic>
        <p:nvPicPr>
          <p:cNvPr id="5" name="Picture 4">
            <a:extLst>
              <a:ext uri="{FF2B5EF4-FFF2-40B4-BE49-F238E27FC236}">
                <a16:creationId xmlns:a16="http://schemas.microsoft.com/office/drawing/2014/main" id="{BE2735B7-271A-685B-0854-B4A3E14AB116}"/>
              </a:ext>
            </a:extLst>
          </p:cNvPr>
          <p:cNvPicPr>
            <a:picLocks noChangeAspect="1"/>
          </p:cNvPicPr>
          <p:nvPr/>
        </p:nvPicPr>
        <p:blipFill>
          <a:blip r:embed="rId3"/>
          <a:stretch>
            <a:fillRect/>
          </a:stretch>
        </p:blipFill>
        <p:spPr>
          <a:xfrm>
            <a:off x="1064133" y="342900"/>
            <a:ext cx="16159733" cy="8602273"/>
          </a:xfrm>
          <a:prstGeom prst="rect">
            <a:avLst/>
          </a:prstGeom>
        </p:spPr>
      </p:pic>
    </p:spTree>
    <p:extLst>
      <p:ext uri="{BB962C8B-B14F-4D97-AF65-F5344CB8AC3E}">
        <p14:creationId xmlns:p14="http://schemas.microsoft.com/office/powerpoint/2010/main" val="2210238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471470D4-AE3D-8438-4658-0F74B80B0402}"/>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CAF84259-0E88-DEFC-2DEF-1D80F8A9FC3F}"/>
              </a:ext>
            </a:extLst>
          </p:cNvPr>
          <p:cNvGrpSpPr/>
          <p:nvPr/>
        </p:nvGrpSpPr>
        <p:grpSpPr>
          <a:xfrm>
            <a:off x="10460036" y="-934693"/>
            <a:ext cx="4202211" cy="6003158"/>
            <a:chOff x="0" y="0"/>
            <a:chExt cx="4445000" cy="6350000"/>
          </a:xfrm>
        </p:grpSpPr>
        <p:sp>
          <p:nvSpPr>
            <p:cNvPr id="15" name="Freeform 15">
              <a:extLst>
                <a:ext uri="{FF2B5EF4-FFF2-40B4-BE49-F238E27FC236}">
                  <a16:creationId xmlns:a16="http://schemas.microsoft.com/office/drawing/2014/main" id="{C2AAD95F-E312-5092-434C-697E4A90D40F}"/>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7A70AA49-3466-284B-6B14-80BCE38460E4}"/>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799B7F2E-F794-8820-5BA9-148D4DA95B1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FE2B2E50-69D8-3D92-C236-8D33479673D1}"/>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39430A57-D1B3-495C-8CEF-3DBA420229B6}"/>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9C86F024-8E82-6C6A-CC20-F93B9921AD88}"/>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dirty="0">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5A084484-3184-2FBB-C3E5-E1CAF7C030E4}"/>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0B2057D7-AB6A-A03C-CA10-EB95AC2C2128}"/>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2149A648-A3FF-158E-D68B-1FD60007562E}"/>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5" name="TextBox 4">
            <a:extLst>
              <a:ext uri="{FF2B5EF4-FFF2-40B4-BE49-F238E27FC236}">
                <a16:creationId xmlns:a16="http://schemas.microsoft.com/office/drawing/2014/main" id="{5A447E39-5588-B220-02A7-642197C5D40C}"/>
              </a:ext>
            </a:extLst>
          </p:cNvPr>
          <p:cNvSpPr txBox="1"/>
          <p:nvPr/>
        </p:nvSpPr>
        <p:spPr>
          <a:xfrm>
            <a:off x="5163776" y="9121283"/>
            <a:ext cx="13510260" cy="400110"/>
          </a:xfrm>
          <a:prstGeom prst="rect">
            <a:avLst/>
          </a:prstGeom>
          <a:noFill/>
        </p:spPr>
        <p:txBody>
          <a:bodyPr wrap="square">
            <a:spAutoFit/>
          </a:bodyPr>
          <a:lstStyle/>
          <a:p>
            <a:pPr>
              <a:buNone/>
            </a:pPr>
            <a:r>
              <a:rPr lang="en-US" sz="2000" b="1" dirty="0">
                <a:solidFill>
                  <a:schemeClr val="bg1"/>
                </a:solidFill>
              </a:rPr>
              <a:t>FIGURE 7 : MODEL COMPARISON , Models evaluated using MAE, RMSE, R² </a:t>
            </a:r>
          </a:p>
        </p:txBody>
      </p:sp>
      <p:pic>
        <p:nvPicPr>
          <p:cNvPr id="10" name="Picture 9">
            <a:extLst>
              <a:ext uri="{FF2B5EF4-FFF2-40B4-BE49-F238E27FC236}">
                <a16:creationId xmlns:a16="http://schemas.microsoft.com/office/drawing/2014/main" id="{910F9134-1D66-735F-C226-736D472C6D87}"/>
              </a:ext>
            </a:extLst>
          </p:cNvPr>
          <p:cNvPicPr>
            <a:picLocks noChangeAspect="1"/>
          </p:cNvPicPr>
          <p:nvPr/>
        </p:nvPicPr>
        <p:blipFill>
          <a:blip r:embed="rId3"/>
          <a:stretch>
            <a:fillRect/>
          </a:stretch>
        </p:blipFill>
        <p:spPr>
          <a:xfrm>
            <a:off x="990600" y="561491"/>
            <a:ext cx="16306799" cy="8220113"/>
          </a:xfrm>
          <a:prstGeom prst="rect">
            <a:avLst/>
          </a:prstGeom>
        </p:spPr>
      </p:pic>
    </p:spTree>
    <p:extLst>
      <p:ext uri="{BB962C8B-B14F-4D97-AF65-F5344CB8AC3E}">
        <p14:creationId xmlns:p14="http://schemas.microsoft.com/office/powerpoint/2010/main" val="3052459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90EBF3F0-E855-2151-0912-E439E068657D}"/>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1540EB10-F710-1263-DFA7-503A61DCC115}"/>
              </a:ext>
            </a:extLst>
          </p:cNvPr>
          <p:cNvGrpSpPr/>
          <p:nvPr/>
        </p:nvGrpSpPr>
        <p:grpSpPr>
          <a:xfrm>
            <a:off x="11860004" y="-1052865"/>
            <a:ext cx="4202211" cy="6003158"/>
            <a:chOff x="0" y="0"/>
            <a:chExt cx="4445000" cy="6350000"/>
          </a:xfrm>
        </p:grpSpPr>
        <p:sp>
          <p:nvSpPr>
            <p:cNvPr id="15" name="Freeform 15">
              <a:extLst>
                <a:ext uri="{FF2B5EF4-FFF2-40B4-BE49-F238E27FC236}">
                  <a16:creationId xmlns:a16="http://schemas.microsoft.com/office/drawing/2014/main" id="{E4257B0C-7F94-6126-9795-8A4F9BDC5DC8}"/>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09F81494-BF44-DACF-1520-B8C531A41E9F}"/>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F3DA1AC0-1B2E-63D6-3939-296806DCA1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5A011085-7903-27C7-F056-C6198B1ADDD1}"/>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714FD013-04F7-C4D9-1585-9E2DF65E2B67}"/>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789A63E2-902C-2596-E410-6067BDFF2B1F}"/>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AAAF1252-650E-52E3-F51B-FD4FEC5FF8B3}"/>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533765E4-CD24-70F6-989C-B6C870787A23}"/>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53DCFEC2-38CD-D98C-4A9F-CE571598E9E3}"/>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pic>
        <p:nvPicPr>
          <p:cNvPr id="5" name="Picture 4">
            <a:extLst>
              <a:ext uri="{FF2B5EF4-FFF2-40B4-BE49-F238E27FC236}">
                <a16:creationId xmlns:a16="http://schemas.microsoft.com/office/drawing/2014/main" id="{04A41262-94A3-77EF-7B91-10B7EDDC5160}"/>
              </a:ext>
            </a:extLst>
          </p:cNvPr>
          <p:cNvPicPr>
            <a:picLocks noChangeAspect="1"/>
          </p:cNvPicPr>
          <p:nvPr/>
        </p:nvPicPr>
        <p:blipFill>
          <a:blip r:embed="rId3"/>
          <a:stretch>
            <a:fillRect/>
          </a:stretch>
        </p:blipFill>
        <p:spPr>
          <a:xfrm>
            <a:off x="914400" y="647701"/>
            <a:ext cx="16459200" cy="7990142"/>
          </a:xfrm>
          <a:prstGeom prst="rect">
            <a:avLst/>
          </a:prstGeom>
        </p:spPr>
      </p:pic>
      <p:sp>
        <p:nvSpPr>
          <p:cNvPr id="2" name="TextBox 1">
            <a:extLst>
              <a:ext uri="{FF2B5EF4-FFF2-40B4-BE49-F238E27FC236}">
                <a16:creationId xmlns:a16="http://schemas.microsoft.com/office/drawing/2014/main" id="{E0828E11-51A2-DB15-3369-FACFC430DD83}"/>
              </a:ext>
            </a:extLst>
          </p:cNvPr>
          <p:cNvSpPr txBox="1"/>
          <p:nvPr/>
        </p:nvSpPr>
        <p:spPr>
          <a:xfrm>
            <a:off x="4754242" y="8873615"/>
            <a:ext cx="13508830" cy="400110"/>
          </a:xfrm>
          <a:prstGeom prst="rect">
            <a:avLst/>
          </a:prstGeom>
          <a:noFill/>
        </p:spPr>
        <p:txBody>
          <a:bodyPr wrap="square">
            <a:spAutoFit/>
          </a:bodyPr>
          <a:lstStyle/>
          <a:p>
            <a:pPr>
              <a:buNone/>
            </a:pPr>
            <a:r>
              <a:rPr lang="en-US" sz="2000" b="1" dirty="0">
                <a:solidFill>
                  <a:schemeClr val="bg1"/>
                </a:solidFill>
              </a:rPr>
              <a:t>FIGURE 8 : LIVE FORECAST PREDICTS SOLAR OUTPUTS INSTANTLY</a:t>
            </a:r>
          </a:p>
        </p:txBody>
      </p:sp>
    </p:spTree>
    <p:extLst>
      <p:ext uri="{BB962C8B-B14F-4D97-AF65-F5344CB8AC3E}">
        <p14:creationId xmlns:p14="http://schemas.microsoft.com/office/powerpoint/2010/main" val="1545147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7C8781FA-A3EF-6B20-5340-411BC08B4CD1}"/>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99E56F6F-462B-0DFD-B478-715A2B2D1146}"/>
              </a:ext>
            </a:extLst>
          </p:cNvPr>
          <p:cNvGrpSpPr/>
          <p:nvPr/>
        </p:nvGrpSpPr>
        <p:grpSpPr>
          <a:xfrm>
            <a:off x="11860004" y="-1052865"/>
            <a:ext cx="4202211" cy="6003158"/>
            <a:chOff x="0" y="0"/>
            <a:chExt cx="4445000" cy="6350000"/>
          </a:xfrm>
        </p:grpSpPr>
        <p:sp>
          <p:nvSpPr>
            <p:cNvPr id="15" name="Freeform 15">
              <a:extLst>
                <a:ext uri="{FF2B5EF4-FFF2-40B4-BE49-F238E27FC236}">
                  <a16:creationId xmlns:a16="http://schemas.microsoft.com/office/drawing/2014/main" id="{976D53FF-2358-4E5C-B82F-6AD76C623485}"/>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12C5806A-2A6C-EC3C-A607-93BFEF2C9A93}"/>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F157AC20-C061-312E-F001-B08FCD5670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E82F90C2-2B6D-2F05-B73D-20DC5AB03B6B}"/>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F82D6631-5FF0-9702-5097-7ECC3E9B3D81}"/>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93BCC34A-8036-99E5-F7DA-F374EA9FE7DE}"/>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D2A6588F-10D9-05CD-847D-2D0F9811C962}"/>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F62E90A5-34F1-A867-E479-F501532DECC3}"/>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8E3FA113-6991-C4CD-20F9-6E8219BEBE1E}"/>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pic>
        <p:nvPicPr>
          <p:cNvPr id="4" name="Picture 3">
            <a:extLst>
              <a:ext uri="{FF2B5EF4-FFF2-40B4-BE49-F238E27FC236}">
                <a16:creationId xmlns:a16="http://schemas.microsoft.com/office/drawing/2014/main" id="{24016C43-0D26-9E01-9647-FD1E3B37B923}"/>
              </a:ext>
            </a:extLst>
          </p:cNvPr>
          <p:cNvPicPr>
            <a:picLocks noChangeAspect="1"/>
          </p:cNvPicPr>
          <p:nvPr/>
        </p:nvPicPr>
        <p:blipFill>
          <a:blip r:embed="rId3"/>
          <a:stretch>
            <a:fillRect/>
          </a:stretch>
        </p:blipFill>
        <p:spPr>
          <a:xfrm>
            <a:off x="1124760" y="656870"/>
            <a:ext cx="16172640" cy="8788410"/>
          </a:xfrm>
          <a:prstGeom prst="rect">
            <a:avLst/>
          </a:prstGeom>
        </p:spPr>
      </p:pic>
    </p:spTree>
    <p:extLst>
      <p:ext uri="{BB962C8B-B14F-4D97-AF65-F5344CB8AC3E}">
        <p14:creationId xmlns:p14="http://schemas.microsoft.com/office/powerpoint/2010/main" val="1724183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1CD3B6D5-230D-4F68-6CD0-307555C698F2}"/>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6C9D6DAD-CB02-7C22-54E0-FFEA73C8A32D}"/>
              </a:ext>
            </a:extLst>
          </p:cNvPr>
          <p:cNvGrpSpPr/>
          <p:nvPr/>
        </p:nvGrpSpPr>
        <p:grpSpPr>
          <a:xfrm>
            <a:off x="11860004" y="-1052865"/>
            <a:ext cx="4202211" cy="6003158"/>
            <a:chOff x="0" y="0"/>
            <a:chExt cx="4445000" cy="6350000"/>
          </a:xfrm>
        </p:grpSpPr>
        <p:sp>
          <p:nvSpPr>
            <p:cNvPr id="15" name="Freeform 15">
              <a:extLst>
                <a:ext uri="{FF2B5EF4-FFF2-40B4-BE49-F238E27FC236}">
                  <a16:creationId xmlns:a16="http://schemas.microsoft.com/office/drawing/2014/main" id="{335824A5-2FDC-2ECE-BD0A-FE540C61E147}"/>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A49E9CE1-9CE0-052D-17F9-BC3B68161B77}"/>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D69CD78B-ABA5-CE1E-A81C-B7BF0BD7CC7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A419D67E-3AEA-2B84-F8FF-744FFF4C3666}"/>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F52AF427-6B43-CFBB-E31D-A98A1E2BB988}"/>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D666C462-3DDD-7122-2051-9E8515E4F63B}"/>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93961C37-562C-01CB-4475-D76D8978D2ED}"/>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8F01CF77-7535-B02A-DDCE-26764286498B}"/>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7637150D-255C-3FAB-5444-879309EE819F}"/>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pic>
        <p:nvPicPr>
          <p:cNvPr id="6" name="Picture 5">
            <a:extLst>
              <a:ext uri="{FF2B5EF4-FFF2-40B4-BE49-F238E27FC236}">
                <a16:creationId xmlns:a16="http://schemas.microsoft.com/office/drawing/2014/main" id="{FDCE31C9-97D6-467B-E2F3-E13C7450D69A}"/>
              </a:ext>
            </a:extLst>
          </p:cNvPr>
          <p:cNvPicPr>
            <a:picLocks noChangeAspect="1"/>
          </p:cNvPicPr>
          <p:nvPr/>
        </p:nvPicPr>
        <p:blipFill>
          <a:blip r:embed="rId3"/>
          <a:srcRect l="4089" r="6409"/>
          <a:stretch>
            <a:fillRect/>
          </a:stretch>
        </p:blipFill>
        <p:spPr>
          <a:xfrm>
            <a:off x="1041470" y="634455"/>
            <a:ext cx="15870307" cy="9018089"/>
          </a:xfrm>
          <a:prstGeom prst="rect">
            <a:avLst/>
          </a:prstGeom>
        </p:spPr>
      </p:pic>
    </p:spTree>
    <p:extLst>
      <p:ext uri="{BB962C8B-B14F-4D97-AF65-F5344CB8AC3E}">
        <p14:creationId xmlns:p14="http://schemas.microsoft.com/office/powerpoint/2010/main" val="218721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F6457C7A-6B49-02D5-1E10-828A1AE4C93A}"/>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35F60AF4-D290-34B2-7891-26245E0BB1D1}"/>
              </a:ext>
            </a:extLst>
          </p:cNvPr>
          <p:cNvGrpSpPr/>
          <p:nvPr/>
        </p:nvGrpSpPr>
        <p:grpSpPr>
          <a:xfrm>
            <a:off x="10823615" y="-1449846"/>
            <a:ext cx="4202211" cy="6003158"/>
            <a:chOff x="0" y="0"/>
            <a:chExt cx="4445000" cy="6350000"/>
          </a:xfrm>
        </p:grpSpPr>
        <p:sp>
          <p:nvSpPr>
            <p:cNvPr id="15" name="Freeform 15">
              <a:extLst>
                <a:ext uri="{FF2B5EF4-FFF2-40B4-BE49-F238E27FC236}">
                  <a16:creationId xmlns:a16="http://schemas.microsoft.com/office/drawing/2014/main" id="{B2B7E5E3-DC0A-23A3-CA15-AE91562B44AF}"/>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49933891-7320-6363-678C-50F3BF88DAF7}"/>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0F2F7298-7E2E-2C5C-B1BA-C4C3340733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07EFCE13-B161-09B7-6086-D855A64115DF}"/>
              </a:ext>
            </a:extLst>
          </p:cNvPr>
          <p:cNvGrpSpPr/>
          <p:nvPr/>
        </p:nvGrpSpPr>
        <p:grpSpPr>
          <a:xfrm>
            <a:off x="-5506359" y="-141439"/>
            <a:ext cx="5754080" cy="8220114"/>
            <a:chOff x="0" y="0"/>
            <a:chExt cx="4445000" cy="6350000"/>
          </a:xfrm>
        </p:grpSpPr>
        <p:sp>
          <p:nvSpPr>
            <p:cNvPr id="19" name="Freeform 19">
              <a:extLst>
                <a:ext uri="{FF2B5EF4-FFF2-40B4-BE49-F238E27FC236}">
                  <a16:creationId xmlns:a16="http://schemas.microsoft.com/office/drawing/2014/main" id="{4E909B8F-E4B1-7FE0-1349-D9130F7864A9}"/>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8C89252F-2DF7-C54D-0E4F-B0A9BFB7189E}"/>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grpSp>
        <p:nvGrpSpPr>
          <p:cNvPr id="31" name="Group 31">
            <a:extLst>
              <a:ext uri="{FF2B5EF4-FFF2-40B4-BE49-F238E27FC236}">
                <a16:creationId xmlns:a16="http://schemas.microsoft.com/office/drawing/2014/main" id="{CCA948DF-D73E-E7D6-1309-45DEC0040988}"/>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1538C6E9-BC36-7377-EDC5-4BF3CC6E8E6F}"/>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aphicFrame>
        <p:nvGraphicFramePr>
          <p:cNvPr id="2" name="Table 1">
            <a:extLst>
              <a:ext uri="{FF2B5EF4-FFF2-40B4-BE49-F238E27FC236}">
                <a16:creationId xmlns:a16="http://schemas.microsoft.com/office/drawing/2014/main" id="{902478F6-9309-4ED2-F0EF-839390D2672B}"/>
              </a:ext>
            </a:extLst>
          </p:cNvPr>
          <p:cNvGraphicFramePr>
            <a:graphicFrameLocks noGrp="1"/>
          </p:cNvGraphicFramePr>
          <p:nvPr>
            <p:extLst>
              <p:ext uri="{D42A27DB-BD31-4B8C-83A1-F6EECF244321}">
                <p14:modId xmlns:p14="http://schemas.microsoft.com/office/powerpoint/2010/main" val="1423312138"/>
              </p:ext>
            </p:extLst>
          </p:nvPr>
        </p:nvGraphicFramePr>
        <p:xfrm>
          <a:off x="1219198" y="1638302"/>
          <a:ext cx="14935200" cy="4733182"/>
        </p:xfrm>
        <a:graphic>
          <a:graphicData uri="http://schemas.openxmlformats.org/drawingml/2006/table">
            <a:tbl>
              <a:tblPr firstRow="1" firstCol="1" bandRow="1">
                <a:tableStyleId>{5C22544A-7EE6-4342-B048-85BDC9FD1C3A}</a:tableStyleId>
              </a:tblPr>
              <a:tblGrid>
                <a:gridCol w="3733800">
                  <a:extLst>
                    <a:ext uri="{9D8B030D-6E8A-4147-A177-3AD203B41FA5}">
                      <a16:colId xmlns:a16="http://schemas.microsoft.com/office/drawing/2014/main" val="891132877"/>
                    </a:ext>
                  </a:extLst>
                </a:gridCol>
                <a:gridCol w="3733800">
                  <a:extLst>
                    <a:ext uri="{9D8B030D-6E8A-4147-A177-3AD203B41FA5}">
                      <a16:colId xmlns:a16="http://schemas.microsoft.com/office/drawing/2014/main" val="4070328526"/>
                    </a:ext>
                  </a:extLst>
                </a:gridCol>
                <a:gridCol w="3733800">
                  <a:extLst>
                    <a:ext uri="{9D8B030D-6E8A-4147-A177-3AD203B41FA5}">
                      <a16:colId xmlns:a16="http://schemas.microsoft.com/office/drawing/2014/main" val="293258648"/>
                    </a:ext>
                  </a:extLst>
                </a:gridCol>
                <a:gridCol w="3733800">
                  <a:extLst>
                    <a:ext uri="{9D8B030D-6E8A-4147-A177-3AD203B41FA5}">
                      <a16:colId xmlns:a16="http://schemas.microsoft.com/office/drawing/2014/main" val="134352866"/>
                    </a:ext>
                  </a:extLst>
                </a:gridCol>
              </a:tblGrid>
              <a:tr h="833213">
                <a:tc>
                  <a:txBody>
                    <a:bodyPr/>
                    <a:lstStyle/>
                    <a:p>
                      <a:pPr algn="just">
                        <a:lnSpc>
                          <a:spcPct val="107000"/>
                        </a:lnSpc>
                        <a:spcAft>
                          <a:spcPts val="800"/>
                        </a:spcAft>
                        <a:buNone/>
                      </a:pPr>
                      <a:r>
                        <a:rPr lang="en-IN" sz="1500" kern="100" dirty="0">
                          <a:effectLst/>
                        </a:rPr>
                        <a:t>Model</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MAE(MWh)</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RMSE(MWh)</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R</a:t>
                      </a:r>
                      <a:r>
                        <a:rPr lang="en-IN" sz="1500" kern="100" baseline="30000">
                          <a:effectLst/>
                        </a:rPr>
                        <a:t>2</a:t>
                      </a:r>
                      <a:r>
                        <a:rPr lang="en-IN" sz="1500" kern="100">
                          <a:effectLst/>
                        </a:rPr>
                        <a:t> Score</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2347230928"/>
                  </a:ext>
                </a:extLst>
              </a:tr>
              <a:tr h="984628">
                <a:tc>
                  <a:txBody>
                    <a:bodyPr/>
                    <a:lstStyle/>
                    <a:p>
                      <a:pPr algn="just">
                        <a:lnSpc>
                          <a:spcPct val="107000"/>
                        </a:lnSpc>
                        <a:spcAft>
                          <a:spcPts val="800"/>
                        </a:spcAft>
                        <a:buNone/>
                      </a:pPr>
                      <a:r>
                        <a:rPr lang="en-IN" sz="1500" kern="100">
                          <a:effectLst/>
                        </a:rPr>
                        <a:t>Linear Regression</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190.88</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298.90</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0.9726</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2949777341"/>
                  </a:ext>
                </a:extLst>
              </a:tr>
              <a:tr h="878780">
                <a:tc>
                  <a:txBody>
                    <a:bodyPr/>
                    <a:lstStyle/>
                    <a:p>
                      <a:pPr algn="just">
                        <a:lnSpc>
                          <a:spcPct val="107000"/>
                        </a:lnSpc>
                        <a:spcAft>
                          <a:spcPts val="800"/>
                        </a:spcAft>
                        <a:buNone/>
                      </a:pPr>
                      <a:r>
                        <a:rPr lang="en-IN" sz="1500" kern="100">
                          <a:effectLst/>
                        </a:rPr>
                        <a:t>Random Forest</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dirty="0">
                          <a:effectLst/>
                        </a:rPr>
                        <a:t>54.50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149.39</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0.9931</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869568523"/>
                  </a:ext>
                </a:extLst>
              </a:tr>
              <a:tr h="984628">
                <a:tc>
                  <a:txBody>
                    <a:bodyPr/>
                    <a:lstStyle/>
                    <a:p>
                      <a:pPr algn="just">
                        <a:lnSpc>
                          <a:spcPct val="107000"/>
                        </a:lnSpc>
                        <a:spcAft>
                          <a:spcPts val="800"/>
                        </a:spcAft>
                        <a:buNone/>
                      </a:pPr>
                      <a:r>
                        <a:rPr lang="en-IN" sz="1500" kern="100">
                          <a:effectLst/>
                        </a:rPr>
                        <a:t>Gradient Boosting</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dirty="0">
                          <a:effectLst/>
                        </a:rPr>
                        <a:t>87.38</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180.39</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0.9900</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2554617269"/>
                  </a:ext>
                </a:extLst>
              </a:tr>
              <a:tr h="1051933">
                <a:tc>
                  <a:txBody>
                    <a:bodyPr/>
                    <a:lstStyle/>
                    <a:p>
                      <a:pPr algn="just">
                        <a:lnSpc>
                          <a:spcPct val="107000"/>
                        </a:lnSpc>
                        <a:spcAft>
                          <a:spcPts val="800"/>
                        </a:spcAft>
                        <a:buNone/>
                      </a:pPr>
                      <a:r>
                        <a:rPr lang="en-IN" sz="1500" kern="100">
                          <a:effectLst/>
                        </a:rPr>
                        <a:t>SVR</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a:effectLst/>
                        </a:rPr>
                        <a:t>89.36</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dirty="0">
                          <a:effectLst/>
                        </a:rPr>
                        <a:t>235.16</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just">
                        <a:lnSpc>
                          <a:spcPct val="107000"/>
                        </a:lnSpc>
                        <a:spcAft>
                          <a:spcPts val="800"/>
                        </a:spcAft>
                        <a:buNone/>
                      </a:pPr>
                      <a:r>
                        <a:rPr lang="en-IN" sz="1500" kern="100" dirty="0">
                          <a:effectLst/>
                        </a:rPr>
                        <a:t>0.9830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1589476545"/>
                  </a:ext>
                </a:extLst>
              </a:tr>
            </a:tbl>
          </a:graphicData>
        </a:graphic>
      </p:graphicFrame>
      <p:sp>
        <p:nvSpPr>
          <p:cNvPr id="7" name="Rectangle 1">
            <a:extLst>
              <a:ext uri="{FF2B5EF4-FFF2-40B4-BE49-F238E27FC236}">
                <a16:creationId xmlns:a16="http://schemas.microsoft.com/office/drawing/2014/main" id="{E56A7D35-DEF7-FD17-F2A7-95504D0586FD}"/>
              </a:ext>
            </a:extLst>
          </p:cNvPr>
          <p:cNvSpPr>
            <a:spLocks noChangeArrowheads="1"/>
          </p:cNvSpPr>
          <p:nvPr/>
        </p:nvSpPr>
        <p:spPr bwMode="auto">
          <a:xfrm>
            <a:off x="8610600" y="2769351"/>
            <a:ext cx="20040918" cy="841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11" name="Rectangle 4">
            <a:extLst>
              <a:ext uri="{FF2B5EF4-FFF2-40B4-BE49-F238E27FC236}">
                <a16:creationId xmlns:a16="http://schemas.microsoft.com/office/drawing/2014/main" id="{1623D2B4-C280-5DC6-1C0F-67D6FA609211}"/>
              </a:ext>
            </a:extLst>
          </p:cNvPr>
          <p:cNvSpPr>
            <a:spLocks noChangeArrowheads="1"/>
          </p:cNvSpPr>
          <p:nvPr/>
        </p:nvSpPr>
        <p:spPr bwMode="auto">
          <a:xfrm>
            <a:off x="1182610" y="6599230"/>
            <a:ext cx="824828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Data split: 80% training, 20% testing </a:t>
            </a:r>
            <a:endPar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Random Forest achieved best performance (R² = 0.9931)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Lowest error observed in Random Forest (MAE = 54.50 MWh)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Linear Regression showed higher error due to inability to capture non-linearity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Gradient Boosting and SVR performed well but were less accurate than Random Fores </a:t>
            </a:r>
          </a:p>
        </p:txBody>
      </p:sp>
      <p:sp>
        <p:nvSpPr>
          <p:cNvPr id="13" name="TextBox 12">
            <a:extLst>
              <a:ext uri="{FF2B5EF4-FFF2-40B4-BE49-F238E27FC236}">
                <a16:creationId xmlns:a16="http://schemas.microsoft.com/office/drawing/2014/main" id="{72F12389-1FC9-BC96-C5B6-C9A4C7E5B61A}"/>
              </a:ext>
            </a:extLst>
          </p:cNvPr>
          <p:cNvSpPr txBox="1"/>
          <p:nvPr/>
        </p:nvSpPr>
        <p:spPr>
          <a:xfrm>
            <a:off x="1182610" y="9367193"/>
            <a:ext cx="17073562" cy="461665"/>
          </a:xfrm>
          <a:prstGeom prst="rect">
            <a:avLst/>
          </a:prstGeom>
          <a:noFill/>
        </p:spPr>
        <p:txBody>
          <a:bodyPr wrap="square">
            <a:spAutoFit/>
          </a:bodyPr>
          <a:lstStyle/>
          <a:p>
            <a:r>
              <a:rPr lang="en-US" sz="2400" dirty="0">
                <a:solidFill>
                  <a:schemeClr val="bg1"/>
                </a:solidFill>
              </a:rPr>
              <a:t>Random Forest was selected as the final model due to highest accuracy and lowest prediction error</a:t>
            </a:r>
            <a:r>
              <a:rPr lang="en-US" dirty="0"/>
              <a:t>.</a:t>
            </a:r>
            <a:endParaRPr lang="en-IN" dirty="0"/>
          </a:p>
        </p:txBody>
      </p:sp>
      <p:sp>
        <p:nvSpPr>
          <p:cNvPr id="22" name="TextBox 21">
            <a:extLst>
              <a:ext uri="{FF2B5EF4-FFF2-40B4-BE49-F238E27FC236}">
                <a16:creationId xmlns:a16="http://schemas.microsoft.com/office/drawing/2014/main" id="{9D0D352D-B202-231C-17D9-C59B5D7144AA}"/>
              </a:ext>
            </a:extLst>
          </p:cNvPr>
          <p:cNvSpPr txBox="1"/>
          <p:nvPr/>
        </p:nvSpPr>
        <p:spPr>
          <a:xfrm>
            <a:off x="894111" y="529545"/>
            <a:ext cx="17073562" cy="707886"/>
          </a:xfrm>
          <a:prstGeom prst="rect">
            <a:avLst/>
          </a:prstGeom>
          <a:noFill/>
        </p:spPr>
        <p:txBody>
          <a:bodyPr wrap="square">
            <a:spAutoFit/>
          </a:bodyPr>
          <a:lstStyle/>
          <a:p>
            <a:r>
              <a:rPr lang="en-IN" sz="4000" b="1" u="sng" dirty="0">
                <a:solidFill>
                  <a:schemeClr val="bg1"/>
                </a:solidFill>
              </a:rPr>
              <a:t>Comparative Analysis of Models</a:t>
            </a:r>
            <a:endParaRPr lang="en-IN" sz="4000" u="sng" dirty="0">
              <a:solidFill>
                <a:schemeClr val="bg1"/>
              </a:solidFill>
            </a:endParaRPr>
          </a:p>
        </p:txBody>
      </p:sp>
    </p:spTree>
    <p:extLst>
      <p:ext uri="{BB962C8B-B14F-4D97-AF65-F5344CB8AC3E}">
        <p14:creationId xmlns:p14="http://schemas.microsoft.com/office/powerpoint/2010/main" val="334270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76612F8E-AA47-29E6-4DF2-2686CD9F4447}"/>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409B2C35-7C54-4D7F-03EE-BB19952B0BF0}"/>
              </a:ext>
            </a:extLst>
          </p:cNvPr>
          <p:cNvGrpSpPr/>
          <p:nvPr/>
        </p:nvGrpSpPr>
        <p:grpSpPr>
          <a:xfrm>
            <a:off x="10460036" y="-934693"/>
            <a:ext cx="4202211" cy="6003158"/>
            <a:chOff x="0" y="0"/>
            <a:chExt cx="4445000" cy="6350000"/>
          </a:xfrm>
        </p:grpSpPr>
        <p:sp>
          <p:nvSpPr>
            <p:cNvPr id="15" name="Freeform 15">
              <a:extLst>
                <a:ext uri="{FF2B5EF4-FFF2-40B4-BE49-F238E27FC236}">
                  <a16:creationId xmlns:a16="http://schemas.microsoft.com/office/drawing/2014/main" id="{DC5734E5-F04F-981F-ABAB-33667FDEA0A2}"/>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4FB84158-7D1E-4A6D-6111-7F0F5A444B45}"/>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E109BBAF-6B1E-F8F1-92E6-9EE7A8D24C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94E5A6A8-0094-3D05-17EC-F7FDA38D6CEB}"/>
              </a:ext>
            </a:extLst>
          </p:cNvPr>
          <p:cNvGrpSpPr/>
          <p:nvPr/>
        </p:nvGrpSpPr>
        <p:grpSpPr>
          <a:xfrm>
            <a:off x="-5349708" y="0"/>
            <a:ext cx="5754080" cy="8220114"/>
            <a:chOff x="0" y="0"/>
            <a:chExt cx="4445000" cy="6350000"/>
          </a:xfrm>
        </p:grpSpPr>
        <p:sp>
          <p:nvSpPr>
            <p:cNvPr id="19" name="Freeform 19">
              <a:extLst>
                <a:ext uri="{FF2B5EF4-FFF2-40B4-BE49-F238E27FC236}">
                  <a16:creationId xmlns:a16="http://schemas.microsoft.com/office/drawing/2014/main" id="{774855D9-43AF-0476-AE59-7E46D1710A6B}"/>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32022E59-F0AB-7581-F76C-AFC722556F28}"/>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grpSp>
        <p:nvGrpSpPr>
          <p:cNvPr id="31" name="Group 31">
            <a:extLst>
              <a:ext uri="{FF2B5EF4-FFF2-40B4-BE49-F238E27FC236}">
                <a16:creationId xmlns:a16="http://schemas.microsoft.com/office/drawing/2014/main" id="{A0EA7582-7412-316F-CA77-0D6EEE7AACA9}"/>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ADC673C5-C502-A9ED-4270-915ACB7A485D}"/>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 name="TextBox 34">
            <a:extLst>
              <a:ext uri="{FF2B5EF4-FFF2-40B4-BE49-F238E27FC236}">
                <a16:creationId xmlns:a16="http://schemas.microsoft.com/office/drawing/2014/main" id="{1374816E-069C-3993-79D9-A73D85319708}"/>
              </a:ext>
            </a:extLst>
          </p:cNvPr>
          <p:cNvSpPr txBox="1"/>
          <p:nvPr/>
        </p:nvSpPr>
        <p:spPr>
          <a:xfrm>
            <a:off x="5279290" y="531543"/>
            <a:ext cx="6854345" cy="828675"/>
          </a:xfrm>
          <a:prstGeom prst="rect">
            <a:avLst/>
          </a:prstGeom>
        </p:spPr>
        <p:txBody>
          <a:bodyPr lIns="0" tIns="0" rIns="0" bIns="0" rtlCol="0" anchor="t">
            <a:spAutoFit/>
          </a:bodyPr>
          <a:lstStyle/>
          <a:p>
            <a:pPr marL="0" lvl="0" indent="0" algn="ctr">
              <a:lnSpc>
                <a:spcPts val="6451"/>
              </a:lnSpc>
              <a:spcBef>
                <a:spcPct val="0"/>
              </a:spcBef>
            </a:pPr>
            <a:r>
              <a:rPr lang="en-US" sz="5376" b="1" u="sng" dirty="0">
                <a:solidFill>
                  <a:schemeClr val="bg1"/>
                </a:solidFill>
                <a:latin typeface="Almarai Bold"/>
                <a:ea typeface="Almarai Bold"/>
                <a:cs typeface="Almarai Bold"/>
                <a:sym typeface="Almarai Bold"/>
              </a:rPr>
              <a:t>CONCLUSION</a:t>
            </a:r>
          </a:p>
        </p:txBody>
      </p:sp>
      <p:sp>
        <p:nvSpPr>
          <p:cNvPr id="4" name="TextBox 3">
            <a:extLst>
              <a:ext uri="{FF2B5EF4-FFF2-40B4-BE49-F238E27FC236}">
                <a16:creationId xmlns:a16="http://schemas.microsoft.com/office/drawing/2014/main" id="{C84087F3-73CB-84A2-08E9-118F7831A980}"/>
              </a:ext>
            </a:extLst>
          </p:cNvPr>
          <p:cNvSpPr txBox="1"/>
          <p:nvPr/>
        </p:nvSpPr>
        <p:spPr>
          <a:xfrm>
            <a:off x="1143000" y="2324100"/>
            <a:ext cx="11658600" cy="369332"/>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8E7E1E79-8847-D131-BDD3-45E5443A0C4F}"/>
              </a:ext>
            </a:extLst>
          </p:cNvPr>
          <p:cNvSpPr txBox="1"/>
          <p:nvPr/>
        </p:nvSpPr>
        <p:spPr>
          <a:xfrm>
            <a:off x="990600" y="800100"/>
            <a:ext cx="14554200" cy="6740307"/>
          </a:xfrm>
          <a:prstGeom prst="rect">
            <a:avLst/>
          </a:prstGeom>
          <a:noFill/>
        </p:spPr>
        <p:txBody>
          <a:bodyPr wrap="square" rtlCol="0">
            <a:spAutoFit/>
          </a:bodyPr>
          <a:lstStyle/>
          <a:p>
            <a:endParaRPr lang="en-IN" dirty="0"/>
          </a:p>
          <a:p>
            <a:endParaRPr lang="en-IN" dirty="0"/>
          </a:p>
          <a:p>
            <a:endParaRPr lang="en-IN" dirty="0"/>
          </a:p>
          <a:p>
            <a:endParaRPr lang="en-IN" dirty="0"/>
          </a:p>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sz="2600" dirty="0">
                <a:solidFill>
                  <a:schemeClr val="bg1"/>
                </a:solidFill>
                <a:latin typeface="Arial" panose="020B0604020202020204" pitchFamily="34" charset="0"/>
              </a:rPr>
              <a:t>Developed a hybrid AI-based solar energy forecasting system </a:t>
            </a:r>
          </a:p>
          <a:p>
            <a:pPr lvl="0" eaLnBrk="0" fontAlgn="base" hangingPunct="0">
              <a:spcBef>
                <a:spcPct val="0"/>
              </a:spcBef>
              <a:spcAft>
                <a:spcPct val="0"/>
              </a:spcAft>
              <a:buFontTx/>
              <a:buChar char="•"/>
            </a:pPr>
            <a:endParaRPr lang="en-US" altLang="en-US" sz="26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sz="2600" dirty="0">
                <a:solidFill>
                  <a:schemeClr val="bg1"/>
                </a:solidFill>
                <a:latin typeface="Arial" panose="020B0604020202020204" pitchFamily="34" charset="0"/>
              </a:rPr>
              <a:t>Integrated K-Means clustering with machine learning models </a:t>
            </a:r>
          </a:p>
          <a:p>
            <a:pPr lvl="0" eaLnBrk="0" fontAlgn="base" hangingPunct="0">
              <a:spcBef>
                <a:spcPct val="0"/>
              </a:spcBef>
              <a:spcAft>
                <a:spcPct val="0"/>
              </a:spcAft>
            </a:pPr>
            <a:endParaRPr lang="en-US" altLang="en-US" sz="26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sz="2600" dirty="0">
                <a:solidFill>
                  <a:schemeClr val="bg1"/>
                </a:solidFill>
                <a:latin typeface="Arial" panose="020B0604020202020204" pitchFamily="34" charset="0"/>
              </a:rPr>
              <a:t>Achieved high prediction accuracy (R² up to 0.99) </a:t>
            </a:r>
          </a:p>
          <a:p>
            <a:pPr lvl="0" eaLnBrk="0" fontAlgn="base" hangingPunct="0">
              <a:spcBef>
                <a:spcPct val="0"/>
              </a:spcBef>
              <a:spcAft>
                <a:spcPct val="0"/>
              </a:spcAft>
              <a:buFontTx/>
              <a:buChar char="•"/>
            </a:pPr>
            <a:endParaRPr lang="en-US" altLang="en-US" sz="26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sz="2600" dirty="0">
                <a:solidFill>
                  <a:schemeClr val="bg1"/>
                </a:solidFill>
                <a:latin typeface="Arial" panose="020B0604020202020204" pitchFamily="34" charset="0"/>
              </a:rPr>
              <a:t>Random Forest selected as best model based on evaluation metrics </a:t>
            </a:r>
          </a:p>
          <a:p>
            <a:pPr lvl="0" eaLnBrk="0" fontAlgn="base" hangingPunct="0">
              <a:spcBef>
                <a:spcPct val="0"/>
              </a:spcBef>
              <a:spcAft>
                <a:spcPct val="0"/>
              </a:spcAft>
              <a:buFontTx/>
              <a:buChar char="•"/>
            </a:pPr>
            <a:endParaRPr lang="en-US" altLang="en-US" sz="26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sz="2600" dirty="0">
                <a:solidFill>
                  <a:schemeClr val="bg1"/>
                </a:solidFill>
                <a:latin typeface="Arial" panose="020B0604020202020204" pitchFamily="34" charset="0"/>
              </a:rPr>
              <a:t>Successfully implemented real-time forecasting using a web interface </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889681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CFB4839C-74EC-48DE-29BF-FF0F4E0F561C}"/>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342CD165-3C3D-AFAB-10FD-794C99755D0D}"/>
              </a:ext>
            </a:extLst>
          </p:cNvPr>
          <p:cNvGrpSpPr/>
          <p:nvPr/>
        </p:nvGrpSpPr>
        <p:grpSpPr>
          <a:xfrm>
            <a:off x="10460036" y="-934693"/>
            <a:ext cx="4202211" cy="6003158"/>
            <a:chOff x="0" y="0"/>
            <a:chExt cx="4445000" cy="6350000"/>
          </a:xfrm>
        </p:grpSpPr>
        <p:sp>
          <p:nvSpPr>
            <p:cNvPr id="15" name="Freeform 15">
              <a:extLst>
                <a:ext uri="{FF2B5EF4-FFF2-40B4-BE49-F238E27FC236}">
                  <a16:creationId xmlns:a16="http://schemas.microsoft.com/office/drawing/2014/main" id="{FDF53E84-732C-B6A4-E334-BFDFB21EE519}"/>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84774C8B-CBD9-D86B-C922-D20196E0AB3D}"/>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AD990368-24E7-0718-BE40-A1603020FE3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CAC080F4-4923-E67C-BCD3-38C4E2E537E6}"/>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8A6D2B8E-EB15-CAE3-B2CC-0F040223B3D7}"/>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1" name="TextBox 21">
            <a:extLst>
              <a:ext uri="{FF2B5EF4-FFF2-40B4-BE49-F238E27FC236}">
                <a16:creationId xmlns:a16="http://schemas.microsoft.com/office/drawing/2014/main" id="{5CF6CE6A-5B60-23D5-4979-0BDC28DA8A62}"/>
              </a:ext>
            </a:extLst>
          </p:cNvPr>
          <p:cNvSpPr txBox="1"/>
          <p:nvPr/>
        </p:nvSpPr>
        <p:spPr>
          <a:xfrm>
            <a:off x="1376223" y="3104765"/>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01</a:t>
            </a:r>
          </a:p>
        </p:txBody>
      </p:sp>
      <p:sp>
        <p:nvSpPr>
          <p:cNvPr id="24" name="TextBox 24">
            <a:extLst>
              <a:ext uri="{FF2B5EF4-FFF2-40B4-BE49-F238E27FC236}">
                <a16:creationId xmlns:a16="http://schemas.microsoft.com/office/drawing/2014/main" id="{2800587D-3269-7114-9788-8A785BAF9051}"/>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C43FB9FC-81C5-1903-2DC5-FDC7B6314B51}"/>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C44416EA-0F1E-D88C-6F76-91800DB0C9BB}"/>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34" name="TextBox 34"/>
          <p:cNvSpPr txBox="1"/>
          <p:nvPr/>
        </p:nvSpPr>
        <p:spPr>
          <a:xfrm>
            <a:off x="5279290" y="531543"/>
            <a:ext cx="6854345" cy="828675"/>
          </a:xfrm>
          <a:prstGeom prst="rect">
            <a:avLst/>
          </a:prstGeom>
        </p:spPr>
        <p:txBody>
          <a:bodyPr lIns="0" tIns="0" rIns="0" bIns="0" rtlCol="0" anchor="t">
            <a:spAutoFit/>
          </a:bodyPr>
          <a:lstStyle/>
          <a:p>
            <a:pPr marL="0" lvl="0" indent="0" algn="ctr">
              <a:lnSpc>
                <a:spcPts val="6451"/>
              </a:lnSpc>
              <a:spcBef>
                <a:spcPct val="0"/>
              </a:spcBef>
            </a:pPr>
            <a:r>
              <a:rPr lang="en-US" sz="5376" b="1" u="sng" dirty="0">
                <a:solidFill>
                  <a:schemeClr val="bg1"/>
                </a:solidFill>
                <a:latin typeface="Almarai Bold"/>
                <a:ea typeface="Almarai Bold"/>
                <a:cs typeface="Almarai Bold"/>
                <a:sym typeface="Almarai Bold"/>
              </a:rPr>
              <a:t>REFERENCES</a:t>
            </a:r>
          </a:p>
        </p:txBody>
      </p:sp>
      <p:sp>
        <p:nvSpPr>
          <p:cNvPr id="42" name="TextBox 41">
            <a:extLst>
              <a:ext uri="{FF2B5EF4-FFF2-40B4-BE49-F238E27FC236}">
                <a16:creationId xmlns:a16="http://schemas.microsoft.com/office/drawing/2014/main" id="{A50B209E-CB93-6A3F-F21D-C4D342164729}"/>
              </a:ext>
            </a:extLst>
          </p:cNvPr>
          <p:cNvSpPr txBox="1"/>
          <p:nvPr/>
        </p:nvSpPr>
        <p:spPr>
          <a:xfrm>
            <a:off x="1113361" y="1712943"/>
            <a:ext cx="15544800" cy="707886"/>
          </a:xfrm>
          <a:prstGeom prst="rect">
            <a:avLst/>
          </a:prstGeom>
          <a:noFill/>
        </p:spPr>
        <p:txBody>
          <a:bodyPr wrap="square" rtlCol="0">
            <a:spAutoFit/>
          </a:bodyPr>
          <a:lstStyle/>
          <a:p>
            <a:r>
              <a:rPr lang="en-US" sz="2000" dirty="0">
                <a:solidFill>
                  <a:schemeClr val="bg1"/>
                </a:solidFill>
              </a:rPr>
              <a:t> [1]  Egbuna, I. K., Salihu, F. B., Okara, C. C., &amp; Olayiwola, D. E. (2025). Advances in AI-powered energy management systems for renewable-integrated smart grids. </a:t>
            </a:r>
            <a:r>
              <a:rPr lang="en-US" sz="2000" i="1" dirty="0">
                <a:solidFill>
                  <a:schemeClr val="bg1"/>
                </a:solidFill>
              </a:rPr>
              <a:t>World Journal of Advanced Engineering Technology and Sciences</a:t>
            </a:r>
            <a:r>
              <a:rPr lang="en-US" sz="2000" dirty="0">
                <a:solidFill>
                  <a:schemeClr val="bg1"/>
                </a:solidFill>
              </a:rPr>
              <a:t>, </a:t>
            </a:r>
            <a:r>
              <a:rPr lang="en-US" sz="2000" i="1" dirty="0">
                <a:solidFill>
                  <a:schemeClr val="bg1"/>
                </a:solidFill>
              </a:rPr>
              <a:t>15</a:t>
            </a:r>
            <a:r>
              <a:rPr lang="en-US" sz="2000" dirty="0">
                <a:solidFill>
                  <a:schemeClr val="bg1"/>
                </a:solidFill>
              </a:rPr>
              <a:t>(2), 2300-2325. </a:t>
            </a:r>
            <a:r>
              <a:rPr lang="en-US" sz="2000" u="sng" dirty="0">
                <a:solidFill>
                  <a:schemeClr val="bg1"/>
                </a:solidFill>
              </a:rPr>
              <a:t>https://doi.org/10.30574/wjaets.2025.15.2.0685</a:t>
            </a:r>
            <a:endParaRPr lang="en-IN" sz="2000" u="sng" dirty="0">
              <a:solidFill>
                <a:schemeClr val="bg1"/>
              </a:solidFill>
            </a:endParaRPr>
          </a:p>
        </p:txBody>
      </p:sp>
      <p:sp>
        <p:nvSpPr>
          <p:cNvPr id="46" name="TextBox 45">
            <a:extLst>
              <a:ext uri="{FF2B5EF4-FFF2-40B4-BE49-F238E27FC236}">
                <a16:creationId xmlns:a16="http://schemas.microsoft.com/office/drawing/2014/main" id="{C9E8409D-87C3-3030-F16C-0D55259AB2D5}"/>
              </a:ext>
            </a:extLst>
          </p:cNvPr>
          <p:cNvSpPr txBox="1"/>
          <p:nvPr/>
        </p:nvSpPr>
        <p:spPr>
          <a:xfrm>
            <a:off x="1175820" y="2592459"/>
            <a:ext cx="15316200" cy="1015663"/>
          </a:xfrm>
          <a:prstGeom prst="rect">
            <a:avLst/>
          </a:prstGeom>
          <a:noFill/>
        </p:spPr>
        <p:txBody>
          <a:bodyPr wrap="square" rtlCol="0">
            <a:spAutoFit/>
          </a:bodyPr>
          <a:lstStyle/>
          <a:p>
            <a:r>
              <a:rPr lang="en-US" sz="2000" dirty="0">
                <a:solidFill>
                  <a:schemeClr val="bg1"/>
                </a:solidFill>
              </a:rPr>
              <a:t>[2] Sharif, A. A. (2021). AI-Powered Renewable Energy Forecasting: A Hybrid Deep Learning and Physics-Based Model for Solar and Wind Energy Prediction in Smart Grid Applications. </a:t>
            </a:r>
            <a:r>
              <a:rPr lang="en-US" sz="2000" i="1" dirty="0">
                <a:solidFill>
                  <a:schemeClr val="bg1"/>
                </a:solidFill>
              </a:rPr>
              <a:t>International Journal of Emerging Trends in Computer Science and Information Technology</a:t>
            </a:r>
            <a:r>
              <a:rPr lang="en-US" sz="2000" dirty="0">
                <a:solidFill>
                  <a:schemeClr val="bg1"/>
                </a:solidFill>
              </a:rPr>
              <a:t>, </a:t>
            </a:r>
            <a:r>
              <a:rPr lang="en-US" sz="2000" i="1" dirty="0">
                <a:solidFill>
                  <a:schemeClr val="bg1"/>
                </a:solidFill>
              </a:rPr>
              <a:t>2</a:t>
            </a:r>
            <a:r>
              <a:rPr lang="en-US" sz="2000" dirty="0">
                <a:solidFill>
                  <a:schemeClr val="bg1"/>
                </a:solidFill>
              </a:rPr>
              <a:t>(2), 1-7. </a:t>
            </a:r>
            <a:r>
              <a:rPr lang="en-US" sz="2000" u="sng" dirty="0">
                <a:solidFill>
                  <a:schemeClr val="bg1"/>
                </a:solidFill>
              </a:rPr>
              <a:t>https://doi.org/10.63282/3050-9246.IJETCSIT-V2I2P101</a:t>
            </a:r>
            <a:endParaRPr lang="en-IN" sz="2000" u="sng" dirty="0">
              <a:solidFill>
                <a:schemeClr val="bg1"/>
              </a:solidFill>
            </a:endParaRPr>
          </a:p>
        </p:txBody>
      </p:sp>
      <p:sp>
        <p:nvSpPr>
          <p:cNvPr id="43" name="TextBox 42">
            <a:extLst>
              <a:ext uri="{FF2B5EF4-FFF2-40B4-BE49-F238E27FC236}">
                <a16:creationId xmlns:a16="http://schemas.microsoft.com/office/drawing/2014/main" id="{326BA17F-450F-8049-69F2-265D8461F83C}"/>
              </a:ext>
            </a:extLst>
          </p:cNvPr>
          <p:cNvSpPr txBox="1"/>
          <p:nvPr/>
        </p:nvSpPr>
        <p:spPr>
          <a:xfrm>
            <a:off x="1188756" y="3812517"/>
            <a:ext cx="15163800" cy="707886"/>
          </a:xfrm>
          <a:prstGeom prst="rect">
            <a:avLst/>
          </a:prstGeom>
          <a:noFill/>
        </p:spPr>
        <p:txBody>
          <a:bodyPr wrap="square" rtlCol="0">
            <a:spAutoFit/>
          </a:bodyPr>
          <a:lstStyle/>
          <a:p>
            <a:r>
              <a:rPr lang="en-IN" sz="2000" dirty="0">
                <a:solidFill>
                  <a:schemeClr val="bg1"/>
                </a:solidFill>
              </a:rPr>
              <a:t>[3]  Shan, S., Ding, Z., Zhang, K., Wei, H., Li, C., &amp; Zhao, Q. (2023). ACGL-TR: A deep learning model for </a:t>
            </a:r>
            <a:r>
              <a:rPr lang="en-IN" sz="2000" dirty="0" err="1">
                <a:solidFill>
                  <a:schemeClr val="bg1"/>
                </a:solidFill>
              </a:rPr>
              <a:t>spatio</a:t>
            </a:r>
            <a:r>
              <a:rPr lang="en-IN" sz="2000" dirty="0">
                <a:solidFill>
                  <a:schemeClr val="bg1"/>
                </a:solidFill>
              </a:rPr>
              <a:t>-temporal short-term irradiance forecast. </a:t>
            </a:r>
            <a:r>
              <a:rPr lang="en-IN" sz="2000" i="1" dirty="0">
                <a:solidFill>
                  <a:schemeClr val="bg1"/>
                </a:solidFill>
              </a:rPr>
              <a:t>Energy Conversion and Management</a:t>
            </a:r>
            <a:r>
              <a:rPr lang="en-IN" sz="2000" dirty="0">
                <a:solidFill>
                  <a:schemeClr val="bg1"/>
                </a:solidFill>
              </a:rPr>
              <a:t>, </a:t>
            </a:r>
            <a:r>
              <a:rPr lang="en-IN" sz="2000" i="1" dirty="0">
                <a:solidFill>
                  <a:schemeClr val="bg1"/>
                </a:solidFill>
              </a:rPr>
              <a:t>284</a:t>
            </a:r>
            <a:r>
              <a:rPr lang="en-IN" sz="2000" dirty="0">
                <a:solidFill>
                  <a:schemeClr val="bg1"/>
                </a:solidFill>
              </a:rPr>
              <a:t>, 116970</a:t>
            </a:r>
            <a:r>
              <a:rPr lang="en-IN" sz="2000" u="sng" dirty="0">
                <a:solidFill>
                  <a:schemeClr val="bg1"/>
                </a:solidFill>
              </a:rPr>
              <a:t>. https://doi.org/10.1016/j.enconman.2023.116970</a:t>
            </a:r>
          </a:p>
        </p:txBody>
      </p:sp>
      <p:sp>
        <p:nvSpPr>
          <p:cNvPr id="44" name="TextBox 43">
            <a:extLst>
              <a:ext uri="{FF2B5EF4-FFF2-40B4-BE49-F238E27FC236}">
                <a16:creationId xmlns:a16="http://schemas.microsoft.com/office/drawing/2014/main" id="{9E62D7E6-2DB4-D8ED-71D7-A59F0E2F1AEC}"/>
              </a:ext>
            </a:extLst>
          </p:cNvPr>
          <p:cNvSpPr txBox="1"/>
          <p:nvPr/>
        </p:nvSpPr>
        <p:spPr>
          <a:xfrm>
            <a:off x="1175820" y="4694232"/>
            <a:ext cx="15392400" cy="707886"/>
          </a:xfrm>
          <a:prstGeom prst="rect">
            <a:avLst/>
          </a:prstGeom>
          <a:noFill/>
        </p:spPr>
        <p:txBody>
          <a:bodyPr wrap="square" rtlCol="0">
            <a:spAutoFit/>
          </a:bodyPr>
          <a:lstStyle/>
          <a:p>
            <a:r>
              <a:rPr lang="en-IN" sz="2000" dirty="0">
                <a:solidFill>
                  <a:schemeClr val="bg1"/>
                </a:solidFill>
              </a:rPr>
              <a:t>[4] </a:t>
            </a:r>
            <a:r>
              <a:rPr lang="en-IN" sz="2000" dirty="0" err="1">
                <a:solidFill>
                  <a:schemeClr val="bg1"/>
                </a:solidFill>
              </a:rPr>
              <a:t>Ukoba</a:t>
            </a:r>
            <a:r>
              <a:rPr lang="en-IN" sz="2000" dirty="0">
                <a:solidFill>
                  <a:schemeClr val="bg1"/>
                </a:solidFill>
              </a:rPr>
              <a:t>, K., Olatunji, K. O., Adeoye, E., Jen, T. C., &amp; </a:t>
            </a:r>
            <a:r>
              <a:rPr lang="en-IN" sz="2000" dirty="0" err="1">
                <a:solidFill>
                  <a:schemeClr val="bg1"/>
                </a:solidFill>
              </a:rPr>
              <a:t>Madyira</a:t>
            </a:r>
            <a:r>
              <a:rPr lang="en-IN" sz="2000" dirty="0">
                <a:solidFill>
                  <a:schemeClr val="bg1"/>
                </a:solidFill>
              </a:rPr>
              <a:t>, D. M. (2024). Optimizing renewable energy systems through artificial intelligence: Review and future prospects. </a:t>
            </a:r>
            <a:r>
              <a:rPr lang="en-IN" sz="2000" i="1" dirty="0">
                <a:solidFill>
                  <a:schemeClr val="bg1"/>
                </a:solidFill>
              </a:rPr>
              <a:t>Energy &amp; Environment</a:t>
            </a:r>
            <a:r>
              <a:rPr lang="en-IN" sz="2000" dirty="0">
                <a:solidFill>
                  <a:schemeClr val="bg1"/>
                </a:solidFill>
              </a:rPr>
              <a:t>, </a:t>
            </a:r>
            <a:r>
              <a:rPr lang="en-IN" sz="2000" i="1" dirty="0">
                <a:solidFill>
                  <a:schemeClr val="bg1"/>
                </a:solidFill>
              </a:rPr>
              <a:t>35</a:t>
            </a:r>
            <a:r>
              <a:rPr lang="en-IN" sz="2000" dirty="0">
                <a:solidFill>
                  <a:schemeClr val="bg1"/>
                </a:solidFill>
              </a:rPr>
              <a:t>(7), 3833-3879. </a:t>
            </a:r>
            <a:r>
              <a:rPr lang="en-IN" sz="2000" u="sng" dirty="0">
                <a:solidFill>
                  <a:schemeClr val="bg1"/>
                </a:solidFill>
              </a:rPr>
              <a:t>https://doi.org/10.1177/0958305X241256293</a:t>
            </a:r>
          </a:p>
        </p:txBody>
      </p:sp>
      <p:sp>
        <p:nvSpPr>
          <p:cNvPr id="45" name="TextBox 44">
            <a:extLst>
              <a:ext uri="{FF2B5EF4-FFF2-40B4-BE49-F238E27FC236}">
                <a16:creationId xmlns:a16="http://schemas.microsoft.com/office/drawing/2014/main" id="{CC5387B2-A45A-8865-13E3-F23099CBBEFE}"/>
              </a:ext>
            </a:extLst>
          </p:cNvPr>
          <p:cNvSpPr txBox="1"/>
          <p:nvPr/>
        </p:nvSpPr>
        <p:spPr>
          <a:xfrm>
            <a:off x="1175820" y="5594586"/>
            <a:ext cx="14935200" cy="707886"/>
          </a:xfrm>
          <a:prstGeom prst="rect">
            <a:avLst/>
          </a:prstGeom>
          <a:noFill/>
        </p:spPr>
        <p:txBody>
          <a:bodyPr wrap="square" rtlCol="0">
            <a:spAutoFit/>
          </a:bodyPr>
          <a:lstStyle/>
          <a:p>
            <a:r>
              <a:rPr lang="en-IN" sz="2000" dirty="0">
                <a:solidFill>
                  <a:schemeClr val="bg1"/>
                </a:solidFill>
              </a:rPr>
              <a:t>[5] Khan, N., Khan, S. U., Ullah, F. U. M., Lee, M. Y., &amp; Baik, S. W. (2023). AI-assisted hybrid approach for energy management in IoT-based smart microgrid. </a:t>
            </a:r>
            <a:r>
              <a:rPr lang="en-IN" sz="2000" i="1" dirty="0">
                <a:solidFill>
                  <a:schemeClr val="bg1"/>
                </a:solidFill>
              </a:rPr>
              <a:t>IEEE Internet of Things Journal</a:t>
            </a:r>
            <a:r>
              <a:rPr lang="en-IN" sz="2000" dirty="0">
                <a:solidFill>
                  <a:schemeClr val="bg1"/>
                </a:solidFill>
              </a:rPr>
              <a:t>, </a:t>
            </a:r>
            <a:r>
              <a:rPr lang="en-IN" sz="2000" i="1" dirty="0">
                <a:solidFill>
                  <a:schemeClr val="bg1"/>
                </a:solidFill>
              </a:rPr>
              <a:t>10</a:t>
            </a:r>
            <a:r>
              <a:rPr lang="en-IN" sz="2000" dirty="0">
                <a:solidFill>
                  <a:schemeClr val="bg1"/>
                </a:solidFill>
              </a:rPr>
              <a:t>(21), 18861-18875</a:t>
            </a:r>
            <a:r>
              <a:rPr lang="en-IN" sz="2000" u="sng" dirty="0">
                <a:solidFill>
                  <a:schemeClr val="bg1"/>
                </a:solidFill>
              </a:rPr>
              <a:t>. https://doi.org/10.1109/JIOT.2023.3293800</a:t>
            </a:r>
          </a:p>
        </p:txBody>
      </p:sp>
      <p:sp>
        <p:nvSpPr>
          <p:cNvPr id="2" name="TextBox 1">
            <a:extLst>
              <a:ext uri="{FF2B5EF4-FFF2-40B4-BE49-F238E27FC236}">
                <a16:creationId xmlns:a16="http://schemas.microsoft.com/office/drawing/2014/main" id="{16BE21F4-9499-7B20-09C1-ED0EB552EABC}"/>
              </a:ext>
            </a:extLst>
          </p:cNvPr>
          <p:cNvSpPr txBox="1"/>
          <p:nvPr/>
        </p:nvSpPr>
        <p:spPr>
          <a:xfrm>
            <a:off x="1152577" y="6450711"/>
            <a:ext cx="11297188" cy="400110"/>
          </a:xfrm>
          <a:prstGeom prst="rect">
            <a:avLst/>
          </a:prstGeom>
          <a:noFill/>
        </p:spPr>
        <p:txBody>
          <a:bodyPr wrap="square" rtlCol="0">
            <a:spAutoFit/>
          </a:bodyPr>
          <a:lstStyle/>
          <a:p>
            <a:r>
              <a:rPr lang="en-IN" sz="2000" dirty="0">
                <a:solidFill>
                  <a:schemeClr val="bg1"/>
                </a:solidFill>
              </a:rPr>
              <a:t> [</a:t>
            </a:r>
            <a:r>
              <a:rPr lang="en-IN" sz="2000" dirty="0">
                <a:solidFill>
                  <a:schemeClr val="bg1"/>
                </a:solidFill>
                <a:hlinkClick r:id="rId3">
                  <a:extLst>
                    <a:ext uri="{A12FA001-AC4F-418D-AE19-62706E023703}">
                      <ahyp:hlinkClr xmlns:ahyp="http://schemas.microsoft.com/office/drawing/2018/hyperlinkcolor" val="tx"/>
                    </a:ext>
                  </a:extLst>
                </a:hlinkClick>
              </a:rPr>
              <a:t>https://www.kaggle.com/datasets/henriupton/wind-solar-electricity-production</a:t>
            </a:r>
            <a:r>
              <a:rPr lang="en-IN" sz="2000" dirty="0">
                <a:solidFill>
                  <a:schemeClr val="bg1"/>
                </a:solidFill>
              </a:rPr>
              <a:t> (datasets)</a:t>
            </a:r>
            <a:endParaRPr lang="en-IN" sz="2000" dirty="0"/>
          </a:p>
        </p:txBody>
      </p:sp>
      <p:sp>
        <p:nvSpPr>
          <p:cNvPr id="7" name="TextBox 6">
            <a:extLst>
              <a:ext uri="{FF2B5EF4-FFF2-40B4-BE49-F238E27FC236}">
                <a16:creationId xmlns:a16="http://schemas.microsoft.com/office/drawing/2014/main" id="{2A9FEF53-CD0B-4078-2909-5F0F11E73BB7}"/>
              </a:ext>
            </a:extLst>
          </p:cNvPr>
          <p:cNvSpPr txBox="1"/>
          <p:nvPr/>
        </p:nvSpPr>
        <p:spPr>
          <a:xfrm>
            <a:off x="1211726" y="6942841"/>
            <a:ext cx="15356493" cy="1323439"/>
          </a:xfrm>
          <a:prstGeom prst="rect">
            <a:avLst/>
          </a:prstGeom>
          <a:noFill/>
        </p:spPr>
        <p:txBody>
          <a:bodyPr wrap="square">
            <a:spAutoFit/>
          </a:bodyPr>
          <a:lstStyle/>
          <a:p>
            <a:r>
              <a:rPr lang="en-IN" sz="2000" dirty="0">
                <a:solidFill>
                  <a:schemeClr val="bg1"/>
                </a:solidFill>
              </a:rPr>
              <a:t>FIGURE 1:PERCENT OF RENEWABLE ENERGY SOURCE IN TOTAL LITERATURE(https://www.mdpi.com/2076-3417/10/17/5975) </a:t>
            </a:r>
          </a:p>
          <a:p>
            <a:endParaRPr lang="en-IN" sz="2000" dirty="0">
              <a:solidFill>
                <a:schemeClr val="bg1"/>
              </a:solidFill>
            </a:endParaRPr>
          </a:p>
          <a:p>
            <a:endParaRPr lang="en-IN" sz="2000" dirty="0">
              <a:solidFill>
                <a:schemeClr val="bg1"/>
              </a:solidFill>
            </a:endParaRPr>
          </a:p>
          <a:p>
            <a:endParaRPr lang="en-IN" sz="2000" dirty="0">
              <a:solidFill>
                <a:schemeClr val="bg1"/>
              </a:solidFill>
            </a:endParaRPr>
          </a:p>
        </p:txBody>
      </p:sp>
      <p:sp>
        <p:nvSpPr>
          <p:cNvPr id="8" name="TextBox 7">
            <a:extLst>
              <a:ext uri="{FF2B5EF4-FFF2-40B4-BE49-F238E27FC236}">
                <a16:creationId xmlns:a16="http://schemas.microsoft.com/office/drawing/2014/main" id="{F8379542-47C8-37F9-DD16-B8A3C190A0DF}"/>
              </a:ext>
            </a:extLst>
          </p:cNvPr>
          <p:cNvSpPr txBox="1"/>
          <p:nvPr/>
        </p:nvSpPr>
        <p:spPr>
          <a:xfrm>
            <a:off x="1211725" y="7492607"/>
            <a:ext cx="14028273" cy="677108"/>
          </a:xfrm>
          <a:prstGeom prst="rect">
            <a:avLst/>
          </a:prstGeom>
          <a:noFill/>
        </p:spPr>
        <p:txBody>
          <a:bodyPr wrap="square" rtlCol="0">
            <a:spAutoFit/>
          </a:bodyPr>
          <a:lstStyle/>
          <a:p>
            <a:r>
              <a:rPr lang="en-IN" sz="2000" dirty="0">
                <a:solidFill>
                  <a:schemeClr val="bg1"/>
                </a:solidFill>
              </a:rPr>
              <a:t>FIGURE2: Flowchart representation of  Methodology</a:t>
            </a:r>
          </a:p>
          <a:p>
            <a:endParaRPr lang="en-IN" dirty="0"/>
          </a:p>
        </p:txBody>
      </p:sp>
      <p:sp>
        <p:nvSpPr>
          <p:cNvPr id="9" name="TextBox 8">
            <a:extLst>
              <a:ext uri="{FF2B5EF4-FFF2-40B4-BE49-F238E27FC236}">
                <a16:creationId xmlns:a16="http://schemas.microsoft.com/office/drawing/2014/main" id="{501D7025-3573-EB7F-6C10-EA4DEE602FC3}"/>
              </a:ext>
            </a:extLst>
          </p:cNvPr>
          <p:cNvSpPr txBox="1"/>
          <p:nvPr/>
        </p:nvSpPr>
        <p:spPr>
          <a:xfrm>
            <a:off x="1193773" y="8091180"/>
            <a:ext cx="14899293" cy="677108"/>
          </a:xfrm>
          <a:prstGeom prst="rect">
            <a:avLst/>
          </a:prstGeom>
          <a:noFill/>
        </p:spPr>
        <p:txBody>
          <a:bodyPr wrap="square" rtlCol="0">
            <a:spAutoFit/>
          </a:bodyPr>
          <a:lstStyle/>
          <a:p>
            <a:r>
              <a:rPr lang="en-IN" sz="2000" dirty="0">
                <a:solidFill>
                  <a:schemeClr val="bg1"/>
                </a:solidFill>
              </a:rPr>
              <a:t>Figure 3: Detailed analysis of flowchart of Hybrid AI-Based Adaptive Weather-Cluster Solar Forecasting System</a:t>
            </a:r>
            <a:r>
              <a:rPr lang="en-IN" dirty="0"/>
              <a:t>.</a:t>
            </a:r>
          </a:p>
          <a:p>
            <a:endParaRPr lang="en-IN" dirty="0"/>
          </a:p>
        </p:txBody>
      </p:sp>
    </p:spTree>
    <p:extLst>
      <p:ext uri="{BB962C8B-B14F-4D97-AF65-F5344CB8AC3E}">
        <p14:creationId xmlns:p14="http://schemas.microsoft.com/office/powerpoint/2010/main" val="1259417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a:extLst>
            <a:ext uri="{FF2B5EF4-FFF2-40B4-BE49-F238E27FC236}">
              <a16:creationId xmlns:a16="http://schemas.microsoft.com/office/drawing/2014/main" id="{5542508D-8865-C3A5-ED7F-21E3534A2E98}"/>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C9FC71B8-3AEA-00D0-EE31-F5630E5A5109}"/>
              </a:ext>
            </a:extLst>
          </p:cNvPr>
          <p:cNvGrpSpPr/>
          <p:nvPr/>
        </p:nvGrpSpPr>
        <p:grpSpPr>
          <a:xfrm>
            <a:off x="10460036" y="-934693"/>
            <a:ext cx="4202211" cy="6003158"/>
            <a:chOff x="0" y="0"/>
            <a:chExt cx="4445000" cy="6350000"/>
          </a:xfrm>
        </p:grpSpPr>
        <p:sp>
          <p:nvSpPr>
            <p:cNvPr id="15" name="Freeform 15">
              <a:extLst>
                <a:ext uri="{FF2B5EF4-FFF2-40B4-BE49-F238E27FC236}">
                  <a16:creationId xmlns:a16="http://schemas.microsoft.com/office/drawing/2014/main" id="{BE794646-2EE1-FE11-9EBA-570DA4E52241}"/>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grpSp>
        <p:nvGrpSpPr>
          <p:cNvPr id="16" name="Group 16">
            <a:extLst>
              <a:ext uri="{FF2B5EF4-FFF2-40B4-BE49-F238E27FC236}">
                <a16:creationId xmlns:a16="http://schemas.microsoft.com/office/drawing/2014/main" id="{5C17B747-FE55-B4A1-67D8-1DEE07DF856B}"/>
              </a:ext>
            </a:extLst>
          </p:cNvPr>
          <p:cNvGrpSpPr/>
          <p:nvPr/>
        </p:nvGrpSpPr>
        <p:grpSpPr>
          <a:xfrm rot="5400000">
            <a:off x="16605949" y="8402070"/>
            <a:ext cx="841991" cy="841991"/>
            <a:chOff x="0" y="0"/>
            <a:chExt cx="812800" cy="812800"/>
          </a:xfrm>
        </p:grpSpPr>
        <p:sp>
          <p:nvSpPr>
            <p:cNvPr id="17" name="Freeform 17">
              <a:extLst>
                <a:ext uri="{FF2B5EF4-FFF2-40B4-BE49-F238E27FC236}">
                  <a16:creationId xmlns:a16="http://schemas.microsoft.com/office/drawing/2014/main" id="{DBCE0424-F8EB-2C56-4D0A-9D3C6F4ADB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IN"/>
            </a:p>
          </p:txBody>
        </p:sp>
      </p:grpSp>
      <p:grpSp>
        <p:nvGrpSpPr>
          <p:cNvPr id="18" name="Group 18">
            <a:extLst>
              <a:ext uri="{FF2B5EF4-FFF2-40B4-BE49-F238E27FC236}">
                <a16:creationId xmlns:a16="http://schemas.microsoft.com/office/drawing/2014/main" id="{90A87936-8C93-B90F-2A98-A3AEF7677446}"/>
              </a:ext>
            </a:extLst>
          </p:cNvPr>
          <p:cNvGrpSpPr/>
          <p:nvPr/>
        </p:nvGrpSpPr>
        <p:grpSpPr>
          <a:xfrm>
            <a:off x="-5173055" y="-2043171"/>
            <a:ext cx="5754080" cy="8220114"/>
            <a:chOff x="0" y="0"/>
            <a:chExt cx="4445000" cy="6350000"/>
          </a:xfrm>
        </p:grpSpPr>
        <p:sp>
          <p:nvSpPr>
            <p:cNvPr id="19" name="Freeform 19">
              <a:extLst>
                <a:ext uri="{FF2B5EF4-FFF2-40B4-BE49-F238E27FC236}">
                  <a16:creationId xmlns:a16="http://schemas.microsoft.com/office/drawing/2014/main" id="{46340E8B-A9C4-358F-02FB-39D4D69242BC}"/>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24" name="TextBox 24">
            <a:extLst>
              <a:ext uri="{FF2B5EF4-FFF2-40B4-BE49-F238E27FC236}">
                <a16:creationId xmlns:a16="http://schemas.microsoft.com/office/drawing/2014/main" id="{6C4E1283-2CBB-7873-DAC3-A9BEFA31165A}"/>
              </a:ext>
            </a:extLst>
          </p:cNvPr>
          <p:cNvSpPr txBox="1"/>
          <p:nvPr/>
        </p:nvSpPr>
        <p:spPr>
          <a:xfrm>
            <a:off x="4754242" y="7717179"/>
            <a:ext cx="880028" cy="684892"/>
          </a:xfrm>
          <a:prstGeom prst="rect">
            <a:avLst/>
          </a:prstGeom>
        </p:spPr>
        <p:txBody>
          <a:bodyPr lIns="0" tIns="0" rIns="0" bIns="0" rtlCol="0" anchor="t">
            <a:spAutoFit/>
          </a:bodyPr>
          <a:lstStyle/>
          <a:p>
            <a:pPr marL="0" lvl="0" indent="0" algn="ctr">
              <a:lnSpc>
                <a:spcPts val="5526"/>
              </a:lnSpc>
              <a:spcBef>
                <a:spcPct val="0"/>
              </a:spcBef>
            </a:pPr>
            <a:r>
              <a:rPr lang="en-US" sz="4004" b="1">
                <a:solidFill>
                  <a:srgbClr val="051D40"/>
                </a:solidFill>
                <a:latin typeface="Almarai Bold"/>
                <a:ea typeface="Almarai Bold"/>
                <a:cs typeface="Almarai Bold"/>
                <a:sym typeface="Almarai Bold"/>
              </a:rPr>
              <a:t>04</a:t>
            </a:r>
          </a:p>
        </p:txBody>
      </p:sp>
      <p:grpSp>
        <p:nvGrpSpPr>
          <p:cNvPr id="31" name="Group 31">
            <a:extLst>
              <a:ext uri="{FF2B5EF4-FFF2-40B4-BE49-F238E27FC236}">
                <a16:creationId xmlns:a16="http://schemas.microsoft.com/office/drawing/2014/main" id="{0CC64627-E83F-0C2C-FC7E-D836104CE8F0}"/>
              </a:ext>
            </a:extLst>
          </p:cNvPr>
          <p:cNvGrpSpPr/>
          <p:nvPr/>
        </p:nvGrpSpPr>
        <p:grpSpPr>
          <a:xfrm rot="-10800000">
            <a:off x="16605949" y="1202778"/>
            <a:ext cx="5246522" cy="7495031"/>
            <a:chOff x="0" y="0"/>
            <a:chExt cx="4445000" cy="6350000"/>
          </a:xfrm>
        </p:grpSpPr>
        <p:sp>
          <p:nvSpPr>
            <p:cNvPr id="32" name="Freeform 32">
              <a:extLst>
                <a:ext uri="{FF2B5EF4-FFF2-40B4-BE49-F238E27FC236}">
                  <a16:creationId xmlns:a16="http://schemas.microsoft.com/office/drawing/2014/main" id="{A4E0020A-C2AE-8B8A-F7DE-7812E21F1B86}"/>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IN"/>
            </a:p>
          </p:txBody>
        </p:sp>
      </p:grpSp>
      <p:sp>
        <p:nvSpPr>
          <p:cNvPr id="7" name="TextBox 6">
            <a:extLst>
              <a:ext uri="{FF2B5EF4-FFF2-40B4-BE49-F238E27FC236}">
                <a16:creationId xmlns:a16="http://schemas.microsoft.com/office/drawing/2014/main" id="{A615EB4D-65F6-182F-BB13-B259DCB2FB56}"/>
              </a:ext>
            </a:extLst>
          </p:cNvPr>
          <p:cNvSpPr txBox="1"/>
          <p:nvPr/>
        </p:nvSpPr>
        <p:spPr>
          <a:xfrm>
            <a:off x="1450770" y="1304651"/>
            <a:ext cx="13709333" cy="1015663"/>
          </a:xfrm>
          <a:prstGeom prst="rect">
            <a:avLst/>
          </a:prstGeom>
          <a:noFill/>
        </p:spPr>
        <p:txBody>
          <a:bodyPr wrap="square">
            <a:spAutoFit/>
          </a:bodyPr>
          <a:lstStyle/>
          <a:p>
            <a:r>
              <a:rPr lang="en-IN" sz="2000" dirty="0">
                <a:solidFill>
                  <a:schemeClr val="bg1"/>
                </a:solidFill>
              </a:rPr>
              <a:t>[6] </a:t>
            </a:r>
            <a:r>
              <a:rPr lang="en-IN" sz="2000" dirty="0" err="1">
                <a:solidFill>
                  <a:schemeClr val="bg1"/>
                </a:solidFill>
              </a:rPr>
              <a:t>Ladjal</a:t>
            </a:r>
            <a:r>
              <a:rPr lang="en-IN" sz="2000" dirty="0">
                <a:solidFill>
                  <a:schemeClr val="bg1"/>
                </a:solidFill>
              </a:rPr>
              <a:t>, B., </a:t>
            </a:r>
            <a:r>
              <a:rPr lang="en-IN" sz="2000" dirty="0" err="1">
                <a:solidFill>
                  <a:schemeClr val="bg1"/>
                </a:solidFill>
              </a:rPr>
              <a:t>Nadour</a:t>
            </a:r>
            <a:r>
              <a:rPr lang="en-IN" sz="2000" dirty="0">
                <a:solidFill>
                  <a:schemeClr val="bg1"/>
                </a:solidFill>
              </a:rPr>
              <a:t>, M., </a:t>
            </a:r>
            <a:r>
              <a:rPr lang="en-IN" sz="2000" dirty="0" err="1">
                <a:solidFill>
                  <a:schemeClr val="bg1"/>
                </a:solidFill>
              </a:rPr>
              <a:t>Bechouat</a:t>
            </a:r>
            <a:r>
              <a:rPr lang="en-IN" sz="2000" dirty="0">
                <a:solidFill>
                  <a:schemeClr val="bg1"/>
                </a:solidFill>
              </a:rPr>
              <a:t>, M., </a:t>
            </a:r>
            <a:r>
              <a:rPr lang="en-IN" sz="2000" dirty="0" err="1">
                <a:solidFill>
                  <a:schemeClr val="bg1"/>
                </a:solidFill>
              </a:rPr>
              <a:t>Hadroug</a:t>
            </a:r>
            <a:r>
              <a:rPr lang="en-IN" sz="2000" dirty="0">
                <a:solidFill>
                  <a:schemeClr val="bg1"/>
                </a:solidFill>
              </a:rPr>
              <a:t>, N., </a:t>
            </a:r>
            <a:r>
              <a:rPr lang="en-IN" sz="2000" dirty="0" err="1">
                <a:solidFill>
                  <a:schemeClr val="bg1"/>
                </a:solidFill>
              </a:rPr>
              <a:t>Sedraoui</a:t>
            </a:r>
            <a:r>
              <a:rPr lang="en-IN" sz="2000" dirty="0">
                <a:solidFill>
                  <a:schemeClr val="bg1"/>
                </a:solidFill>
              </a:rPr>
              <a:t>, M., </a:t>
            </a:r>
            <a:r>
              <a:rPr lang="en-IN" sz="2000" dirty="0" err="1">
                <a:solidFill>
                  <a:schemeClr val="bg1"/>
                </a:solidFill>
              </a:rPr>
              <a:t>Rabehi</a:t>
            </a:r>
            <a:r>
              <a:rPr lang="en-IN" sz="2000" dirty="0">
                <a:solidFill>
                  <a:schemeClr val="bg1"/>
                </a:solidFill>
              </a:rPr>
              <a:t>, A., ... &amp; </a:t>
            </a:r>
            <a:r>
              <a:rPr lang="en-IN" sz="2000" dirty="0" err="1">
                <a:solidFill>
                  <a:schemeClr val="bg1"/>
                </a:solidFill>
              </a:rPr>
              <a:t>Agajie</a:t>
            </a:r>
            <a:r>
              <a:rPr lang="en-IN" sz="2000" dirty="0">
                <a:solidFill>
                  <a:schemeClr val="bg1"/>
                </a:solidFill>
              </a:rPr>
              <a:t>, T. F. (2025). Hybrid deep learning CNN-LSTM model for forecasting direct normal irradiance: a study on solar potential in </a:t>
            </a:r>
            <a:r>
              <a:rPr lang="en-IN" sz="2000" dirty="0" err="1">
                <a:solidFill>
                  <a:schemeClr val="bg1"/>
                </a:solidFill>
              </a:rPr>
              <a:t>Ghardaia</a:t>
            </a:r>
            <a:r>
              <a:rPr lang="en-IN" sz="2000" dirty="0">
                <a:solidFill>
                  <a:schemeClr val="bg1"/>
                </a:solidFill>
              </a:rPr>
              <a:t>, Algeria. </a:t>
            </a:r>
            <a:r>
              <a:rPr lang="en-IN" sz="2000" i="1" dirty="0">
                <a:solidFill>
                  <a:schemeClr val="bg1"/>
                </a:solidFill>
              </a:rPr>
              <a:t>Scientific Reports</a:t>
            </a:r>
            <a:r>
              <a:rPr lang="en-IN" sz="2000" dirty="0">
                <a:solidFill>
                  <a:schemeClr val="bg1"/>
                </a:solidFill>
              </a:rPr>
              <a:t>, </a:t>
            </a:r>
            <a:r>
              <a:rPr lang="en-IN" sz="2000" i="1" dirty="0">
                <a:solidFill>
                  <a:schemeClr val="bg1"/>
                </a:solidFill>
              </a:rPr>
              <a:t>15</a:t>
            </a:r>
            <a:r>
              <a:rPr lang="en-IN" sz="2000" dirty="0">
                <a:solidFill>
                  <a:schemeClr val="bg1"/>
                </a:solidFill>
              </a:rPr>
              <a:t>(1), 15404.</a:t>
            </a:r>
            <a:r>
              <a:rPr lang="en-IN" sz="2000" u="sng" dirty="0">
                <a:solidFill>
                  <a:schemeClr val="bg1"/>
                </a:solidFill>
              </a:rPr>
              <a:t> https://doi.org/10.1038/s41598-025-94239-z</a:t>
            </a:r>
          </a:p>
        </p:txBody>
      </p:sp>
      <p:sp>
        <p:nvSpPr>
          <p:cNvPr id="4" name="TextBox 3">
            <a:extLst>
              <a:ext uri="{FF2B5EF4-FFF2-40B4-BE49-F238E27FC236}">
                <a16:creationId xmlns:a16="http://schemas.microsoft.com/office/drawing/2014/main" id="{6127CBE3-B1AF-7B3F-9402-C88FEE2FFE67}"/>
              </a:ext>
            </a:extLst>
          </p:cNvPr>
          <p:cNvSpPr txBox="1"/>
          <p:nvPr/>
        </p:nvSpPr>
        <p:spPr>
          <a:xfrm>
            <a:off x="1447800" y="2551007"/>
            <a:ext cx="13712303" cy="984885"/>
          </a:xfrm>
          <a:prstGeom prst="rect">
            <a:avLst/>
          </a:prstGeom>
          <a:noFill/>
        </p:spPr>
        <p:txBody>
          <a:bodyPr wrap="square">
            <a:spAutoFit/>
          </a:bodyPr>
          <a:lstStyle/>
          <a:p>
            <a:r>
              <a:rPr lang="en-IN" sz="2000" dirty="0">
                <a:solidFill>
                  <a:schemeClr val="bg1"/>
                </a:solidFill>
              </a:rPr>
              <a:t>[7] </a:t>
            </a:r>
            <a:r>
              <a:rPr lang="en-US" sz="2000" dirty="0">
                <a:solidFill>
                  <a:schemeClr val="bg1"/>
                </a:solidFill>
              </a:rPr>
              <a:t>Zhou, H., Liu, Q., Yan, K., &amp; Du, Y. (2021). Deep learning enhanced solar energy forecasting with AI‐driven IoT. </a:t>
            </a:r>
            <a:r>
              <a:rPr lang="en-US" sz="2000" i="1" dirty="0">
                <a:solidFill>
                  <a:schemeClr val="bg1"/>
                </a:solidFill>
              </a:rPr>
              <a:t>Wireless Communications and Mobile Computing</a:t>
            </a:r>
            <a:r>
              <a:rPr lang="en-US" sz="2000" dirty="0">
                <a:solidFill>
                  <a:schemeClr val="bg1"/>
                </a:solidFill>
              </a:rPr>
              <a:t>, </a:t>
            </a:r>
            <a:r>
              <a:rPr lang="en-US" sz="2000" i="1" dirty="0">
                <a:solidFill>
                  <a:schemeClr val="bg1"/>
                </a:solidFill>
              </a:rPr>
              <a:t>2021</a:t>
            </a:r>
            <a:r>
              <a:rPr lang="en-US" sz="2000" dirty="0">
                <a:solidFill>
                  <a:schemeClr val="bg1"/>
                </a:solidFill>
              </a:rPr>
              <a:t>(1), 9249387.</a:t>
            </a:r>
            <a:r>
              <a:rPr lang="en-IN" sz="2000" dirty="0">
                <a:solidFill>
                  <a:schemeClr val="bg1"/>
                </a:solidFill>
                <a:hlinkClick r:id="rId3">
                  <a:extLst>
                    <a:ext uri="{A12FA001-AC4F-418D-AE19-62706E023703}">
                      <ahyp:hlinkClr xmlns:ahyp="http://schemas.microsoft.com/office/drawing/2018/hyperlinkcolor" val="tx"/>
                    </a:ext>
                  </a:extLst>
                </a:hlinkClick>
              </a:rPr>
              <a:t>https://doi.org/10.1155/2021/9249387</a:t>
            </a:r>
            <a:endParaRPr lang="en-IN" sz="2000" dirty="0">
              <a:solidFill>
                <a:schemeClr val="bg1"/>
              </a:solidFill>
            </a:endParaRPr>
          </a:p>
          <a:p>
            <a:endParaRPr lang="en-IN" dirty="0"/>
          </a:p>
        </p:txBody>
      </p:sp>
      <p:sp>
        <p:nvSpPr>
          <p:cNvPr id="9" name="TextBox 8">
            <a:extLst>
              <a:ext uri="{FF2B5EF4-FFF2-40B4-BE49-F238E27FC236}">
                <a16:creationId xmlns:a16="http://schemas.microsoft.com/office/drawing/2014/main" id="{B3553D0B-04B3-0FA3-6B29-D02AC36080CB}"/>
              </a:ext>
            </a:extLst>
          </p:cNvPr>
          <p:cNvSpPr txBox="1"/>
          <p:nvPr/>
        </p:nvSpPr>
        <p:spPr>
          <a:xfrm>
            <a:off x="1463867" y="3479189"/>
            <a:ext cx="13852332" cy="1015663"/>
          </a:xfrm>
          <a:prstGeom prst="rect">
            <a:avLst/>
          </a:prstGeom>
          <a:noFill/>
        </p:spPr>
        <p:txBody>
          <a:bodyPr wrap="square">
            <a:spAutoFit/>
          </a:bodyPr>
          <a:lstStyle/>
          <a:p>
            <a:r>
              <a:rPr lang="en-IN" sz="2000" dirty="0">
                <a:solidFill>
                  <a:schemeClr val="bg1"/>
                </a:solidFill>
              </a:rPr>
              <a:t>[8] Mariappan, Y., Ramasamy, K., &amp; Velusamy, D. (2025). An optimized deep learning based hybrid model for prediction of daily average global solar irradiance using CNN SLSTM architecture. </a:t>
            </a:r>
            <a:r>
              <a:rPr lang="en-IN" sz="2000" i="1" dirty="0">
                <a:solidFill>
                  <a:schemeClr val="bg1"/>
                </a:solidFill>
              </a:rPr>
              <a:t>Scientific Reports</a:t>
            </a:r>
            <a:r>
              <a:rPr lang="en-IN" sz="2000" dirty="0">
                <a:solidFill>
                  <a:schemeClr val="bg1"/>
                </a:solidFill>
              </a:rPr>
              <a:t>, </a:t>
            </a:r>
            <a:r>
              <a:rPr lang="en-IN" sz="2000" i="1" dirty="0">
                <a:solidFill>
                  <a:schemeClr val="bg1"/>
                </a:solidFill>
              </a:rPr>
              <a:t>15</a:t>
            </a:r>
            <a:r>
              <a:rPr lang="en-IN" sz="2000" dirty="0">
                <a:solidFill>
                  <a:schemeClr val="bg1"/>
                </a:solidFill>
              </a:rPr>
              <a:t>(1), 10761. </a:t>
            </a:r>
            <a:r>
              <a:rPr lang="en-IN" sz="2000" u="sng" dirty="0">
                <a:solidFill>
                  <a:schemeClr val="bg1"/>
                </a:solidFill>
              </a:rPr>
              <a:t>https://doi.org/10.1038/s41598-025-95118-3</a:t>
            </a:r>
          </a:p>
        </p:txBody>
      </p:sp>
      <p:sp>
        <p:nvSpPr>
          <p:cNvPr id="2" name="TextBox 1">
            <a:extLst>
              <a:ext uri="{FF2B5EF4-FFF2-40B4-BE49-F238E27FC236}">
                <a16:creationId xmlns:a16="http://schemas.microsoft.com/office/drawing/2014/main" id="{822BA410-30B3-30DE-A803-902481CC75FC}"/>
              </a:ext>
            </a:extLst>
          </p:cNvPr>
          <p:cNvSpPr txBox="1"/>
          <p:nvPr/>
        </p:nvSpPr>
        <p:spPr>
          <a:xfrm>
            <a:off x="1463866" y="4613336"/>
            <a:ext cx="13852333" cy="1292662"/>
          </a:xfrm>
          <a:prstGeom prst="rect">
            <a:avLst/>
          </a:prstGeom>
          <a:noFill/>
        </p:spPr>
        <p:txBody>
          <a:bodyPr wrap="square" rtlCol="0">
            <a:spAutoFit/>
          </a:bodyPr>
          <a:lstStyle/>
          <a:p>
            <a:r>
              <a:rPr lang="en-US" sz="2000" dirty="0">
                <a:solidFill>
                  <a:schemeClr val="bg1"/>
                </a:solidFill>
              </a:rPr>
              <a:t>[9]</a:t>
            </a:r>
            <a:r>
              <a:rPr lang="en-IN" sz="2000" dirty="0">
                <a:solidFill>
                  <a:schemeClr val="bg1"/>
                </a:solidFill>
              </a:rPr>
              <a:t> </a:t>
            </a:r>
            <a:r>
              <a:rPr lang="en-IN" sz="2000" dirty="0" err="1">
                <a:solidFill>
                  <a:schemeClr val="bg1"/>
                </a:solidFill>
              </a:rPr>
              <a:t>Dissawa</a:t>
            </a:r>
            <a:r>
              <a:rPr lang="en-IN" sz="2000" dirty="0">
                <a:solidFill>
                  <a:schemeClr val="bg1"/>
                </a:solidFill>
              </a:rPr>
              <a:t>, L. H., </a:t>
            </a:r>
            <a:r>
              <a:rPr lang="en-IN" sz="2000" dirty="0" err="1">
                <a:solidFill>
                  <a:schemeClr val="bg1"/>
                </a:solidFill>
              </a:rPr>
              <a:t>Godaliyadda</a:t>
            </a:r>
            <a:r>
              <a:rPr lang="en-IN" sz="2000" dirty="0">
                <a:solidFill>
                  <a:schemeClr val="bg1"/>
                </a:solidFill>
              </a:rPr>
              <a:t>, R. I., Ekanayake, P. B., </a:t>
            </a:r>
            <a:r>
              <a:rPr lang="en-IN" sz="2000" dirty="0" err="1">
                <a:solidFill>
                  <a:schemeClr val="bg1"/>
                </a:solidFill>
              </a:rPr>
              <a:t>Agalgaonkar</a:t>
            </a:r>
            <a:r>
              <a:rPr lang="en-IN" sz="2000" dirty="0">
                <a:solidFill>
                  <a:schemeClr val="bg1"/>
                </a:solidFill>
              </a:rPr>
              <a:t>, A. P., Robinson, D., Ekanayake, J. B., &amp; Perera, S. (2021). Sky Image‐Based Localized, Short‐Term Solar Irradiance Forecasting for Multiple PV Sites via Cloud Motion Tracking. </a:t>
            </a:r>
            <a:r>
              <a:rPr lang="en-IN" sz="2000" i="1" dirty="0">
                <a:solidFill>
                  <a:schemeClr val="bg1"/>
                </a:solidFill>
              </a:rPr>
              <a:t>International Journal of Photoenergy</a:t>
            </a:r>
            <a:r>
              <a:rPr lang="en-IN" sz="2000" dirty="0">
                <a:solidFill>
                  <a:schemeClr val="bg1"/>
                </a:solidFill>
              </a:rPr>
              <a:t>, </a:t>
            </a:r>
            <a:r>
              <a:rPr lang="en-IN" sz="2000" i="1" dirty="0">
                <a:solidFill>
                  <a:schemeClr val="bg1"/>
                </a:solidFill>
              </a:rPr>
              <a:t>2021</a:t>
            </a:r>
            <a:r>
              <a:rPr lang="en-IN" sz="2000" dirty="0">
                <a:solidFill>
                  <a:schemeClr val="bg1"/>
                </a:solidFill>
              </a:rPr>
              <a:t>(1), 9973010.</a:t>
            </a:r>
            <a:r>
              <a:rPr lang="en-IN" sz="2000" dirty="0">
                <a:solidFill>
                  <a:schemeClr val="bg1"/>
                </a:solidFill>
                <a:hlinkClick r:id="rId4">
                  <a:extLst>
                    <a:ext uri="{A12FA001-AC4F-418D-AE19-62706E023703}">
                      <ahyp:hlinkClr xmlns:ahyp="http://schemas.microsoft.com/office/drawing/2018/hyperlinkcolor" val="tx"/>
                    </a:ext>
                  </a:extLst>
                </a:hlinkClick>
              </a:rPr>
              <a:t> https://doi.org/10.1155/2021/9973010</a:t>
            </a:r>
            <a:endParaRPr lang="en-IN" sz="2000" dirty="0">
              <a:solidFill>
                <a:schemeClr val="bg1"/>
              </a:solidFill>
            </a:endParaRPr>
          </a:p>
          <a:p>
            <a:endParaRPr lang="en-IN" dirty="0"/>
          </a:p>
        </p:txBody>
      </p:sp>
      <p:sp>
        <p:nvSpPr>
          <p:cNvPr id="3" name="TextBox 2">
            <a:extLst>
              <a:ext uri="{FF2B5EF4-FFF2-40B4-BE49-F238E27FC236}">
                <a16:creationId xmlns:a16="http://schemas.microsoft.com/office/drawing/2014/main" id="{5FDC260D-9972-62C0-5414-D48289DE85D5}"/>
              </a:ext>
            </a:extLst>
          </p:cNvPr>
          <p:cNvSpPr txBox="1"/>
          <p:nvPr/>
        </p:nvSpPr>
        <p:spPr>
          <a:xfrm>
            <a:off x="1447800" y="5913493"/>
            <a:ext cx="15279584" cy="400110"/>
          </a:xfrm>
          <a:prstGeom prst="rect">
            <a:avLst/>
          </a:prstGeom>
          <a:noFill/>
        </p:spPr>
        <p:txBody>
          <a:bodyPr wrap="square" rtlCol="0">
            <a:spAutoFit/>
          </a:bodyPr>
          <a:lstStyle/>
          <a:p>
            <a:r>
              <a:rPr lang="en-IN" sz="2000" b="1" dirty="0">
                <a:solidFill>
                  <a:schemeClr val="bg1"/>
                </a:solidFill>
              </a:rPr>
              <a:t>FIGURE 4 : SYSTEM INTERFACE OVERVIEW : THE FRONT PAGE OF WEBSITE</a:t>
            </a:r>
          </a:p>
        </p:txBody>
      </p:sp>
      <p:sp>
        <p:nvSpPr>
          <p:cNvPr id="5" name="TextBox 4">
            <a:extLst>
              <a:ext uri="{FF2B5EF4-FFF2-40B4-BE49-F238E27FC236}">
                <a16:creationId xmlns:a16="http://schemas.microsoft.com/office/drawing/2014/main" id="{190CF3C7-CA44-202F-4CDD-62B6292D3C7F}"/>
              </a:ext>
            </a:extLst>
          </p:cNvPr>
          <p:cNvSpPr txBox="1"/>
          <p:nvPr/>
        </p:nvSpPr>
        <p:spPr>
          <a:xfrm>
            <a:off x="1463040" y="6544296"/>
            <a:ext cx="12801600" cy="400110"/>
          </a:xfrm>
          <a:prstGeom prst="rect">
            <a:avLst/>
          </a:prstGeom>
          <a:noFill/>
        </p:spPr>
        <p:txBody>
          <a:bodyPr wrap="square" rtlCol="0">
            <a:spAutoFit/>
          </a:bodyPr>
          <a:lstStyle/>
          <a:p>
            <a:r>
              <a:rPr lang="en-IN" sz="2000" b="1" dirty="0">
                <a:solidFill>
                  <a:schemeClr val="bg1"/>
                </a:solidFill>
              </a:rPr>
              <a:t>FIGURE 5 :  MODEL RESULTS, USING RANDOM FOREST </a:t>
            </a:r>
          </a:p>
        </p:txBody>
      </p:sp>
      <p:sp>
        <p:nvSpPr>
          <p:cNvPr id="6" name="TextBox 5">
            <a:extLst>
              <a:ext uri="{FF2B5EF4-FFF2-40B4-BE49-F238E27FC236}">
                <a16:creationId xmlns:a16="http://schemas.microsoft.com/office/drawing/2014/main" id="{0EF215A3-F647-0F2E-D006-43C462A31444}"/>
              </a:ext>
            </a:extLst>
          </p:cNvPr>
          <p:cNvSpPr txBox="1"/>
          <p:nvPr/>
        </p:nvSpPr>
        <p:spPr>
          <a:xfrm>
            <a:off x="1447800" y="7191759"/>
            <a:ext cx="13508830" cy="400110"/>
          </a:xfrm>
          <a:prstGeom prst="rect">
            <a:avLst/>
          </a:prstGeom>
          <a:noFill/>
        </p:spPr>
        <p:txBody>
          <a:bodyPr wrap="square">
            <a:spAutoFit/>
          </a:bodyPr>
          <a:lstStyle/>
          <a:p>
            <a:pPr>
              <a:buNone/>
            </a:pPr>
            <a:r>
              <a:rPr lang="en-US" sz="2000" b="1" dirty="0">
                <a:solidFill>
                  <a:schemeClr val="bg1"/>
                </a:solidFill>
              </a:rPr>
              <a:t>FIGURE 6 :  CLUSTER SCREEN CLASSIFIES INTO THREE WEATHERS</a:t>
            </a:r>
          </a:p>
        </p:txBody>
      </p:sp>
      <p:sp>
        <p:nvSpPr>
          <p:cNvPr id="8" name="TextBox 7">
            <a:extLst>
              <a:ext uri="{FF2B5EF4-FFF2-40B4-BE49-F238E27FC236}">
                <a16:creationId xmlns:a16="http://schemas.microsoft.com/office/drawing/2014/main" id="{CD4A9846-29A9-6FCA-0C78-1BF54B24314D}"/>
              </a:ext>
            </a:extLst>
          </p:cNvPr>
          <p:cNvSpPr txBox="1"/>
          <p:nvPr/>
        </p:nvSpPr>
        <p:spPr>
          <a:xfrm>
            <a:off x="1463040" y="7839222"/>
            <a:ext cx="13510260" cy="400110"/>
          </a:xfrm>
          <a:prstGeom prst="rect">
            <a:avLst/>
          </a:prstGeom>
          <a:noFill/>
        </p:spPr>
        <p:txBody>
          <a:bodyPr wrap="square">
            <a:spAutoFit/>
          </a:bodyPr>
          <a:lstStyle/>
          <a:p>
            <a:pPr>
              <a:buNone/>
            </a:pPr>
            <a:r>
              <a:rPr lang="en-US" sz="2000" b="1" dirty="0">
                <a:solidFill>
                  <a:schemeClr val="bg1"/>
                </a:solidFill>
              </a:rPr>
              <a:t>FIGURE 7 : MODEL COMPARISON , Models evaluated using MAE, RMSE, R² </a:t>
            </a:r>
          </a:p>
        </p:txBody>
      </p:sp>
      <p:sp>
        <p:nvSpPr>
          <p:cNvPr id="11" name="TextBox 10">
            <a:extLst>
              <a:ext uri="{FF2B5EF4-FFF2-40B4-BE49-F238E27FC236}">
                <a16:creationId xmlns:a16="http://schemas.microsoft.com/office/drawing/2014/main" id="{02F69331-58AB-0734-B735-58AFA28DCAF0}"/>
              </a:ext>
            </a:extLst>
          </p:cNvPr>
          <p:cNvSpPr txBox="1"/>
          <p:nvPr/>
        </p:nvSpPr>
        <p:spPr>
          <a:xfrm>
            <a:off x="1463040" y="8443839"/>
            <a:ext cx="13508830" cy="400110"/>
          </a:xfrm>
          <a:prstGeom prst="rect">
            <a:avLst/>
          </a:prstGeom>
          <a:noFill/>
        </p:spPr>
        <p:txBody>
          <a:bodyPr wrap="square">
            <a:spAutoFit/>
          </a:bodyPr>
          <a:lstStyle/>
          <a:p>
            <a:pPr>
              <a:buNone/>
            </a:pPr>
            <a:r>
              <a:rPr lang="en-US" sz="2000" b="1" dirty="0">
                <a:solidFill>
                  <a:schemeClr val="bg1"/>
                </a:solidFill>
              </a:rPr>
              <a:t>FIGURE 8 : LIVE FORECAST PREDICTS SOLAR OUTPUTS INSTANTLY</a:t>
            </a:r>
          </a:p>
        </p:txBody>
      </p:sp>
    </p:spTree>
    <p:extLst>
      <p:ext uri="{BB962C8B-B14F-4D97-AF65-F5344CB8AC3E}">
        <p14:creationId xmlns:p14="http://schemas.microsoft.com/office/powerpoint/2010/main" val="650338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9829800" y="1706930"/>
            <a:ext cx="7569105" cy="7868257"/>
            <a:chOff x="0" y="0"/>
            <a:chExt cx="6108573" cy="6350000"/>
          </a:xfrm>
        </p:grpSpPr>
        <p:sp>
          <p:nvSpPr>
            <p:cNvPr id="3" name="Freeform 3"/>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l="-133175" r="-133175"/>
              </a:stretch>
            </a:blipFill>
          </p:spPr>
          <p:txBody>
            <a:bodyPr/>
            <a:lstStyle/>
            <a:p>
              <a:endParaRPr lang="en-IN"/>
            </a:p>
          </p:txBody>
        </p:sp>
      </p:grpSp>
      <p:grpSp>
        <p:nvGrpSpPr>
          <p:cNvPr id="4" name="Group 4"/>
          <p:cNvGrpSpPr/>
          <p:nvPr/>
        </p:nvGrpSpPr>
        <p:grpSpPr>
          <a:xfrm>
            <a:off x="9893735" y="838198"/>
            <a:ext cx="7569105" cy="7868257"/>
            <a:chOff x="0" y="0"/>
            <a:chExt cx="6108573" cy="6350000"/>
          </a:xfrm>
        </p:grpSpPr>
        <p:sp>
          <p:nvSpPr>
            <p:cNvPr id="5" name="Freeform 5"/>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l="-133175" r="-133175"/>
              </a:stretch>
            </a:blipFill>
          </p:spPr>
          <p:txBody>
            <a:bodyPr/>
            <a:lstStyle/>
            <a:p>
              <a:endParaRPr lang="en-IN"/>
            </a:p>
          </p:txBody>
        </p:sp>
      </p:grpSp>
      <p:sp>
        <p:nvSpPr>
          <p:cNvPr id="6" name="TextBox 6"/>
          <p:cNvSpPr txBox="1"/>
          <p:nvPr/>
        </p:nvSpPr>
        <p:spPr>
          <a:xfrm>
            <a:off x="1668977" y="5048782"/>
            <a:ext cx="8547767" cy="1184555"/>
          </a:xfrm>
          <a:prstGeom prst="rect">
            <a:avLst/>
          </a:prstGeom>
        </p:spPr>
        <p:txBody>
          <a:bodyPr lIns="0" tIns="0" rIns="0" bIns="0" rtlCol="0" anchor="t">
            <a:spAutoFit/>
          </a:bodyPr>
          <a:lstStyle/>
          <a:p>
            <a:pPr marL="0" lvl="0" indent="0" algn="l">
              <a:lnSpc>
                <a:spcPts val="4654"/>
              </a:lnSpc>
              <a:spcBef>
                <a:spcPct val="0"/>
              </a:spcBef>
            </a:pPr>
            <a:r>
              <a:rPr lang="en-US" sz="3373" b="1" dirty="0">
                <a:solidFill>
                  <a:srgbClr val="FFFFFF"/>
                </a:solidFill>
                <a:latin typeface="Almarai Bold"/>
                <a:ea typeface="Almarai Bold"/>
                <a:cs typeface="Almarai Bold"/>
                <a:sym typeface="Almarai Bold"/>
              </a:rPr>
              <a:t>Ananya Sharma</a:t>
            </a:r>
          </a:p>
          <a:p>
            <a:pPr marL="0" lvl="0" indent="0" algn="l">
              <a:lnSpc>
                <a:spcPts val="4654"/>
              </a:lnSpc>
              <a:spcBef>
                <a:spcPct val="0"/>
              </a:spcBef>
            </a:pPr>
            <a:r>
              <a:rPr lang="en-US" sz="3373" b="1" dirty="0">
                <a:solidFill>
                  <a:srgbClr val="FFFFFF"/>
                </a:solidFill>
                <a:latin typeface="Almarai Bold"/>
                <a:ea typeface="Almarai Bold"/>
                <a:cs typeface="Almarai Bold"/>
                <a:sym typeface="Almarai Bold"/>
              </a:rPr>
              <a:t>2427030109</a:t>
            </a:r>
          </a:p>
        </p:txBody>
      </p:sp>
      <p:sp>
        <p:nvSpPr>
          <p:cNvPr id="7" name="TextBox 7"/>
          <p:cNvSpPr txBox="1"/>
          <p:nvPr/>
        </p:nvSpPr>
        <p:spPr>
          <a:xfrm>
            <a:off x="1668977" y="3320418"/>
            <a:ext cx="5735021" cy="1185439"/>
          </a:xfrm>
          <a:prstGeom prst="rect">
            <a:avLst/>
          </a:prstGeom>
        </p:spPr>
        <p:txBody>
          <a:bodyPr lIns="0" tIns="0" rIns="0" bIns="0" rtlCol="0" anchor="t">
            <a:spAutoFit/>
          </a:bodyPr>
          <a:lstStyle/>
          <a:p>
            <a:pPr marL="0" lvl="0" indent="0" algn="l">
              <a:lnSpc>
                <a:spcPts val="9623"/>
              </a:lnSpc>
            </a:pPr>
            <a:r>
              <a:rPr lang="en-US" sz="6873" b="1" spc="419">
                <a:solidFill>
                  <a:srgbClr val="17E3B2"/>
                </a:solidFill>
                <a:latin typeface="Almarai Bold"/>
                <a:ea typeface="Almarai Bold"/>
                <a:cs typeface="Almarai Bold"/>
                <a:sym typeface="Almarai Bold"/>
              </a:rPr>
              <a:t>THANK YOU</a:t>
            </a:r>
          </a:p>
        </p:txBody>
      </p:sp>
      <p:sp>
        <p:nvSpPr>
          <p:cNvPr id="9" name="Freeform 9"/>
          <p:cNvSpPr/>
          <p:nvPr/>
        </p:nvSpPr>
        <p:spPr>
          <a:xfrm>
            <a:off x="1661091" y="6983976"/>
            <a:ext cx="622951" cy="622951"/>
          </a:xfrm>
          <a:custGeom>
            <a:avLst/>
            <a:gdLst/>
            <a:ahLst/>
            <a:cxnLst/>
            <a:rect l="l" t="t" r="r" b="b"/>
            <a:pathLst>
              <a:path w="622951" h="622951">
                <a:moveTo>
                  <a:pt x="0" y="0"/>
                </a:moveTo>
                <a:lnTo>
                  <a:pt x="622952" y="0"/>
                </a:lnTo>
                <a:lnTo>
                  <a:pt x="622952" y="622951"/>
                </a:lnTo>
                <a:lnTo>
                  <a:pt x="0" y="6229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0" name="Group 10"/>
          <p:cNvGrpSpPr/>
          <p:nvPr/>
        </p:nvGrpSpPr>
        <p:grpSpPr>
          <a:xfrm>
            <a:off x="9829800" y="190500"/>
            <a:ext cx="7569105" cy="7868257"/>
            <a:chOff x="0" y="0"/>
            <a:chExt cx="6108573" cy="6350000"/>
          </a:xfrm>
        </p:grpSpPr>
        <p:sp>
          <p:nvSpPr>
            <p:cNvPr id="11" name="Freeform 11"/>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4"/>
              <a:stretch>
                <a:fillRect l="-28012" r="-28012"/>
              </a:stretch>
            </a:blipFill>
          </p:spPr>
          <p:txBody>
            <a:bodyPr/>
            <a:lstStyle/>
            <a:p>
              <a:endParaRPr lang="en-IN"/>
            </a:p>
          </p:txBody>
        </p:sp>
      </p:grpSp>
      <p:grpSp>
        <p:nvGrpSpPr>
          <p:cNvPr id="12" name="Group 12"/>
          <p:cNvGrpSpPr/>
          <p:nvPr/>
        </p:nvGrpSpPr>
        <p:grpSpPr>
          <a:xfrm>
            <a:off x="228600" y="1409700"/>
            <a:ext cx="7569105" cy="7868257"/>
            <a:chOff x="0" y="0"/>
            <a:chExt cx="6108573" cy="6350000"/>
          </a:xfrm>
        </p:grpSpPr>
        <p:sp>
          <p:nvSpPr>
            <p:cNvPr id="13" name="Freeform 13"/>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l="-133175" r="-133175"/>
              </a:stretch>
            </a:blipFill>
          </p:spPr>
          <p:txBody>
            <a:bodyPr/>
            <a:lstStyle/>
            <a:p>
              <a:endParaRPr lang="en-IN"/>
            </a:p>
          </p:txBody>
        </p:sp>
      </p:grpSp>
      <p:sp>
        <p:nvSpPr>
          <p:cNvPr id="14" name="TextBox 14"/>
          <p:cNvSpPr txBox="1"/>
          <p:nvPr/>
        </p:nvSpPr>
        <p:spPr>
          <a:xfrm>
            <a:off x="2433450" y="7087180"/>
            <a:ext cx="6164355" cy="397545"/>
          </a:xfrm>
          <a:prstGeom prst="rect">
            <a:avLst/>
          </a:prstGeom>
        </p:spPr>
        <p:txBody>
          <a:bodyPr wrap="square" lIns="0" tIns="0" rIns="0" bIns="0" rtlCol="0" anchor="t">
            <a:spAutoFit/>
          </a:bodyPr>
          <a:lstStyle/>
          <a:p>
            <a:pPr marL="0" lvl="0" indent="0" algn="l">
              <a:lnSpc>
                <a:spcPts val="3148"/>
              </a:lnSpc>
              <a:spcBef>
                <a:spcPct val="0"/>
              </a:spcBef>
            </a:pPr>
            <a:r>
              <a:rPr lang="en-US" sz="2623" spc="131" dirty="0">
                <a:solidFill>
                  <a:srgbClr val="FFFBFB"/>
                </a:solidFill>
                <a:latin typeface="Almarai"/>
                <a:ea typeface="Almarai"/>
                <a:cs typeface="Almarai"/>
                <a:sym typeface="Almarai"/>
              </a:rPr>
              <a:t>ananya.2427030109@muj.manipal.edu</a:t>
            </a:r>
          </a:p>
        </p:txBody>
      </p:sp>
      <p:grpSp>
        <p:nvGrpSpPr>
          <p:cNvPr id="16" name="Group 5"/>
          <p:cNvGrpSpPr/>
          <p:nvPr/>
        </p:nvGrpSpPr>
        <p:grpSpPr>
          <a:xfrm>
            <a:off x="260555" y="276622"/>
            <a:ext cx="2323149" cy="2323149"/>
            <a:chOff x="0" y="0"/>
            <a:chExt cx="812800" cy="812800"/>
          </a:xfrm>
        </p:grpSpPr>
        <p:sp>
          <p:nvSpPr>
            <p:cNvPr id="1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a:ln w="95250" cap="sq">
              <a:solidFill>
                <a:srgbClr val="051D40"/>
              </a:solidFill>
              <a:prstDash val="solid"/>
              <a:miter/>
            </a:ln>
          </p:spPr>
          <p:txBody>
            <a:bodyPr/>
            <a:lstStyle/>
            <a:p>
              <a:endParaRPr lang="en-IN"/>
            </a:p>
          </p:txBody>
        </p:sp>
        <p:sp>
          <p:nvSpPr>
            <p:cNvPr id="18" name="TextBox 7"/>
            <p:cNvSpPr txBox="1"/>
            <p:nvPr/>
          </p:nvSpPr>
          <p:spPr>
            <a:xfrm>
              <a:off x="76200" y="28575"/>
              <a:ext cx="660400" cy="708025"/>
            </a:xfrm>
            <a:prstGeom prst="rect">
              <a:avLst/>
            </a:prstGeom>
          </p:spPr>
          <p:txBody>
            <a:bodyPr lIns="50800" tIns="50800" rIns="50800" bIns="50800" rtlCol="0" anchor="ctr"/>
            <a:lstStyle/>
            <a:p>
              <a:pPr algn="ctr">
                <a:lnSpc>
                  <a:spcPts val="2605"/>
                </a:lnSpc>
              </a:pPr>
              <a:endParaRPr/>
            </a:p>
          </p:txBody>
        </p:sp>
      </p:grpSp>
      <p:sp>
        <p:nvSpPr>
          <p:cNvPr id="19" name="Freeform 9">
            <a:extLst>
              <a:ext uri="{FF2B5EF4-FFF2-40B4-BE49-F238E27FC236}">
                <a16:creationId xmlns:a16="http://schemas.microsoft.com/office/drawing/2014/main" id="{28EC72EB-D97D-ED54-7C74-23960511DBC2}"/>
              </a:ext>
            </a:extLst>
          </p:cNvPr>
          <p:cNvSpPr/>
          <p:nvPr/>
        </p:nvSpPr>
        <p:spPr>
          <a:xfrm>
            <a:off x="871889" y="876306"/>
            <a:ext cx="1258012" cy="1278940"/>
          </a:xfrm>
          <a:custGeom>
            <a:avLst/>
            <a:gdLst/>
            <a:ahLst/>
            <a:cxnLst/>
            <a:rect l="l" t="t" r="r" b="b"/>
            <a:pathLst>
              <a:path w="1258012" h="1278940">
                <a:moveTo>
                  <a:pt x="0" y="0"/>
                </a:moveTo>
                <a:lnTo>
                  <a:pt x="1258012" y="0"/>
                </a:lnTo>
                <a:lnTo>
                  <a:pt x="1258012" y="1278941"/>
                </a:lnTo>
                <a:lnTo>
                  <a:pt x="0" y="127894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775</TotalTime>
  <Words>3024</Words>
  <Application>Microsoft Office PowerPoint</Application>
  <PresentationFormat>Custom</PresentationFormat>
  <Paragraphs>300</Paragraphs>
  <Slides>27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Centaur</vt:lpstr>
      <vt:lpstr>Calibri</vt:lpstr>
      <vt:lpstr>ADLaM Display</vt:lpstr>
      <vt:lpstr>Arial</vt:lpstr>
      <vt:lpstr>Aptos Light</vt:lpstr>
      <vt:lpstr>Aptos</vt:lpstr>
      <vt:lpstr>Times New Roman</vt:lpstr>
      <vt:lpstr>Almarai</vt:lpstr>
      <vt:lpstr>Almarai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Ananya Sharma [CSE - 2024]</cp:lastModifiedBy>
  <cp:revision>26</cp:revision>
  <dcterms:created xsi:type="dcterms:W3CDTF">2006-08-16T00:00:00Z</dcterms:created>
  <dcterms:modified xsi:type="dcterms:W3CDTF">2026-04-10T16:24:20Z</dcterms:modified>
  <dc:identifier>DAG1OzMVLm4</dc:identifier>
</cp:coreProperties>
</file>